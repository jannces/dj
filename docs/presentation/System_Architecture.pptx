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IV presents the architecture of the LAN-based leave management system: how the network, application, and data tiers are structured, and how the security controls are layered across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LAN boundary is a control, not the only control. Authentication, RBAC, validation, logging, IP monitoring, and intrusion alerts operate on top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Centralization simplifies administration but makes server hardening, backup, access restriction, and monitoring essential to availability and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4: each layer can be configured, tested, and maintained independently. Business rules live in the service layer, not in controllers or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Presence of a control in the architecture is not proof of effectiveness — each is assessed independently during the technical testing described in Chapter III.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Detection sources include failed logins, signature matches on request input, unauthorized device access, and 403 permission denials.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 routing is enforced by the workflow service — a request cannot skip a stage, and balances change only at final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5 and Table 6 of the manuscript: the mapping provides traceability between objectives, threats, and controls. It does not by itself demonstrate effectiveness.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tiers separate user access, network transport, application processing, and persistent storage so each can be configured, tested, and maintained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linking the architecture back to the research questions: processing time, computation accuracy, control effectiveness, ISO 25010 quality, and alert latency/precision.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1078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IV  ·  TECHNICAL BACKGROUND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44752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8716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Integrated Digital Leave Management System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Real-Time Intrusion Alerts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101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Government Unit of Alicia  ·  Isabela State University – Echague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416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6268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served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40416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46268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roles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40416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46268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leave types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870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Macarubbo, Noly J. Jr.  ·  Mendoza, Alexander John T.  ·  Mendoza, Dj Robin 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32520" y="1417320"/>
            <a:ext cx="2926080" cy="896112"/>
          </a:xfrm>
          <a:prstGeom prst="roundRect">
            <a:avLst>
              <a:gd name="adj" fmla="val 8163"/>
            </a:avLst>
          </a:prstGeom>
          <a:solidFill>
            <a:srgbClr val="2B3B7A"/>
          </a:solidFill>
          <a:ln w="12700">
            <a:solidFill>
              <a:srgbClr val="3D50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42832" y="15453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942832" y="180136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on authorized LAN devices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195560" y="2331720"/>
            <a:ext cx="0" cy="146304"/>
          </a:xfrm>
          <a:prstGeom prst="line">
            <a:avLst/>
          </a:prstGeom>
          <a:noFill/>
          <a:ln w="22225">
            <a:solidFill>
              <a:srgbClr val="6A7CC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732520" y="2496312"/>
            <a:ext cx="2926080" cy="896112"/>
          </a:xfrm>
          <a:prstGeom prst="roundRect">
            <a:avLst>
              <a:gd name="adj" fmla="val 8163"/>
            </a:avLst>
          </a:prstGeom>
          <a:solidFill>
            <a:srgbClr val="2B3B7A"/>
          </a:solidFill>
          <a:ln w="12700">
            <a:solidFill>
              <a:srgbClr val="3D50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42832" y="2624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942832" y="288036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· Router/Firewall · HTTPS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195560" y="3410712"/>
            <a:ext cx="0" cy="146304"/>
          </a:xfrm>
          <a:prstGeom prst="line">
            <a:avLst/>
          </a:prstGeom>
          <a:noFill/>
          <a:ln w="22225">
            <a:solidFill>
              <a:srgbClr val="6A7C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32520" y="3575304"/>
            <a:ext cx="2926080" cy="896112"/>
          </a:xfrm>
          <a:prstGeom prst="roundRect">
            <a:avLst>
              <a:gd name="adj" fmla="val 8163"/>
            </a:avLst>
          </a:prstGeom>
          <a:solidFill>
            <a:srgbClr val="2B3B7A"/>
          </a:solidFill>
          <a:ln w="12700">
            <a:solidFill>
              <a:srgbClr val="3D50A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42832" y="37033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395935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· PHP 8.3 · Laravel 12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195560" y="4489704"/>
            <a:ext cx="0" cy="146304"/>
          </a:xfrm>
          <a:prstGeom prst="line">
            <a:avLst/>
          </a:prstGeom>
          <a:noFill/>
          <a:ln w="22225">
            <a:solidFill>
              <a:srgbClr val="6A7CC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32520" y="4654296"/>
            <a:ext cx="2926080" cy="896112"/>
          </a:xfrm>
          <a:prstGeom prst="roundRect">
            <a:avLst>
              <a:gd name="adj" fmla="val 816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42832" y="47823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942832" y="5038344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 · Audit stores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88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4.1.1  SYSTEM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centralized, LAN-only client–server 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89888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client devices reach a single application server over the LGU's internal network. Processing, persistent data, logging, and administrative monitoring are centralized. LAN restriction reduces external exposure — but internal devices can still generate malicious requests, so application-level controls run alongside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0" y="1389888"/>
            <a:ext cx="5715000" cy="1042416"/>
          </a:xfrm>
          <a:prstGeom prst="roundRect">
            <a:avLst>
              <a:gd name="adj" fmla="val 7018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63056" y="157276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63056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01968" y="1536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style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1810512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monolith — MVC + service layer on Laravel 12. One server, one ops team, offline LAN.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2578608"/>
            <a:ext cx="5715000" cy="1042416"/>
          </a:xfrm>
          <a:prstGeom prst="roundRect">
            <a:avLst>
              <a:gd name="adj" fmla="val 7018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63056" y="276148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63056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01968" y="27249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01968" y="2999232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centralized server inside the LGU LAN. No public internet exposure for normal operations.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3767328"/>
            <a:ext cx="5715000" cy="1042416"/>
          </a:xfrm>
          <a:prstGeom prst="roundRect">
            <a:avLst>
              <a:gd name="adj" fmla="val 7018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395020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63056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39136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enforced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4187952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· Department Head · HR · Municipal Mayor · System Administrator, all through database-driven RBAC.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0" y="4956048"/>
            <a:ext cx="5715000" cy="1042416"/>
          </a:xfrm>
          <a:prstGeom prst="roundRect">
            <a:avLst>
              <a:gd name="adj" fmla="val 7018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513892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63056" y="5138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51023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01968" y="5376672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CSC leave types stored as configuration, not code — policy changes need no redeployment.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301752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32004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SEQUENCE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" y="3529584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2B3B7A"/>
          </a:solidFill>
          <a:ln w="12700">
            <a:solidFill>
              <a:srgbClr val="3D50A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" y="352958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847088" y="3758184"/>
            <a:ext cx="137160" cy="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002536" y="3529584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2B3B7A"/>
          </a:solidFill>
          <a:ln w="12700">
            <a:solidFill>
              <a:srgbClr val="3D50A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02536" y="352958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Head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044952" y="3758184"/>
            <a:ext cx="137160" cy="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200400" y="3529584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2B3B7A"/>
          </a:solidFill>
          <a:ln w="12700">
            <a:solidFill>
              <a:srgbClr val="3D50A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200400" y="352958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42816" y="3758184"/>
            <a:ext cx="137160" cy="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398264" y="3529584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2B3B7A"/>
          </a:solidFill>
          <a:ln w="12700">
            <a:solidFill>
              <a:srgbClr val="3D50A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98264" y="352958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04672" y="40782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update only after the final decision is recorded.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" y="46634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BEDEA"/>
          </a:solidFill>
          <a:ln w="12700">
            <a:solidFill>
              <a:srgbClr val="F0D3C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4672" y="48280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controls still matter inside the LAN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59536" y="51206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internal access and privilege misuse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edits to leave records by shared workstations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attempts from a trusted network segment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88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NETWORK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Client–server topology inside the LGU 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514600" cy="3657600"/>
          </a:xfrm>
          <a:prstGeom prst="roundRect">
            <a:avLst>
              <a:gd name="adj" fmla="val 2909"/>
            </a:avLst>
          </a:prstGeom>
          <a:solidFill>
            <a:srgbClr val="F6F8FD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636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88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CLIENTS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49808" y="187452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8745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workstations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2386584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" y="23865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Head PCs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9808" y="2898648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28986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Management PCs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3410712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" y="34107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the Mayor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" y="3922776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7824" y="39227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 console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9808" y="443484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" y="44348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devices (Wi-Fi)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75888" y="2441448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A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675888" y="262432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675888" y="3236976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LAN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Wireless 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27248" y="3246120"/>
            <a:ext cx="50292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70448" y="2441448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CADCFC"/>
          </a:solidFill>
          <a:ln w="12700">
            <a:solidFill>
              <a:srgbClr val="A9C2EC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A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870448" y="262432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/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870448" y="32644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A4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boundary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A4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access policy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21808" y="3246120"/>
            <a:ext cx="50292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870448" y="1417320"/>
            <a:ext cx="1600200" cy="640080"/>
          </a:xfrm>
          <a:prstGeom prst="roundRect">
            <a:avLst>
              <a:gd name="adj" fmla="val 14286"/>
            </a:avLst>
          </a:prstGeom>
          <a:solidFill>
            <a:srgbClr val="FBEDEA"/>
          </a:solidFill>
          <a:ln w="15875">
            <a:solidFill>
              <a:srgbClr val="C43D2B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5870448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2075688"/>
            <a:ext cx="0" cy="347472"/>
          </a:xfrm>
          <a:prstGeom prst="line">
            <a:avLst/>
          </a:prstGeom>
          <a:noFill/>
          <a:ln w="19050">
            <a:solidFill>
              <a:srgbClr val="C43D2B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784848" y="2148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exposure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65008" y="141732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A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284464" y="15819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SERVER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84464" y="1892808"/>
            <a:ext cx="3127248" cy="548640"/>
          </a:xfrm>
          <a:prstGeom prst="roundRect">
            <a:avLst>
              <a:gd name="adj" fmla="val 10000"/>
            </a:avLst>
          </a:prstGeom>
          <a:solidFill>
            <a:srgbClr val="2B3B7A"/>
          </a:solidFill>
          <a:ln w="12700">
            <a:solidFill>
              <a:srgbClr val="3D50A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49056" y="19385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HTTP Server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449056" y="21579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 · HTTPS only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84464" y="2514600"/>
            <a:ext cx="3127248" cy="548640"/>
          </a:xfrm>
          <a:prstGeom prst="roundRect">
            <a:avLst>
              <a:gd name="adj" fmla="val 10000"/>
            </a:avLst>
          </a:prstGeom>
          <a:solidFill>
            <a:srgbClr val="2B3B7A"/>
          </a:solidFill>
          <a:ln w="12700">
            <a:solidFill>
              <a:srgbClr val="3D50A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49056" y="25603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 application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449056" y="27797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kernel, controllers, services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284464" y="3136392"/>
            <a:ext cx="3127248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449056" y="318211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449056" y="34015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 leave, balances, config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84464" y="3758184"/>
            <a:ext cx="3127248" cy="548640"/>
          </a:xfrm>
          <a:prstGeom prst="roundRect">
            <a:avLst>
              <a:gd name="adj" fmla="val 10000"/>
            </a:avLst>
          </a:prstGeom>
          <a:solidFill>
            <a:srgbClr val="2B3B7A"/>
          </a:solidFill>
          <a:ln w="12700">
            <a:solidFill>
              <a:srgbClr val="3D50A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49056" y="3803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security stores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8449056" y="40233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activity, intrusion, failed logins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284464" y="4379976"/>
            <a:ext cx="3127248" cy="548640"/>
          </a:xfrm>
          <a:prstGeom prst="roundRect">
            <a:avLst>
              <a:gd name="adj" fmla="val 10000"/>
            </a:avLst>
          </a:prstGeom>
          <a:solidFill>
            <a:srgbClr val="2B3B7A"/>
          </a:solidFill>
          <a:ln w="12700">
            <a:solidFill>
              <a:srgbClr val="3D50A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449056" y="4425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relay + scheduler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8449056" y="46451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delivery, alerts, accrual jobs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516368" y="3246120"/>
            <a:ext cx="50292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7470648" y="2953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7470648" y="33375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6928" y="5358384"/>
            <a:ext cx="3520440" cy="694944"/>
          </a:xfrm>
          <a:prstGeom prst="roundRect">
            <a:avLst>
              <a:gd name="adj" fmla="val 10526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86384" y="54315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allow-list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86384" y="56692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registered devices clear the check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270248" y="5358384"/>
            <a:ext cx="3520440" cy="694944"/>
          </a:xfrm>
          <a:prstGeom prst="roundRect">
            <a:avLst>
              <a:gd name="adj" fmla="val 10526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489704" y="54315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policy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4489704" y="56692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keeps the app off public routes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973568" y="5358384"/>
            <a:ext cx="3520440" cy="694944"/>
          </a:xfrm>
          <a:prstGeom prst="roundRect">
            <a:avLst>
              <a:gd name="adj" fmla="val 10526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193024" y="54315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database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8193024" y="56692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binds to the application host only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566928" y="62727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88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— Requests travel from authorized clients through the switch and router/firewall to the centralized server; responses return over the same HTTPS path.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88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APPLICATION 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layers, separated responsibilities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47218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069080" y="1472184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views · Bootstrap 5 · Chart.js · SweetAlert2 · dark/light theme · offline-vendored assets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2139696"/>
            <a:ext cx="0" cy="100584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6928" y="224028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2B3B7A"/>
          </a:solidFill>
          <a:ln w="12700">
            <a:solidFill>
              <a:srgbClr val="2B3B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29514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 &amp;  SECURITY KERNEL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2295144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(web / api v1) · Controllers · Form Requests · 9-stage middleware pipeline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2962656"/>
            <a:ext cx="0" cy="100584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6928" y="306324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11810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 /  APPLICATION SERVICES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3118104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LeaveApplication · LeaveCredit · ApprovalWorkflow · LeavePolicyEngine · Otp · LoginSecurity · IntrusionDetection · AuditLogger · Report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3785616"/>
            <a:ext cx="0" cy="100584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6928" y="388620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2B3B7A"/>
          </a:solidFill>
          <a:ln w="12700">
            <a:solidFill>
              <a:srgbClr val="2B3B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94106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3941064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models &amp; repositories — parameterized queries, transactional balance updates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4608576"/>
            <a:ext cx="0" cy="100584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" y="470916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476402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4764024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 · file storage · SMTP mail relay · queue worker · task scheduler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59612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55961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boundary 1  </a:t>
            </a:r>
            <a:pPr indent="0" marL="0">
              <a:buNone/>
            </a:pPr>
            <a:r>
              <a:rPr lang="en-US" sz="11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⇄ Apache (TLS) — all input untrusted, validated and IDS-scanned.     </a:t>
            </a:r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boundary 2  </a:t>
            </a:r>
            <a:pPr indent="0" marL="0">
              <a:buNone/>
            </a:pPr>
            <a:r>
              <a:rPr lang="en-US" sz="11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⇄ MySQL, bound to localhost only.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2727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88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4.3.3  INTEGRATED SECURITY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security kernel — every request, in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3520440" cy="1133856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09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IP check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019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known-bad sources before any processing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23944" y="2011680"/>
            <a:ext cx="109728" cy="0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70248" y="1444752"/>
            <a:ext cx="3520440" cy="1133856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1416" y="1627632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141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09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device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019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device allow-list, toggleable per deployment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27264" y="2011680"/>
            <a:ext cx="109728" cy="0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73568" y="1444752"/>
            <a:ext cx="3520440" cy="1133856"/>
          </a:xfrm>
          <a:prstGeom prst="roundRect">
            <a:avLst>
              <a:gd name="adj" fmla="val 6452"/>
            </a:avLst>
          </a:prstGeom>
          <a:solidFill>
            <a:srgbClr val="FBEDEA"/>
          </a:solidFill>
          <a:ln w="12700">
            <a:solidFill>
              <a:srgbClr val="F0D3C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4736" y="1627632"/>
            <a:ext cx="310896" cy="310896"/>
          </a:xfrm>
          <a:prstGeom prst="ellipse">
            <a:avLst/>
          </a:prstGeom>
          <a:solidFill>
            <a:srgbClr val="C43D2B"/>
          </a:solidFill>
          <a:ln w="12700">
            <a:solidFill>
              <a:srgbClr val="C43D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7473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1609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19019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/ XSS / traversal signatures + rate anomaly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2743200"/>
            <a:ext cx="3520440" cy="1133856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292608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2907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CSRF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2004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failures are recorded as intrusion events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23944" y="3310128"/>
            <a:ext cx="109728" cy="0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270248" y="2743200"/>
            <a:ext cx="3520440" cy="1133856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71416" y="292608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71416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2907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32004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(bcrypt) then email OTP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27264" y="3310128"/>
            <a:ext cx="109728" cy="0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973568" y="2743200"/>
            <a:ext cx="3520440" cy="1133856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74736" y="292608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74736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595360" y="2907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permission gate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595360" y="32004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Database-driven roles, inheritance, per-user overrides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" y="4041648"/>
            <a:ext cx="3520440" cy="1133856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" y="422452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8096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188720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logging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1188720" y="44988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trail attributed to the acting user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123944" y="4608576"/>
            <a:ext cx="109728" cy="0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270248" y="4041648"/>
            <a:ext cx="3520440" cy="1133856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71416" y="422452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471416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892040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4892040" y="44988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record of every state change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827264" y="4608576"/>
            <a:ext cx="109728" cy="0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973568" y="4041648"/>
            <a:ext cx="3520440" cy="1133856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74736" y="422452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174736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595360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8595360" y="44988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· X-Frame-Options · nosniff · Referrer-Policy · HSTS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6928" y="53949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22960" y="5394960"/>
            <a:ext cx="10561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— no single mechanism is relied on. A request must clear network restriction, transport security, request filtering, identity, and authorization before it can change a leave record.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566928" y="62727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88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4.4.3  REAL-TIME INTRUSION ALERT 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Detect, record, block, notify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6420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3969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attempt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33472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and OTP submitted from a LAN client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79192" y="2532888"/>
            <a:ext cx="146304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52928" y="1481328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35808" y="166420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35808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035808" y="213969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record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35808" y="2633472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attempt logged with username, IP, device, timestamp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5192" y="2532888"/>
            <a:ext cx="146304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38928" y="1481328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21808" y="166420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21808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21808" y="213969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check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21808" y="2633472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failures from one account or IP are correlated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51192" y="2532888"/>
            <a:ext cx="146304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24928" y="1481328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FBEDEA"/>
          </a:solidFill>
          <a:ln w="12700">
            <a:solidFill>
              <a:srgbClr val="F0D3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07808" y="1664208"/>
            <a:ext cx="329184" cy="329184"/>
          </a:xfrm>
          <a:prstGeom prst="ellipse">
            <a:avLst/>
          </a:prstGeom>
          <a:solidFill>
            <a:srgbClr val="C43D2B"/>
          </a:solidFill>
          <a:ln w="12700">
            <a:solidFill>
              <a:srgbClr val="C43D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07808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607808" y="213969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C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block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607808" y="2633472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or account restricted; event written to intrusion log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37192" y="2532888"/>
            <a:ext cx="146304" cy="0"/>
          </a:xfrm>
          <a:prstGeom prst="line">
            <a:avLst/>
          </a:prstGeom>
          <a:noFill/>
          <a:ln w="22225">
            <a:solidFill>
              <a:srgbClr val="C43D2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10928" y="1481328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FBEDEA"/>
          </a:solidFill>
          <a:ln w="12700">
            <a:solidFill>
              <a:srgbClr val="F0D3C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93808" y="1664208"/>
            <a:ext cx="329184" cy="329184"/>
          </a:xfrm>
          <a:prstGeom prst="ellipse">
            <a:avLst/>
          </a:prstGeom>
          <a:solidFill>
            <a:srgbClr val="C43D2B"/>
          </a:solidFill>
          <a:ln w="12700">
            <a:solidFill>
              <a:srgbClr val="C43D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93808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893808" y="213969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C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alerted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893808" y="2633472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surfaces the event; high severity also emails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3858768"/>
            <a:ext cx="2633472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6384" y="40233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strikes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" y="446227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logins before the account is locked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92424" y="3858768"/>
            <a:ext cx="2633472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11880" y="40233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hours</a:t>
            </a:r>
            <a:endParaRPr lang="en-US" sz="2100" dirty="0"/>
          </a:p>
        </p:txBody>
      </p:sp>
      <p:sp>
        <p:nvSpPr>
          <p:cNvPr id="38" name="Text 36"/>
          <p:cNvSpPr txBox="1"/>
          <p:nvPr/>
        </p:nvSpPr>
        <p:spPr>
          <a:xfrm>
            <a:off x="3611880" y="446227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duration; expired blocks lifted automatically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3858768"/>
            <a:ext cx="2633472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37376" y="40233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15 seconds</a:t>
            </a:r>
            <a:endParaRPr lang="en-US" sz="2100" dirty="0"/>
          </a:p>
        </p:txBody>
      </p:sp>
      <p:sp>
        <p:nvSpPr>
          <p:cNvPr id="41" name="Text 39"/>
          <p:cNvSpPr txBox="1"/>
          <p:nvPr/>
        </p:nvSpPr>
        <p:spPr>
          <a:xfrm>
            <a:off x="6437376" y="446227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poll interval — the bounded sense of “real-time”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043416" y="3858768"/>
            <a:ext cx="2633472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262872" y="40233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Append-only</a:t>
            </a:r>
            <a:endParaRPr lang="en-US" sz="2100" dirty="0"/>
          </a:p>
        </p:txBody>
      </p:sp>
      <p:sp>
        <p:nvSpPr>
          <p:cNvPr id="44" name="Text 42"/>
          <p:cNvSpPr txBox="1"/>
          <p:nvPr/>
        </p:nvSpPr>
        <p:spPr>
          <a:xfrm>
            <a:off x="9262872" y="446227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and audit records retained as evidence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928" y="535838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2960" y="5358384"/>
            <a:ext cx="10561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assumed.  </a:t>
            </a:r>
            <a:pPr indent="0" marL="0">
              <a:buNone/>
            </a:pPr>
            <a:r>
              <a:rPr lang="en-US" sz="12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Detection-to-notification latency and alert precision (the proportion of alerts matching genuine intrusion attempts) are recorded during controlled testing and reported under Section 3.4.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66928" y="62727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88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4.9.2  DATA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of a leave 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768096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91056"/>
            <a:ext cx="329184" cy="3291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591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144475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584448" y="144475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CSC Form 6 online; system validates inputs and attaches required documents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50976" y="2075688"/>
            <a:ext cx="0" cy="91440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6928" y="2176272"/>
            <a:ext cx="7680960" cy="621792"/>
          </a:xfrm>
          <a:prstGeom prst="roundRect">
            <a:avLst>
              <a:gd name="adj" fmla="val 8824"/>
            </a:avLst>
          </a:prstGeom>
          <a:solidFill>
            <a:srgbClr val="2B3B7A"/>
          </a:solidFill>
          <a:ln w="12700">
            <a:solidFill>
              <a:srgbClr val="2B3B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2322576"/>
            <a:ext cx="329184" cy="3291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43584" y="21762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Policy Engine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217627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the leave type and applies its rules — day limits, deductibility, credit source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50976" y="2807208"/>
            <a:ext cx="0" cy="91440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6928" y="2907792"/>
            <a:ext cx="768096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3054096"/>
            <a:ext cx="329184" cy="3291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43584" y="29077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Head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584448" y="290779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requests from personnel in their own office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0976" y="3538728"/>
            <a:ext cx="0" cy="91440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66928" y="3639312"/>
            <a:ext cx="7680960" cy="621792"/>
          </a:xfrm>
          <a:prstGeom prst="roundRect">
            <a:avLst>
              <a:gd name="adj" fmla="val 8824"/>
            </a:avLst>
          </a:prstGeom>
          <a:solidFill>
            <a:srgbClr val="2B3B7A"/>
          </a:solidFill>
          <a:ln w="12700">
            <a:solidFill>
              <a:srgbClr val="2B3B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3785616"/>
            <a:ext cx="329184" cy="3291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43584" y="363931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Management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584448" y="363931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Certifies classification and available credits against CSC Omnibus Rules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50976" y="4270248"/>
            <a:ext cx="0" cy="91440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66928" y="4370832"/>
            <a:ext cx="768096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" y="4517136"/>
            <a:ext cx="329184" cy="3291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6384" y="4517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243584" y="43708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Mayor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3584448" y="437083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final approval decision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5138928"/>
            <a:ext cx="7680960" cy="969264"/>
          </a:xfrm>
          <a:prstGeom prst="roundRect">
            <a:avLst>
              <a:gd name="adj" fmla="val 7547"/>
            </a:avLst>
          </a:prstGeom>
          <a:solidFill>
            <a:srgbClr val="CADCFC"/>
          </a:solidFill>
          <a:ln w="12700">
            <a:solidFill>
              <a:srgbClr val="A9C2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6384" y="5285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86384" y="528523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6384" y="5285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243584" y="5266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computation &amp; posting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243584" y="554126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4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 computed against the holiday calendar; balances deducted inside a locking transaction and written to leave history — never negative.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613648" y="14447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88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 WRITTEN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613648" y="1773936"/>
            <a:ext cx="3017520" cy="512064"/>
          </a:xfrm>
          <a:prstGeom prst="roundRect">
            <a:avLst>
              <a:gd name="adj" fmla="val 14286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814816" y="1773936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 &amp; documents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613648" y="2395728"/>
            <a:ext cx="3017520" cy="512064"/>
          </a:xfrm>
          <a:prstGeom prst="roundRect">
            <a:avLst>
              <a:gd name="adj" fmla="val 14286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814816" y="2395728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&amp; workflow history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613648" y="3017520"/>
            <a:ext cx="3017520" cy="512064"/>
          </a:xfrm>
          <a:prstGeom prst="roundRect">
            <a:avLst>
              <a:gd name="adj" fmla="val 14286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814816" y="301752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balances &amp; credit ledger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613648" y="3639312"/>
            <a:ext cx="3017520" cy="512064"/>
          </a:xfrm>
          <a:prstGeom prst="roundRect">
            <a:avLst>
              <a:gd name="adj" fmla="val 14286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814816" y="36393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 &amp; policy configuration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613648" y="4261104"/>
            <a:ext cx="3017520" cy="512064"/>
          </a:xfrm>
          <a:prstGeom prst="roundRect">
            <a:avLst>
              <a:gd name="adj" fmla="val 14286"/>
            </a:avLst>
          </a:prstGeom>
          <a:solidFill>
            <a:srgbClr val="FBEDEA"/>
          </a:solidFill>
          <a:ln w="12700">
            <a:solidFill>
              <a:srgbClr val="F0D3C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814816" y="426110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(append-only)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613648" y="4882896"/>
            <a:ext cx="3017520" cy="512064"/>
          </a:xfrm>
          <a:prstGeom prst="roundRect">
            <a:avLst>
              <a:gd name="adj" fmla="val 14286"/>
            </a:avLst>
          </a:prstGeom>
          <a:solidFill>
            <a:srgbClr val="FBEDEA"/>
          </a:solidFill>
          <a:ln w="12700">
            <a:solidFill>
              <a:srgbClr val="F0D3C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814816" y="4882896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613648" y="5504688"/>
            <a:ext cx="3017520" cy="512064"/>
          </a:xfrm>
          <a:prstGeom prst="roundRect">
            <a:avLst>
              <a:gd name="adj" fmla="val 14286"/>
            </a:avLst>
          </a:prstGeom>
          <a:solidFill>
            <a:srgbClr val="FBEDEA"/>
          </a:solidFill>
          <a:ln w="12700">
            <a:solidFill>
              <a:srgbClr val="F0D3C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814816" y="5504688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&amp; failed-login logs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566928" y="62727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88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4.3.4  SECURITY CONTROL MAPPING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traced to implemented controls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413248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727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84708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 transport · OTP authentication · bcrypt password hashing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444752"/>
            <a:ext cx="5413248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5727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55664" y="184708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input validation · parameterized queries · automated computation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505456"/>
            <a:ext cx="5413248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334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290779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LAN-based deployment · centralized server · scheduled backups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505456"/>
            <a:ext cx="5413248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55664" y="26334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290779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and password with email one-time password (OTP)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566160"/>
            <a:ext cx="5413248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6941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96849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with inheritance and per-user overrides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566160"/>
            <a:ext cx="5413248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55664" y="36941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396849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trail and page-level activity logs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626864"/>
            <a:ext cx="5413248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7548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502920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monitoring · login-attempt thresholds · real-time intrusion alerts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4626864"/>
            <a:ext cx="5413248" cy="914400"/>
          </a:xfrm>
          <a:prstGeom prst="roundRect">
            <a:avLst>
              <a:gd name="adj" fmla="val 8000"/>
            </a:avLst>
          </a:prstGeom>
          <a:solidFill>
            <a:srgbClr val="FBEDEA"/>
          </a:solidFill>
          <a:ln w="12700">
            <a:solidFill>
              <a:srgbClr val="F0D3C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55664" y="47548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limitation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55664" y="502920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rest is not encrypted. Stored data is protected by host access control, localhost-only database binding, and physical security.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669280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addressed: SQL injection · brute-force login · unauthorized access · session hijacking · data tampering · credential theft · insider misuse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88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4.9.5  TECHNICAL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tiers, and the technology in each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2633472" cy="3246120"/>
          </a:xfrm>
          <a:prstGeom prst="roundRect">
            <a:avLst>
              <a:gd name="adj" fmla="val 277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86384" y="1645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TIER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0482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(desktop / mobile)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6700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Bootstrap 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Chart.js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9136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SweetAlert2 · offline assets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36976" y="3035808"/>
            <a:ext cx="128016" cy="0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92424" y="1444752"/>
            <a:ext cx="2633472" cy="3246120"/>
          </a:xfrm>
          <a:prstGeom prst="roundRect">
            <a:avLst>
              <a:gd name="adj" fmla="val 2778"/>
            </a:avLst>
          </a:prstGeom>
          <a:solidFill>
            <a:srgbClr val="2B3B7A"/>
          </a:solidFill>
          <a:ln w="12700">
            <a:solidFill>
              <a:srgbClr val="2B3B7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A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11880" y="1645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TIER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0482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switch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6700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/ firewall policy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access point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9136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TLS configuration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62472" y="3035808"/>
            <a:ext cx="128016" cy="0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1444752"/>
            <a:ext cx="2633472" cy="324612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A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37376" y="1645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20482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HTTP Server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26700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 · Laravel 12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37376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security kernel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37376" y="39136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· queue · scheduler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87968" y="3035808"/>
            <a:ext cx="128016" cy="0"/>
          </a:xfrm>
          <a:prstGeom prst="line">
            <a:avLst/>
          </a:prstGeom>
          <a:noFill/>
          <a:ln w="22225">
            <a:solidFill>
              <a:srgbClr val="9AAA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43416" y="1444752"/>
            <a:ext cx="2633472" cy="3246120"/>
          </a:xfrm>
          <a:prstGeom prst="roundRect">
            <a:avLst>
              <a:gd name="adj" fmla="val 277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A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262872" y="1645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262872" y="20482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262872" y="26700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employee &amp; workflow records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262872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 file storage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262872" y="39136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activity &amp; intrusion logs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4901184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" y="4901184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tooling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072384" y="4901184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for traffic capture · OWASP ZAP for vulnerability scanning · SQLMap for injection testing · Hydra for controlled brute-force simulation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5577840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EEF3FC"/>
          </a:solidFill>
          <a:ln w="12700">
            <a:solidFill>
              <a:srgbClr val="DCE5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" y="5577840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reference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3072384" y="5577840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 — functional suitability, usability, performance efficiency, security — evaluated by end users and IT experts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ARCHITECTURE DELIVERS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2529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Centralized, controlled, traceable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933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architecture is built to deliver — and where the evidence for each claim comes from.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5230368" cy="1298448"/>
          </a:xfrm>
          <a:prstGeom prst="roundRect">
            <a:avLst>
              <a:gd name="adj" fmla="val 5634"/>
            </a:avLst>
          </a:prstGeom>
          <a:solidFill>
            <a:srgbClr val="2B3B7A"/>
          </a:solidFill>
          <a:ln w="12700">
            <a:solidFill>
              <a:srgbClr val="3D50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28895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3200400"/>
            <a:ext cx="4718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Submission, routing, classification, and credit computation are automated, removing repeated manual steps from the paper process.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743200"/>
            <a:ext cx="5230368" cy="1298448"/>
          </a:xfrm>
          <a:prstGeom prst="roundRect">
            <a:avLst>
              <a:gd name="adj" fmla="val 5634"/>
            </a:avLst>
          </a:prstGeom>
          <a:solidFill>
            <a:srgbClr val="2B3B7A"/>
          </a:solidFill>
          <a:ln w="12700">
            <a:solidFill>
              <a:srgbClr val="3D50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3952" y="28895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3200400"/>
            <a:ext cx="4718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rules are stored as configuration and applied uniformly, with balance updates committed transactionally.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4224528"/>
            <a:ext cx="5230368" cy="1298448"/>
          </a:xfrm>
          <a:prstGeom prst="roundRect">
            <a:avLst>
              <a:gd name="adj" fmla="val 5634"/>
            </a:avLst>
          </a:prstGeom>
          <a:solidFill>
            <a:srgbClr val="2B3B7A"/>
          </a:solidFill>
          <a:ln w="12700">
            <a:solidFill>
              <a:srgbClr val="3D50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43708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4681728"/>
            <a:ext cx="4718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controls span the network boundary, transport, request handling, identity, authorization, and monitoring.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4224528"/>
            <a:ext cx="5230368" cy="1298448"/>
          </a:xfrm>
          <a:prstGeom prst="roundRect">
            <a:avLst>
              <a:gd name="adj" fmla="val 5634"/>
            </a:avLst>
          </a:prstGeom>
          <a:solidFill>
            <a:srgbClr val="2B3B7A"/>
          </a:solidFill>
          <a:ln w="12700">
            <a:solidFill>
              <a:srgbClr val="3D50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3952" y="43708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4681728"/>
            <a:ext cx="4718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6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and intrusion records give administrators evidence for review and for controlled security testing.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870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0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Efficiency, accuracy, and security claims are evaluated using the procedures defined in Chapter III — the architecture states intent, the testing provides the evidence.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Architecture — Digital Leave Management System</dc:title>
  <dc:subject>PptxGenJS Presentation</dc:subject>
  <dc:creator>Macarubbo, Mendoza A.J., Mendoza D.R.</dc:creator>
  <cp:lastModifiedBy>Macarubbo, Mendoza A.J., Mendoza D.R.</cp:lastModifiedBy>
  <cp:revision>1</cp:revision>
  <dcterms:created xsi:type="dcterms:W3CDTF">2026-09-06T10:12:46Z</dcterms:created>
  <dcterms:modified xsi:type="dcterms:W3CDTF">2026-09-06T10:12:46Z</dcterms:modified>
</cp:coreProperties>
</file>