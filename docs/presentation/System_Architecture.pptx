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IV presents the architecture of the LAN-based leave management system: how the network, application, and data tiers are structured, and how the security controls are layered across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LAN boundary is a control, not the only control. Authentication, RBAC, validation, logging, IP monitoring, and intrusion alerts operate on top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Centralization simplifies administration but makes server hardening, backup, access restriction, and monitoring essential to availability and security.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picture of the whole system: authorized clients on the LAN, the switch and firewall, the centralized server with its five layers, the data tier on the same host, and the intrusion alert path that runs back to the System Administrator. Walk it left to right along the navy request path, then bottom right to left along the red alert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4: each layer can be configured, tested, and maintained independently. Business rules live in the service layer, not in controllers or views.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Presence of a control in the architecture is not proof of effectiveness — each is assessed independently during the technical testing described in Chapter III.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Detection sources include failed logins, signature matches on request input, unauthorized device access, and 403 permission denials.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Approval routing is enforced by the workflow service — a request cannot skip a stage, and balances change only at final approval.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5 and Table 6 of the manuscript: the mapping provides traceability between objectives, threats, and controls. It does not by itself demonstrate effectiveness.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 tiers separate user access, network transport, application processing, and persistent storage so each can be configured, tested, and maintained independently.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linking the architecture back to the research questions: processing time, computation accuracy, control effectiveness, ISO 25010 quality, and alert latency/precision.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E2761"/>
          </a:solidFill>
          <a:ln/>
        </p:spPr>
      </p:sp>
      <p:sp>
        <p:nvSpPr>
          <p:cNvPr id="3" name="Text 1"/>
          <p:cNvSpPr txBox="1"/>
          <p:nvPr/>
        </p:nvSpPr>
        <p:spPr>
          <a:xfrm>
            <a:off x="777240" y="1078992"/>
            <a:ext cx="7315200" cy="274320"/>
          </a:xfrm>
          <a:prstGeom prst="rect">
            <a:avLst/>
          </a:prstGeom>
          <a:noFill/>
          <a:ln/>
        </p:spPr>
        <p:txBody>
          <a:bodyPr wrap="square" lIns="0" tIns="0" rIns="0" bIns="0" rtlCol="0" anchor="ctr"/>
          <a:lstStyle/>
          <a:p>
            <a:pPr indent="0" marL="0">
              <a:buNone/>
            </a:pPr>
            <a:r>
              <a:rPr lang="en-US" sz="1200" b="1" spc="240" kern="0" dirty="0">
                <a:solidFill>
                  <a:srgbClr val="CADCFC"/>
                </a:solidFill>
                <a:latin typeface="Calibri" pitchFamily="34" charset="0"/>
                <a:ea typeface="Calibri" pitchFamily="34" charset="-122"/>
                <a:cs typeface="Calibri" pitchFamily="34" charset="-120"/>
              </a:rPr>
              <a:t>CHAPTER IV  ·  TECHNICAL BACKGROUND</a:t>
            </a:r>
            <a:endParaRPr lang="en-US" sz="1200" dirty="0"/>
          </a:p>
        </p:txBody>
      </p:sp>
      <p:sp>
        <p:nvSpPr>
          <p:cNvPr id="4" name="Text 2"/>
          <p:cNvSpPr txBox="1"/>
          <p:nvPr/>
        </p:nvSpPr>
        <p:spPr>
          <a:xfrm>
            <a:off x="731520" y="1444752"/>
            <a:ext cx="7680960" cy="914400"/>
          </a:xfrm>
          <a:prstGeom prst="rect">
            <a:avLst/>
          </a:prstGeom>
          <a:noFill/>
          <a:ln/>
        </p:spPr>
        <p:txBody>
          <a:bodyPr wrap="square" lIns="0" tIns="0" rIns="0" bIns="0" rtlCol="0" anchor="ctr"/>
          <a:lstStyle/>
          <a:p>
            <a:pPr indent="0" marL="0">
              <a:buNone/>
            </a:pPr>
            <a:r>
              <a:rPr lang="en-US" sz="5200" b="1" dirty="0">
                <a:solidFill>
                  <a:srgbClr val="FFFFFF"/>
                </a:solidFill>
                <a:latin typeface="Cambria" pitchFamily="34" charset="0"/>
                <a:ea typeface="Cambria" pitchFamily="34" charset="-122"/>
                <a:cs typeface="Cambria" pitchFamily="34" charset="-120"/>
              </a:rPr>
              <a:t>System Architecture</a:t>
            </a:r>
            <a:endParaRPr lang="en-US" sz="5200" dirty="0"/>
          </a:p>
        </p:txBody>
      </p:sp>
      <p:sp>
        <p:nvSpPr>
          <p:cNvPr id="5" name="Text 3"/>
          <p:cNvSpPr txBox="1"/>
          <p:nvPr/>
        </p:nvSpPr>
        <p:spPr>
          <a:xfrm>
            <a:off x="777240" y="2487168"/>
            <a:ext cx="6949440" cy="777240"/>
          </a:xfrm>
          <a:prstGeom prst="rect">
            <a:avLst/>
          </a:prstGeom>
          <a:noFill/>
          <a:ln/>
        </p:spPr>
        <p:txBody>
          <a:bodyPr wrap="square" lIns="0" tIns="0" rIns="0" bIns="0" rtlCol="0" anchor="ctr"/>
          <a:lstStyle/>
          <a:p>
            <a:pPr indent="0" marL="0">
              <a:lnSpc>
                <a:spcPts val="2600"/>
              </a:lnSpc>
              <a:buNone/>
            </a:pPr>
            <a:r>
              <a:rPr lang="en-US" sz="1700" dirty="0">
                <a:solidFill>
                  <a:srgbClr val="CADCFC"/>
                </a:solidFill>
                <a:latin typeface="Calibri" pitchFamily="34" charset="0"/>
                <a:ea typeface="Calibri" pitchFamily="34" charset="-122"/>
                <a:cs typeface="Calibri" pitchFamily="34" charset="-120"/>
              </a:rPr>
              <a:t>Cybersecurity Integrated Digital Leave Management System</a:t>
            </a:r>
            <a:endParaRPr lang="en-US" sz="1700" dirty="0"/>
          </a:p>
          <a:p>
            <a:pPr indent="0" marL="0">
              <a:lnSpc>
                <a:spcPts val="2600"/>
              </a:lnSpc>
              <a:buNone/>
            </a:pPr>
            <a:r>
              <a:rPr lang="en-US" sz="1700" dirty="0">
                <a:solidFill>
                  <a:srgbClr val="CADCFC"/>
                </a:solidFill>
                <a:latin typeface="Calibri" pitchFamily="34" charset="0"/>
                <a:ea typeface="Calibri" pitchFamily="34" charset="-122"/>
                <a:cs typeface="Calibri" pitchFamily="34" charset="-120"/>
              </a:rPr>
              <a:t>with Real-Time Intrusion Alerts</a:t>
            </a:r>
            <a:endParaRPr lang="en-US" sz="1700" dirty="0"/>
          </a:p>
        </p:txBody>
      </p:sp>
      <p:sp>
        <p:nvSpPr>
          <p:cNvPr id="6" name="Text 4"/>
          <p:cNvSpPr txBox="1"/>
          <p:nvPr/>
        </p:nvSpPr>
        <p:spPr>
          <a:xfrm>
            <a:off x="777240" y="3310128"/>
            <a:ext cx="7132320" cy="274320"/>
          </a:xfrm>
          <a:prstGeom prst="rect">
            <a:avLst/>
          </a:prstGeom>
          <a:noFill/>
          <a:ln/>
        </p:spPr>
        <p:txBody>
          <a:bodyPr wrap="square" lIns="0" tIns="0" rIns="0" bIns="0" rtlCol="0" anchor="ctr"/>
          <a:lstStyle/>
          <a:p>
            <a:pPr indent="0" marL="0">
              <a:buNone/>
            </a:pPr>
            <a:r>
              <a:rPr lang="en-US" sz="1250" dirty="0">
                <a:solidFill>
                  <a:srgbClr val="9FB4E0"/>
                </a:solidFill>
                <a:latin typeface="Calibri" pitchFamily="34" charset="0"/>
                <a:ea typeface="Calibri" pitchFamily="34" charset="-122"/>
                <a:cs typeface="Calibri" pitchFamily="34" charset="-120"/>
              </a:rPr>
              <a:t>Local Government Unit of Alicia  ·  Isabela State University – Echague</a:t>
            </a:r>
            <a:endParaRPr lang="en-US" sz="1250" dirty="0"/>
          </a:p>
        </p:txBody>
      </p:sp>
      <p:sp>
        <p:nvSpPr>
          <p:cNvPr id="7" name="Text 5"/>
          <p:cNvSpPr txBox="1"/>
          <p:nvPr/>
        </p:nvSpPr>
        <p:spPr>
          <a:xfrm>
            <a:off x="777240" y="4041648"/>
            <a:ext cx="2103120" cy="566928"/>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135</a:t>
            </a:r>
            <a:endParaRPr lang="en-US" sz="4000" dirty="0"/>
          </a:p>
        </p:txBody>
      </p:sp>
      <p:sp>
        <p:nvSpPr>
          <p:cNvPr id="8" name="Text 6"/>
          <p:cNvSpPr txBox="1"/>
          <p:nvPr/>
        </p:nvSpPr>
        <p:spPr>
          <a:xfrm>
            <a:off x="777240" y="4626864"/>
            <a:ext cx="2103120" cy="274320"/>
          </a:xfrm>
          <a:prstGeom prst="rect">
            <a:avLst/>
          </a:prstGeom>
          <a:noFill/>
          <a:ln/>
        </p:spPr>
        <p:txBody>
          <a:bodyPr wrap="square" lIns="0" tIns="0" rIns="0" bIns="0" rtlCol="0" anchor="ctr"/>
          <a:lstStyle/>
          <a:p>
            <a:pPr indent="0" marL="0">
              <a:buNone/>
            </a:pPr>
            <a:r>
              <a:rPr lang="en-US" sz="1150" dirty="0">
                <a:solidFill>
                  <a:srgbClr val="9FB4E0"/>
                </a:solidFill>
                <a:latin typeface="Calibri" pitchFamily="34" charset="0"/>
                <a:ea typeface="Calibri" pitchFamily="34" charset="-122"/>
                <a:cs typeface="Calibri" pitchFamily="34" charset="-120"/>
              </a:rPr>
              <a:t>Employees served</a:t>
            </a:r>
            <a:endParaRPr lang="en-US" sz="1150" dirty="0"/>
          </a:p>
        </p:txBody>
      </p:sp>
      <p:sp>
        <p:nvSpPr>
          <p:cNvPr id="9" name="Text 7"/>
          <p:cNvSpPr txBox="1"/>
          <p:nvPr/>
        </p:nvSpPr>
        <p:spPr>
          <a:xfrm>
            <a:off x="3108960" y="4041648"/>
            <a:ext cx="2103120" cy="566928"/>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5</a:t>
            </a:r>
            <a:endParaRPr lang="en-US" sz="4000" dirty="0"/>
          </a:p>
        </p:txBody>
      </p:sp>
      <p:sp>
        <p:nvSpPr>
          <p:cNvPr id="10" name="Text 8"/>
          <p:cNvSpPr txBox="1"/>
          <p:nvPr/>
        </p:nvSpPr>
        <p:spPr>
          <a:xfrm>
            <a:off x="3108960" y="4626864"/>
            <a:ext cx="2103120" cy="274320"/>
          </a:xfrm>
          <a:prstGeom prst="rect">
            <a:avLst/>
          </a:prstGeom>
          <a:noFill/>
          <a:ln/>
        </p:spPr>
        <p:txBody>
          <a:bodyPr wrap="square" lIns="0" tIns="0" rIns="0" bIns="0" rtlCol="0" anchor="ctr"/>
          <a:lstStyle/>
          <a:p>
            <a:pPr indent="0" marL="0">
              <a:buNone/>
            </a:pPr>
            <a:r>
              <a:rPr lang="en-US" sz="1150" dirty="0">
                <a:solidFill>
                  <a:srgbClr val="9FB4E0"/>
                </a:solidFill>
                <a:latin typeface="Calibri" pitchFamily="34" charset="0"/>
                <a:ea typeface="Calibri" pitchFamily="34" charset="-122"/>
                <a:cs typeface="Calibri" pitchFamily="34" charset="-120"/>
              </a:rPr>
              <a:t>Operational roles</a:t>
            </a:r>
            <a:endParaRPr lang="en-US" sz="1150" dirty="0"/>
          </a:p>
        </p:txBody>
      </p:sp>
      <p:sp>
        <p:nvSpPr>
          <p:cNvPr id="11" name="Text 9"/>
          <p:cNvSpPr txBox="1"/>
          <p:nvPr/>
        </p:nvSpPr>
        <p:spPr>
          <a:xfrm>
            <a:off x="5440680" y="4041648"/>
            <a:ext cx="2103120" cy="566928"/>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15</a:t>
            </a:r>
            <a:endParaRPr lang="en-US" sz="4000" dirty="0"/>
          </a:p>
        </p:txBody>
      </p:sp>
      <p:sp>
        <p:nvSpPr>
          <p:cNvPr id="12" name="Text 10"/>
          <p:cNvSpPr txBox="1"/>
          <p:nvPr/>
        </p:nvSpPr>
        <p:spPr>
          <a:xfrm>
            <a:off x="5440680" y="4626864"/>
            <a:ext cx="2103120" cy="274320"/>
          </a:xfrm>
          <a:prstGeom prst="rect">
            <a:avLst/>
          </a:prstGeom>
          <a:noFill/>
          <a:ln/>
        </p:spPr>
        <p:txBody>
          <a:bodyPr wrap="square" lIns="0" tIns="0" rIns="0" bIns="0" rtlCol="0" anchor="ctr"/>
          <a:lstStyle/>
          <a:p>
            <a:pPr indent="0" marL="0">
              <a:buNone/>
            </a:pPr>
            <a:r>
              <a:rPr lang="en-US" sz="1150" dirty="0">
                <a:solidFill>
                  <a:srgbClr val="9FB4E0"/>
                </a:solidFill>
                <a:latin typeface="Calibri" pitchFamily="34" charset="0"/>
                <a:ea typeface="Calibri" pitchFamily="34" charset="-122"/>
                <a:cs typeface="Calibri" pitchFamily="34" charset="-120"/>
              </a:rPr>
              <a:t>CSC leave types</a:t>
            </a:r>
            <a:endParaRPr lang="en-US" sz="1150" dirty="0"/>
          </a:p>
        </p:txBody>
      </p:sp>
      <p:sp>
        <p:nvSpPr>
          <p:cNvPr id="13" name="Text 11"/>
          <p:cNvSpPr txBox="1"/>
          <p:nvPr/>
        </p:nvSpPr>
        <p:spPr>
          <a:xfrm>
            <a:off x="777240" y="5870448"/>
            <a:ext cx="7772400" cy="274320"/>
          </a:xfrm>
          <a:prstGeom prst="rect">
            <a:avLst/>
          </a:prstGeom>
          <a:noFill/>
          <a:ln/>
        </p:spPr>
        <p:txBody>
          <a:bodyPr wrap="square" lIns="0" tIns="0" rIns="0" bIns="0" rtlCol="0" anchor="ctr"/>
          <a:lstStyle/>
          <a:p>
            <a:pPr indent="0" marL="0">
              <a:buNone/>
            </a:pPr>
            <a:r>
              <a:rPr lang="en-US" sz="1100" dirty="0">
                <a:solidFill>
                  <a:srgbClr val="8095C9"/>
                </a:solidFill>
                <a:latin typeface="Calibri" pitchFamily="34" charset="0"/>
                <a:ea typeface="Calibri" pitchFamily="34" charset="-122"/>
                <a:cs typeface="Calibri" pitchFamily="34" charset="-120"/>
              </a:rPr>
              <a:t>Macarubbo, Noly J. Jr.  ·  Mendoza, Alexander John T.  ·  Mendoza, Dj Robin O.</a:t>
            </a:r>
            <a:endParaRPr lang="en-US" sz="1100" dirty="0"/>
          </a:p>
        </p:txBody>
      </p:sp>
      <p:sp>
        <p:nvSpPr>
          <p:cNvPr id="14" name="Shape 12"/>
          <p:cNvSpPr/>
          <p:nvPr/>
        </p:nvSpPr>
        <p:spPr>
          <a:xfrm>
            <a:off x="8732520" y="1417320"/>
            <a:ext cx="2926080" cy="896112"/>
          </a:xfrm>
          <a:prstGeom prst="roundRect">
            <a:avLst>
              <a:gd name="adj" fmla="val 8163"/>
            </a:avLst>
          </a:prstGeom>
          <a:solidFill>
            <a:srgbClr val="2B3B7A"/>
          </a:solidFill>
          <a:ln w="12700">
            <a:solidFill>
              <a:srgbClr val="3D50A0"/>
            </a:solidFill>
            <a:prstDash val="solid"/>
          </a:ln>
        </p:spPr>
      </p:sp>
      <p:sp>
        <p:nvSpPr>
          <p:cNvPr id="15" name="Text 13"/>
          <p:cNvSpPr txBox="1"/>
          <p:nvPr/>
        </p:nvSpPr>
        <p:spPr>
          <a:xfrm>
            <a:off x="8942832" y="1545336"/>
            <a:ext cx="2560320" cy="237744"/>
          </a:xfrm>
          <a:prstGeom prst="rect">
            <a:avLst/>
          </a:prstGeom>
          <a:noFill/>
          <a:ln/>
        </p:spPr>
        <p:txBody>
          <a:bodyPr wrap="square" lIns="0" tIns="0" rIns="0" bIns="0" rtlCol="0" anchor="ctr"/>
          <a:lstStyle/>
          <a:p>
            <a:pPr indent="0" marL="0">
              <a:buNone/>
            </a:pPr>
            <a:r>
              <a:rPr lang="en-US" sz="1100" b="1" spc="150" kern="0" dirty="0">
                <a:solidFill>
                  <a:srgbClr val="CADCFC"/>
                </a:solidFill>
                <a:latin typeface="Calibri" pitchFamily="34" charset="0"/>
                <a:ea typeface="Calibri" pitchFamily="34" charset="-122"/>
                <a:cs typeface="Calibri" pitchFamily="34" charset="-120"/>
              </a:rPr>
              <a:t>CLIENT</a:t>
            </a:r>
            <a:endParaRPr lang="en-US" sz="1100" dirty="0"/>
          </a:p>
        </p:txBody>
      </p:sp>
      <p:sp>
        <p:nvSpPr>
          <p:cNvPr id="16" name="Text 14"/>
          <p:cNvSpPr txBox="1"/>
          <p:nvPr/>
        </p:nvSpPr>
        <p:spPr>
          <a:xfrm>
            <a:off x="8942832" y="1801368"/>
            <a:ext cx="2578608" cy="402336"/>
          </a:xfrm>
          <a:prstGeom prst="rect">
            <a:avLst/>
          </a:prstGeom>
          <a:noFill/>
          <a:ln/>
        </p:spPr>
        <p:txBody>
          <a:bodyPr wrap="square" lIns="0" tIns="0" rIns="0" bIns="0" rtlCol="0" anchor="ctr"/>
          <a:lstStyle/>
          <a:p>
            <a:pPr indent="0" marL="0">
              <a:buNone/>
            </a:pPr>
            <a:r>
              <a:rPr lang="en-US" sz="1050" dirty="0">
                <a:solidFill>
                  <a:srgbClr val="C6D2F2"/>
                </a:solidFill>
                <a:latin typeface="Calibri" pitchFamily="34" charset="0"/>
                <a:ea typeface="Calibri" pitchFamily="34" charset="-122"/>
                <a:cs typeface="Calibri" pitchFamily="34" charset="-120"/>
              </a:rPr>
              <a:t>Browsers on authorized LAN devices</a:t>
            </a:r>
            <a:endParaRPr lang="en-US" sz="1050" dirty="0"/>
          </a:p>
        </p:txBody>
      </p:sp>
      <p:sp>
        <p:nvSpPr>
          <p:cNvPr id="17" name="Shape 15"/>
          <p:cNvSpPr/>
          <p:nvPr/>
        </p:nvSpPr>
        <p:spPr>
          <a:xfrm>
            <a:off x="10195560" y="2331720"/>
            <a:ext cx="0" cy="146304"/>
          </a:xfrm>
          <a:prstGeom prst="line">
            <a:avLst/>
          </a:prstGeom>
          <a:noFill/>
          <a:ln w="22225">
            <a:solidFill>
              <a:srgbClr val="6A7CC4"/>
            </a:solidFill>
            <a:prstDash val="solid"/>
            <a:tailEnd type="triangle"/>
          </a:ln>
        </p:spPr>
      </p:sp>
      <p:sp>
        <p:nvSpPr>
          <p:cNvPr id="18" name="Shape 16"/>
          <p:cNvSpPr/>
          <p:nvPr/>
        </p:nvSpPr>
        <p:spPr>
          <a:xfrm>
            <a:off x="8732520" y="2496312"/>
            <a:ext cx="2926080" cy="896112"/>
          </a:xfrm>
          <a:prstGeom prst="roundRect">
            <a:avLst>
              <a:gd name="adj" fmla="val 8163"/>
            </a:avLst>
          </a:prstGeom>
          <a:solidFill>
            <a:srgbClr val="2B3B7A"/>
          </a:solidFill>
          <a:ln w="12700">
            <a:solidFill>
              <a:srgbClr val="3D50A0"/>
            </a:solidFill>
            <a:prstDash val="solid"/>
          </a:ln>
        </p:spPr>
      </p:sp>
      <p:sp>
        <p:nvSpPr>
          <p:cNvPr id="19" name="Text 17"/>
          <p:cNvSpPr txBox="1"/>
          <p:nvPr/>
        </p:nvSpPr>
        <p:spPr>
          <a:xfrm>
            <a:off x="8942832" y="2624328"/>
            <a:ext cx="2560320" cy="237744"/>
          </a:xfrm>
          <a:prstGeom prst="rect">
            <a:avLst/>
          </a:prstGeom>
          <a:noFill/>
          <a:ln/>
        </p:spPr>
        <p:txBody>
          <a:bodyPr wrap="square" lIns="0" tIns="0" rIns="0" bIns="0" rtlCol="0" anchor="ctr"/>
          <a:lstStyle/>
          <a:p>
            <a:pPr indent="0" marL="0">
              <a:buNone/>
            </a:pPr>
            <a:r>
              <a:rPr lang="en-US" sz="1100" b="1" spc="150" kern="0" dirty="0">
                <a:solidFill>
                  <a:srgbClr val="CADCFC"/>
                </a:solidFill>
                <a:latin typeface="Calibri" pitchFamily="34" charset="0"/>
                <a:ea typeface="Calibri" pitchFamily="34" charset="-122"/>
                <a:cs typeface="Calibri" pitchFamily="34" charset="-120"/>
              </a:rPr>
              <a:t>NETWORK</a:t>
            </a:r>
            <a:endParaRPr lang="en-US" sz="1100" dirty="0"/>
          </a:p>
        </p:txBody>
      </p:sp>
      <p:sp>
        <p:nvSpPr>
          <p:cNvPr id="20" name="Text 18"/>
          <p:cNvSpPr txBox="1"/>
          <p:nvPr/>
        </p:nvSpPr>
        <p:spPr>
          <a:xfrm>
            <a:off x="8942832" y="2880360"/>
            <a:ext cx="2578608" cy="402336"/>
          </a:xfrm>
          <a:prstGeom prst="rect">
            <a:avLst/>
          </a:prstGeom>
          <a:noFill/>
          <a:ln/>
        </p:spPr>
        <p:txBody>
          <a:bodyPr wrap="square" lIns="0" tIns="0" rIns="0" bIns="0" rtlCol="0" anchor="ctr"/>
          <a:lstStyle/>
          <a:p>
            <a:pPr indent="0" marL="0">
              <a:buNone/>
            </a:pPr>
            <a:r>
              <a:rPr lang="en-US" sz="1050" dirty="0">
                <a:solidFill>
                  <a:srgbClr val="C6D2F2"/>
                </a:solidFill>
                <a:latin typeface="Calibri" pitchFamily="34" charset="0"/>
                <a:ea typeface="Calibri" pitchFamily="34" charset="-122"/>
                <a:cs typeface="Calibri" pitchFamily="34" charset="-120"/>
              </a:rPr>
              <a:t>Switch · Router/Firewall · HTTPS</a:t>
            </a:r>
            <a:endParaRPr lang="en-US" sz="1050" dirty="0"/>
          </a:p>
        </p:txBody>
      </p:sp>
      <p:sp>
        <p:nvSpPr>
          <p:cNvPr id="21" name="Shape 19"/>
          <p:cNvSpPr/>
          <p:nvPr/>
        </p:nvSpPr>
        <p:spPr>
          <a:xfrm>
            <a:off x="10195560" y="3410712"/>
            <a:ext cx="0" cy="146304"/>
          </a:xfrm>
          <a:prstGeom prst="line">
            <a:avLst/>
          </a:prstGeom>
          <a:noFill/>
          <a:ln w="22225">
            <a:solidFill>
              <a:srgbClr val="6A7CC4"/>
            </a:solidFill>
            <a:prstDash val="solid"/>
            <a:tailEnd type="triangle"/>
          </a:ln>
        </p:spPr>
      </p:sp>
      <p:sp>
        <p:nvSpPr>
          <p:cNvPr id="22" name="Shape 20"/>
          <p:cNvSpPr/>
          <p:nvPr/>
        </p:nvSpPr>
        <p:spPr>
          <a:xfrm>
            <a:off x="8732520" y="3575304"/>
            <a:ext cx="2926080" cy="896112"/>
          </a:xfrm>
          <a:prstGeom prst="roundRect">
            <a:avLst>
              <a:gd name="adj" fmla="val 8163"/>
            </a:avLst>
          </a:prstGeom>
          <a:solidFill>
            <a:srgbClr val="2B3B7A"/>
          </a:solidFill>
          <a:ln w="12700">
            <a:solidFill>
              <a:srgbClr val="3D50A0"/>
            </a:solidFill>
            <a:prstDash val="solid"/>
          </a:ln>
        </p:spPr>
      </p:sp>
      <p:sp>
        <p:nvSpPr>
          <p:cNvPr id="23" name="Text 21"/>
          <p:cNvSpPr txBox="1"/>
          <p:nvPr/>
        </p:nvSpPr>
        <p:spPr>
          <a:xfrm>
            <a:off x="8942832" y="3703320"/>
            <a:ext cx="2560320" cy="237744"/>
          </a:xfrm>
          <a:prstGeom prst="rect">
            <a:avLst/>
          </a:prstGeom>
          <a:noFill/>
          <a:ln/>
        </p:spPr>
        <p:txBody>
          <a:bodyPr wrap="square" lIns="0" tIns="0" rIns="0" bIns="0" rtlCol="0" anchor="ctr"/>
          <a:lstStyle/>
          <a:p>
            <a:pPr indent="0" marL="0">
              <a:buNone/>
            </a:pPr>
            <a:r>
              <a:rPr lang="en-US" sz="1100" b="1" spc="150" kern="0" dirty="0">
                <a:solidFill>
                  <a:srgbClr val="CADCFC"/>
                </a:solidFill>
                <a:latin typeface="Calibri" pitchFamily="34" charset="0"/>
                <a:ea typeface="Calibri" pitchFamily="34" charset="-122"/>
                <a:cs typeface="Calibri" pitchFamily="34" charset="-120"/>
              </a:rPr>
              <a:t>APPLICATION</a:t>
            </a:r>
            <a:endParaRPr lang="en-US" sz="1100" dirty="0"/>
          </a:p>
        </p:txBody>
      </p:sp>
      <p:sp>
        <p:nvSpPr>
          <p:cNvPr id="24" name="Text 22"/>
          <p:cNvSpPr txBox="1"/>
          <p:nvPr/>
        </p:nvSpPr>
        <p:spPr>
          <a:xfrm>
            <a:off x="8942832" y="3959352"/>
            <a:ext cx="2578608" cy="402336"/>
          </a:xfrm>
          <a:prstGeom prst="rect">
            <a:avLst/>
          </a:prstGeom>
          <a:noFill/>
          <a:ln/>
        </p:spPr>
        <p:txBody>
          <a:bodyPr wrap="square" lIns="0" tIns="0" rIns="0" bIns="0" rtlCol="0" anchor="ctr"/>
          <a:lstStyle/>
          <a:p>
            <a:pPr indent="0" marL="0">
              <a:buNone/>
            </a:pPr>
            <a:r>
              <a:rPr lang="en-US" sz="1050" dirty="0">
                <a:solidFill>
                  <a:srgbClr val="C6D2F2"/>
                </a:solidFill>
                <a:latin typeface="Calibri" pitchFamily="34" charset="0"/>
                <a:ea typeface="Calibri" pitchFamily="34" charset="-122"/>
                <a:cs typeface="Calibri" pitchFamily="34" charset="-120"/>
              </a:rPr>
              <a:t>Apache · PHP 8.3 · Laravel 12</a:t>
            </a:r>
            <a:endParaRPr lang="en-US" sz="1050" dirty="0"/>
          </a:p>
        </p:txBody>
      </p:sp>
      <p:sp>
        <p:nvSpPr>
          <p:cNvPr id="25" name="Shape 23"/>
          <p:cNvSpPr/>
          <p:nvPr/>
        </p:nvSpPr>
        <p:spPr>
          <a:xfrm>
            <a:off x="10195560" y="4489704"/>
            <a:ext cx="0" cy="146304"/>
          </a:xfrm>
          <a:prstGeom prst="line">
            <a:avLst/>
          </a:prstGeom>
          <a:noFill/>
          <a:ln w="22225">
            <a:solidFill>
              <a:srgbClr val="6A7CC4"/>
            </a:solidFill>
            <a:prstDash val="solid"/>
            <a:tailEnd type="triangle"/>
          </a:ln>
        </p:spPr>
      </p:sp>
      <p:sp>
        <p:nvSpPr>
          <p:cNvPr id="26" name="Shape 24"/>
          <p:cNvSpPr/>
          <p:nvPr/>
        </p:nvSpPr>
        <p:spPr>
          <a:xfrm>
            <a:off x="8732520" y="4654296"/>
            <a:ext cx="2926080" cy="896112"/>
          </a:xfrm>
          <a:prstGeom prst="roundRect">
            <a:avLst>
              <a:gd name="adj" fmla="val 8163"/>
            </a:avLst>
          </a:prstGeom>
          <a:solidFill>
            <a:srgbClr val="CADCFC"/>
          </a:solidFill>
          <a:ln w="12700">
            <a:solidFill>
              <a:srgbClr val="CADCFC"/>
            </a:solidFill>
            <a:prstDash val="solid"/>
          </a:ln>
        </p:spPr>
      </p:sp>
      <p:sp>
        <p:nvSpPr>
          <p:cNvPr id="27" name="Text 25"/>
          <p:cNvSpPr txBox="1"/>
          <p:nvPr/>
        </p:nvSpPr>
        <p:spPr>
          <a:xfrm>
            <a:off x="8942832" y="4782312"/>
            <a:ext cx="2560320" cy="237744"/>
          </a:xfrm>
          <a:prstGeom prst="rect">
            <a:avLst/>
          </a:prstGeom>
          <a:noFill/>
          <a:ln/>
        </p:spPr>
        <p:txBody>
          <a:bodyPr wrap="square" lIns="0" tIns="0" rIns="0" bIns="0" rtlCol="0" anchor="ctr"/>
          <a:lstStyle/>
          <a:p>
            <a:pPr indent="0" marL="0">
              <a:buNone/>
            </a:pPr>
            <a:r>
              <a:rPr lang="en-US" sz="1100" b="1" spc="150" kern="0" dirty="0">
                <a:solidFill>
                  <a:srgbClr val="1E2761"/>
                </a:solidFill>
                <a:latin typeface="Calibri" pitchFamily="34" charset="0"/>
                <a:ea typeface="Calibri" pitchFamily="34" charset="-122"/>
                <a:cs typeface="Calibri" pitchFamily="34" charset="-120"/>
              </a:rPr>
              <a:t>DATA</a:t>
            </a:r>
            <a:endParaRPr lang="en-US" sz="1100" dirty="0"/>
          </a:p>
        </p:txBody>
      </p:sp>
      <p:sp>
        <p:nvSpPr>
          <p:cNvPr id="28" name="Text 26"/>
          <p:cNvSpPr txBox="1"/>
          <p:nvPr/>
        </p:nvSpPr>
        <p:spPr>
          <a:xfrm>
            <a:off x="8942832" y="5038344"/>
            <a:ext cx="2578608" cy="402336"/>
          </a:xfrm>
          <a:prstGeom prst="rect">
            <a:avLst/>
          </a:prstGeom>
          <a:noFill/>
          <a:ln/>
        </p:spPr>
        <p:txBody>
          <a:bodyPr wrap="square" lIns="0" tIns="0" rIns="0" bIns="0" rtlCol="0" anchor="ctr"/>
          <a:lstStyle/>
          <a:p>
            <a:pPr indent="0" marL="0">
              <a:buNone/>
            </a:pPr>
            <a:r>
              <a:rPr lang="en-US" sz="1050" dirty="0">
                <a:solidFill>
                  <a:srgbClr val="3A4670"/>
                </a:solidFill>
                <a:latin typeface="Calibri" pitchFamily="34" charset="0"/>
                <a:ea typeface="Calibri" pitchFamily="34" charset="-122"/>
                <a:cs typeface="Calibri" pitchFamily="34" charset="-120"/>
              </a:rPr>
              <a:t>MySQL / MariaDB · Audit stores</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66928" y="384048"/>
            <a:ext cx="8229600" cy="237744"/>
          </a:xfrm>
          <a:prstGeom prst="rect">
            <a:avLst/>
          </a:prstGeom>
          <a:noFill/>
          <a:ln/>
        </p:spPr>
        <p:txBody>
          <a:bodyPr wrap="square" lIns="0" tIns="0" rIns="0" bIns="0" rtlCol="0" anchor="ctr"/>
          <a:lstStyle/>
          <a:p>
            <a:pPr indent="0" marL="0">
              <a:buNone/>
            </a:pPr>
            <a:r>
              <a:rPr lang="en-US" sz="1100" b="1" spc="160" kern="0" dirty="0">
                <a:solidFill>
                  <a:srgbClr val="78819A"/>
                </a:solidFill>
                <a:latin typeface="Calibri" pitchFamily="34" charset="0"/>
                <a:ea typeface="Calibri" pitchFamily="34" charset="-122"/>
                <a:cs typeface="Calibri" pitchFamily="34" charset="-120"/>
              </a:rPr>
              <a:t>4.1.1  SYSTEM OVERVIEW</a:t>
            </a:r>
            <a:endParaRPr lang="en-US" sz="1100" dirty="0"/>
          </a:p>
        </p:txBody>
      </p:sp>
      <p:sp>
        <p:nvSpPr>
          <p:cNvPr id="3" name="Text 1"/>
          <p:cNvSpPr txBox="1"/>
          <p:nvPr/>
        </p:nvSpPr>
        <p:spPr>
          <a:xfrm>
            <a:off x="548640" y="621792"/>
            <a:ext cx="11155680" cy="603504"/>
          </a:xfrm>
          <a:prstGeom prst="rect">
            <a:avLst/>
          </a:prstGeom>
          <a:noFill/>
          <a:ln/>
        </p:spPr>
        <p:txBody>
          <a:bodyPr wrap="square" lIns="0" tIns="0" rIns="0" bIns="0" rtlCol="0" anchor="t"/>
          <a:lstStyle/>
          <a:p>
            <a:pPr indent="0" marL="0">
              <a:buNone/>
            </a:pPr>
            <a:r>
              <a:rPr lang="en-US" sz="3200" b="1" dirty="0">
                <a:solidFill>
                  <a:srgbClr val="1E2761"/>
                </a:solidFill>
                <a:latin typeface="Cambria" pitchFamily="34" charset="0"/>
                <a:ea typeface="Cambria" pitchFamily="34" charset="-122"/>
                <a:cs typeface="Cambria" pitchFamily="34" charset="-120"/>
              </a:rPr>
              <a:t>A centralized, LAN-only client–server system</a:t>
            </a:r>
            <a:endParaRPr lang="en-US" sz="3200" dirty="0"/>
          </a:p>
        </p:txBody>
      </p:sp>
      <p:sp>
        <p:nvSpPr>
          <p:cNvPr id="4" name="Text 2"/>
          <p:cNvSpPr txBox="1"/>
          <p:nvPr/>
        </p:nvSpPr>
        <p:spPr>
          <a:xfrm>
            <a:off x="566928" y="1389888"/>
            <a:ext cx="5074920" cy="1371600"/>
          </a:xfrm>
          <a:prstGeom prst="rect">
            <a:avLst/>
          </a:prstGeom>
          <a:noFill/>
          <a:ln/>
        </p:spPr>
        <p:txBody>
          <a:bodyPr wrap="square" lIns="0" tIns="0" rIns="0" bIns="0" rtlCol="0" anchor="ctr"/>
          <a:lstStyle/>
          <a:p>
            <a:pPr indent="0" marL="0">
              <a:lnSpc>
                <a:spcPts val="2100"/>
              </a:lnSpc>
              <a:buNone/>
            </a:pPr>
            <a:r>
              <a:rPr lang="en-US" sz="1350" dirty="0">
                <a:solidFill>
                  <a:srgbClr val="343B4F"/>
                </a:solidFill>
                <a:latin typeface="Calibri" pitchFamily="34" charset="0"/>
                <a:ea typeface="Calibri" pitchFamily="34" charset="-122"/>
                <a:cs typeface="Calibri" pitchFamily="34" charset="-120"/>
              </a:rPr>
              <a:t>Authorized client devices reach a single application server over the LGU's internal network. Processing, persistent data, logging, and administrative monitoring are centralized. LAN restriction reduces external exposure — but internal devices can still generate malicious requests, so application-level controls run alongside it.</a:t>
            </a:r>
            <a:endParaRPr lang="en-US" sz="1350" dirty="0"/>
          </a:p>
        </p:txBody>
      </p:sp>
      <p:sp>
        <p:nvSpPr>
          <p:cNvPr id="5" name="Shape 3"/>
          <p:cNvSpPr/>
          <p:nvPr/>
        </p:nvSpPr>
        <p:spPr>
          <a:xfrm>
            <a:off x="5943600" y="1389888"/>
            <a:ext cx="5715000" cy="1042416"/>
          </a:xfrm>
          <a:prstGeom prst="roundRect">
            <a:avLst>
              <a:gd name="adj" fmla="val 7018"/>
            </a:avLst>
          </a:prstGeom>
          <a:solidFill>
            <a:srgbClr val="EEF3FC"/>
          </a:solidFill>
          <a:ln w="12700">
            <a:solidFill>
              <a:srgbClr val="DCE5F6"/>
            </a:solidFill>
            <a:prstDash val="solid"/>
          </a:ln>
        </p:spPr>
      </p:sp>
      <p:sp>
        <p:nvSpPr>
          <p:cNvPr id="6" name="Shape 4"/>
          <p:cNvSpPr/>
          <p:nvPr/>
        </p:nvSpPr>
        <p:spPr>
          <a:xfrm>
            <a:off x="6163056" y="1572768"/>
            <a:ext cx="310896" cy="310896"/>
          </a:xfrm>
          <a:prstGeom prst="ellipse">
            <a:avLst/>
          </a:prstGeom>
          <a:solidFill>
            <a:srgbClr val="1E2761"/>
          </a:solidFill>
          <a:ln w="12700">
            <a:solidFill>
              <a:srgbClr val="1E2761"/>
            </a:solidFill>
            <a:prstDash val="solid"/>
          </a:ln>
        </p:spPr>
      </p:sp>
      <p:sp>
        <p:nvSpPr>
          <p:cNvPr id="7" name="Text 5"/>
          <p:cNvSpPr txBox="1"/>
          <p:nvPr/>
        </p:nvSpPr>
        <p:spPr>
          <a:xfrm>
            <a:off x="6163056" y="1572768"/>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8" name="Text 6"/>
          <p:cNvSpPr txBox="1"/>
          <p:nvPr/>
        </p:nvSpPr>
        <p:spPr>
          <a:xfrm>
            <a:off x="6601968" y="1536192"/>
            <a:ext cx="4846320" cy="256032"/>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Architectural style</a:t>
            </a:r>
            <a:endParaRPr lang="en-US" sz="1300" dirty="0"/>
          </a:p>
        </p:txBody>
      </p:sp>
      <p:sp>
        <p:nvSpPr>
          <p:cNvPr id="9" name="Text 7"/>
          <p:cNvSpPr txBox="1"/>
          <p:nvPr/>
        </p:nvSpPr>
        <p:spPr>
          <a:xfrm>
            <a:off x="6601968" y="1810512"/>
            <a:ext cx="4828032" cy="548640"/>
          </a:xfrm>
          <a:prstGeom prst="rect">
            <a:avLst/>
          </a:prstGeom>
          <a:noFill/>
          <a:ln/>
        </p:spPr>
        <p:txBody>
          <a:bodyPr wrap="square" lIns="0" tIns="0" rIns="0" bIns="0" rtlCol="0" anchor="ctr"/>
          <a:lstStyle/>
          <a:p>
            <a:pPr indent="0" marL="0">
              <a:lnSpc>
                <a:spcPts val="1500"/>
              </a:lnSpc>
              <a:buNone/>
            </a:pPr>
            <a:r>
              <a:rPr lang="en-US" sz="1150" dirty="0">
                <a:solidFill>
                  <a:srgbClr val="343B4F"/>
                </a:solidFill>
                <a:latin typeface="Calibri" pitchFamily="34" charset="0"/>
                <a:ea typeface="Calibri" pitchFamily="34" charset="-122"/>
                <a:cs typeface="Calibri" pitchFamily="34" charset="-120"/>
              </a:rPr>
              <a:t>Layered monolith — MVC + service layer on Laravel 12. One server, one ops team, offline LAN.</a:t>
            </a:r>
            <a:endParaRPr lang="en-US" sz="1150" dirty="0"/>
          </a:p>
        </p:txBody>
      </p:sp>
      <p:sp>
        <p:nvSpPr>
          <p:cNvPr id="10" name="Shape 8"/>
          <p:cNvSpPr/>
          <p:nvPr/>
        </p:nvSpPr>
        <p:spPr>
          <a:xfrm>
            <a:off x="5943600" y="2578608"/>
            <a:ext cx="5715000" cy="1042416"/>
          </a:xfrm>
          <a:prstGeom prst="roundRect">
            <a:avLst>
              <a:gd name="adj" fmla="val 7018"/>
            </a:avLst>
          </a:prstGeom>
          <a:solidFill>
            <a:srgbClr val="EEF3FC"/>
          </a:solidFill>
          <a:ln w="12700">
            <a:solidFill>
              <a:srgbClr val="DCE5F6"/>
            </a:solidFill>
            <a:prstDash val="solid"/>
          </a:ln>
        </p:spPr>
      </p:sp>
      <p:sp>
        <p:nvSpPr>
          <p:cNvPr id="11" name="Shape 9"/>
          <p:cNvSpPr/>
          <p:nvPr/>
        </p:nvSpPr>
        <p:spPr>
          <a:xfrm>
            <a:off x="6163056" y="2761488"/>
            <a:ext cx="310896" cy="310896"/>
          </a:xfrm>
          <a:prstGeom prst="ellipse">
            <a:avLst/>
          </a:prstGeom>
          <a:solidFill>
            <a:srgbClr val="1E2761"/>
          </a:solidFill>
          <a:ln w="12700">
            <a:solidFill>
              <a:srgbClr val="1E2761"/>
            </a:solidFill>
            <a:prstDash val="solid"/>
          </a:ln>
        </p:spPr>
      </p:sp>
      <p:sp>
        <p:nvSpPr>
          <p:cNvPr id="12" name="Text 10"/>
          <p:cNvSpPr txBox="1"/>
          <p:nvPr/>
        </p:nvSpPr>
        <p:spPr>
          <a:xfrm>
            <a:off x="6163056" y="2761488"/>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3" name="Text 11"/>
          <p:cNvSpPr txBox="1"/>
          <p:nvPr/>
        </p:nvSpPr>
        <p:spPr>
          <a:xfrm>
            <a:off x="6601968" y="2724912"/>
            <a:ext cx="4846320" cy="256032"/>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Deployment</a:t>
            </a:r>
            <a:endParaRPr lang="en-US" sz="1300" dirty="0"/>
          </a:p>
        </p:txBody>
      </p:sp>
      <p:sp>
        <p:nvSpPr>
          <p:cNvPr id="14" name="Text 12"/>
          <p:cNvSpPr txBox="1"/>
          <p:nvPr/>
        </p:nvSpPr>
        <p:spPr>
          <a:xfrm>
            <a:off x="6601968" y="2999232"/>
            <a:ext cx="4828032" cy="548640"/>
          </a:xfrm>
          <a:prstGeom prst="rect">
            <a:avLst/>
          </a:prstGeom>
          <a:noFill/>
          <a:ln/>
        </p:spPr>
        <p:txBody>
          <a:bodyPr wrap="square" lIns="0" tIns="0" rIns="0" bIns="0" rtlCol="0" anchor="ctr"/>
          <a:lstStyle/>
          <a:p>
            <a:pPr indent="0" marL="0">
              <a:lnSpc>
                <a:spcPts val="1500"/>
              </a:lnSpc>
              <a:buNone/>
            </a:pPr>
            <a:r>
              <a:rPr lang="en-US" sz="1150" dirty="0">
                <a:solidFill>
                  <a:srgbClr val="343B4F"/>
                </a:solidFill>
                <a:latin typeface="Calibri" pitchFamily="34" charset="0"/>
                <a:ea typeface="Calibri" pitchFamily="34" charset="-122"/>
                <a:cs typeface="Calibri" pitchFamily="34" charset="-120"/>
              </a:rPr>
              <a:t>Single centralized server inside the LGU LAN. No public internet exposure for normal operations.</a:t>
            </a:r>
            <a:endParaRPr lang="en-US" sz="1150" dirty="0"/>
          </a:p>
        </p:txBody>
      </p:sp>
      <p:sp>
        <p:nvSpPr>
          <p:cNvPr id="15" name="Shape 13"/>
          <p:cNvSpPr/>
          <p:nvPr/>
        </p:nvSpPr>
        <p:spPr>
          <a:xfrm>
            <a:off x="5943600" y="3767328"/>
            <a:ext cx="5715000" cy="1042416"/>
          </a:xfrm>
          <a:prstGeom prst="roundRect">
            <a:avLst>
              <a:gd name="adj" fmla="val 7018"/>
            </a:avLst>
          </a:prstGeom>
          <a:solidFill>
            <a:srgbClr val="EEF3FC"/>
          </a:solidFill>
          <a:ln w="12700">
            <a:solidFill>
              <a:srgbClr val="DCE5F6"/>
            </a:solidFill>
            <a:prstDash val="solid"/>
          </a:ln>
        </p:spPr>
      </p:sp>
      <p:sp>
        <p:nvSpPr>
          <p:cNvPr id="16" name="Shape 14"/>
          <p:cNvSpPr/>
          <p:nvPr/>
        </p:nvSpPr>
        <p:spPr>
          <a:xfrm>
            <a:off x="6163056" y="3950208"/>
            <a:ext cx="310896" cy="310896"/>
          </a:xfrm>
          <a:prstGeom prst="ellipse">
            <a:avLst/>
          </a:prstGeom>
          <a:solidFill>
            <a:srgbClr val="1E2761"/>
          </a:solidFill>
          <a:ln w="12700">
            <a:solidFill>
              <a:srgbClr val="1E2761"/>
            </a:solidFill>
            <a:prstDash val="solid"/>
          </a:ln>
        </p:spPr>
      </p:sp>
      <p:sp>
        <p:nvSpPr>
          <p:cNvPr id="17" name="Text 15"/>
          <p:cNvSpPr txBox="1"/>
          <p:nvPr/>
        </p:nvSpPr>
        <p:spPr>
          <a:xfrm>
            <a:off x="6163056" y="3950208"/>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8" name="Text 16"/>
          <p:cNvSpPr txBox="1"/>
          <p:nvPr/>
        </p:nvSpPr>
        <p:spPr>
          <a:xfrm>
            <a:off x="6601968" y="3913632"/>
            <a:ext cx="4846320" cy="256032"/>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Roles enforced</a:t>
            </a:r>
            <a:endParaRPr lang="en-US" sz="1300" dirty="0"/>
          </a:p>
        </p:txBody>
      </p:sp>
      <p:sp>
        <p:nvSpPr>
          <p:cNvPr id="19" name="Text 17"/>
          <p:cNvSpPr txBox="1"/>
          <p:nvPr/>
        </p:nvSpPr>
        <p:spPr>
          <a:xfrm>
            <a:off x="6601968" y="4187952"/>
            <a:ext cx="4828032" cy="548640"/>
          </a:xfrm>
          <a:prstGeom prst="rect">
            <a:avLst/>
          </a:prstGeom>
          <a:noFill/>
          <a:ln/>
        </p:spPr>
        <p:txBody>
          <a:bodyPr wrap="square" lIns="0" tIns="0" rIns="0" bIns="0" rtlCol="0" anchor="ctr"/>
          <a:lstStyle/>
          <a:p>
            <a:pPr indent="0" marL="0">
              <a:lnSpc>
                <a:spcPts val="1500"/>
              </a:lnSpc>
              <a:buNone/>
            </a:pPr>
            <a:r>
              <a:rPr lang="en-US" sz="1150" dirty="0">
                <a:solidFill>
                  <a:srgbClr val="343B4F"/>
                </a:solidFill>
                <a:latin typeface="Calibri" pitchFamily="34" charset="0"/>
                <a:ea typeface="Calibri" pitchFamily="34" charset="-122"/>
                <a:cs typeface="Calibri" pitchFamily="34" charset="-120"/>
              </a:rPr>
              <a:t>Employee · Department Head · HR · Municipal Mayor · System Administrator, all through database-driven RBAC.</a:t>
            </a:r>
            <a:endParaRPr lang="en-US" sz="1150" dirty="0"/>
          </a:p>
        </p:txBody>
      </p:sp>
      <p:sp>
        <p:nvSpPr>
          <p:cNvPr id="20" name="Shape 18"/>
          <p:cNvSpPr/>
          <p:nvPr/>
        </p:nvSpPr>
        <p:spPr>
          <a:xfrm>
            <a:off x="5943600" y="4956048"/>
            <a:ext cx="5715000" cy="1042416"/>
          </a:xfrm>
          <a:prstGeom prst="roundRect">
            <a:avLst>
              <a:gd name="adj" fmla="val 7018"/>
            </a:avLst>
          </a:prstGeom>
          <a:solidFill>
            <a:srgbClr val="EEF3FC"/>
          </a:solidFill>
          <a:ln w="12700">
            <a:solidFill>
              <a:srgbClr val="DCE5F6"/>
            </a:solidFill>
            <a:prstDash val="solid"/>
          </a:ln>
        </p:spPr>
      </p:sp>
      <p:sp>
        <p:nvSpPr>
          <p:cNvPr id="21" name="Shape 19"/>
          <p:cNvSpPr/>
          <p:nvPr/>
        </p:nvSpPr>
        <p:spPr>
          <a:xfrm>
            <a:off x="6163056" y="5138928"/>
            <a:ext cx="310896" cy="310896"/>
          </a:xfrm>
          <a:prstGeom prst="ellipse">
            <a:avLst/>
          </a:prstGeom>
          <a:solidFill>
            <a:srgbClr val="1E2761"/>
          </a:solidFill>
          <a:ln w="12700">
            <a:solidFill>
              <a:srgbClr val="1E2761"/>
            </a:solidFill>
            <a:prstDash val="solid"/>
          </a:ln>
        </p:spPr>
      </p:sp>
      <p:sp>
        <p:nvSpPr>
          <p:cNvPr id="22" name="Text 20"/>
          <p:cNvSpPr txBox="1"/>
          <p:nvPr/>
        </p:nvSpPr>
        <p:spPr>
          <a:xfrm>
            <a:off x="6163056" y="5138928"/>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3" name="Text 21"/>
          <p:cNvSpPr txBox="1"/>
          <p:nvPr/>
        </p:nvSpPr>
        <p:spPr>
          <a:xfrm>
            <a:off x="6601968" y="5102352"/>
            <a:ext cx="4846320" cy="256032"/>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Business rules</a:t>
            </a:r>
            <a:endParaRPr lang="en-US" sz="1300" dirty="0"/>
          </a:p>
        </p:txBody>
      </p:sp>
      <p:sp>
        <p:nvSpPr>
          <p:cNvPr id="24" name="Text 22"/>
          <p:cNvSpPr txBox="1"/>
          <p:nvPr/>
        </p:nvSpPr>
        <p:spPr>
          <a:xfrm>
            <a:off x="6601968" y="5376672"/>
            <a:ext cx="4828032" cy="548640"/>
          </a:xfrm>
          <a:prstGeom prst="rect">
            <a:avLst/>
          </a:prstGeom>
          <a:noFill/>
          <a:ln/>
        </p:spPr>
        <p:txBody>
          <a:bodyPr wrap="square" lIns="0" tIns="0" rIns="0" bIns="0" rtlCol="0" anchor="ctr"/>
          <a:lstStyle/>
          <a:p>
            <a:pPr indent="0" marL="0">
              <a:lnSpc>
                <a:spcPts val="1500"/>
              </a:lnSpc>
              <a:buNone/>
            </a:pPr>
            <a:r>
              <a:rPr lang="en-US" sz="1150" dirty="0">
                <a:solidFill>
                  <a:srgbClr val="343B4F"/>
                </a:solidFill>
                <a:latin typeface="Calibri" pitchFamily="34" charset="0"/>
                <a:ea typeface="Calibri" pitchFamily="34" charset="-122"/>
                <a:cs typeface="Calibri" pitchFamily="34" charset="-120"/>
              </a:rPr>
              <a:t>15 CSC leave types stored as configuration, not code — policy changes need no redeployment.</a:t>
            </a:r>
            <a:endParaRPr lang="en-US" sz="1150" dirty="0"/>
          </a:p>
        </p:txBody>
      </p:sp>
      <p:sp>
        <p:nvSpPr>
          <p:cNvPr id="25" name="Shape 23"/>
          <p:cNvSpPr/>
          <p:nvPr/>
        </p:nvSpPr>
        <p:spPr>
          <a:xfrm>
            <a:off x="566928" y="3017520"/>
            <a:ext cx="5074920" cy="1481328"/>
          </a:xfrm>
          <a:prstGeom prst="roundRect">
            <a:avLst>
              <a:gd name="adj" fmla="val 4938"/>
            </a:avLst>
          </a:prstGeom>
          <a:solidFill>
            <a:srgbClr val="1E2761"/>
          </a:solidFill>
          <a:ln w="12700">
            <a:solidFill>
              <a:srgbClr val="1E2761"/>
            </a:solidFill>
            <a:prstDash val="solid"/>
          </a:ln>
        </p:spPr>
      </p:sp>
      <p:sp>
        <p:nvSpPr>
          <p:cNvPr id="26" name="Text 24"/>
          <p:cNvSpPr txBox="1"/>
          <p:nvPr/>
        </p:nvSpPr>
        <p:spPr>
          <a:xfrm>
            <a:off x="804672" y="3200400"/>
            <a:ext cx="4572000" cy="237744"/>
          </a:xfrm>
          <a:prstGeom prst="rect">
            <a:avLst/>
          </a:prstGeom>
          <a:noFill/>
          <a:ln/>
        </p:spPr>
        <p:txBody>
          <a:bodyPr wrap="square" lIns="0" tIns="0" rIns="0" bIns="0" rtlCol="0" anchor="ctr"/>
          <a:lstStyle/>
          <a:p>
            <a:pPr indent="0" marL="0">
              <a:buNone/>
            </a:pPr>
            <a:r>
              <a:rPr lang="en-US" sz="1100" b="1" spc="150" kern="0" dirty="0">
                <a:solidFill>
                  <a:srgbClr val="CADCFC"/>
                </a:solidFill>
                <a:latin typeface="Calibri" pitchFamily="34" charset="0"/>
                <a:ea typeface="Calibri" pitchFamily="34" charset="-122"/>
                <a:cs typeface="Calibri" pitchFamily="34" charset="-120"/>
              </a:rPr>
              <a:t>APPROVAL SEQUENCE</a:t>
            </a:r>
            <a:endParaRPr lang="en-US" sz="1100" dirty="0"/>
          </a:p>
        </p:txBody>
      </p:sp>
      <p:sp>
        <p:nvSpPr>
          <p:cNvPr id="27" name="Shape 25"/>
          <p:cNvSpPr/>
          <p:nvPr/>
        </p:nvSpPr>
        <p:spPr>
          <a:xfrm>
            <a:off x="804672" y="3529584"/>
            <a:ext cx="1024128" cy="457200"/>
          </a:xfrm>
          <a:prstGeom prst="roundRect">
            <a:avLst>
              <a:gd name="adj" fmla="val 12000"/>
            </a:avLst>
          </a:prstGeom>
          <a:solidFill>
            <a:srgbClr val="2B3B7A"/>
          </a:solidFill>
          <a:ln w="12700">
            <a:solidFill>
              <a:srgbClr val="3D50A0"/>
            </a:solidFill>
            <a:prstDash val="solid"/>
          </a:ln>
        </p:spPr>
      </p:sp>
      <p:sp>
        <p:nvSpPr>
          <p:cNvPr id="28" name="Text 26"/>
          <p:cNvSpPr txBox="1"/>
          <p:nvPr/>
        </p:nvSpPr>
        <p:spPr>
          <a:xfrm>
            <a:off x="804672" y="3529584"/>
            <a:ext cx="1024128" cy="457200"/>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Employee</a:t>
            </a:r>
            <a:endParaRPr lang="en-US" sz="1050" dirty="0"/>
          </a:p>
        </p:txBody>
      </p:sp>
      <p:sp>
        <p:nvSpPr>
          <p:cNvPr id="29" name="Shape 27"/>
          <p:cNvSpPr/>
          <p:nvPr/>
        </p:nvSpPr>
        <p:spPr>
          <a:xfrm>
            <a:off x="1847088" y="3758184"/>
            <a:ext cx="137160" cy="0"/>
          </a:xfrm>
          <a:prstGeom prst="line">
            <a:avLst/>
          </a:prstGeom>
          <a:noFill/>
          <a:ln w="22225">
            <a:solidFill>
              <a:srgbClr val="CADCFC"/>
            </a:solidFill>
            <a:prstDash val="solid"/>
            <a:tailEnd type="triangle"/>
          </a:ln>
        </p:spPr>
      </p:sp>
      <p:sp>
        <p:nvSpPr>
          <p:cNvPr id="30" name="Shape 28"/>
          <p:cNvSpPr/>
          <p:nvPr/>
        </p:nvSpPr>
        <p:spPr>
          <a:xfrm>
            <a:off x="2002536" y="3529584"/>
            <a:ext cx="1024128" cy="457200"/>
          </a:xfrm>
          <a:prstGeom prst="roundRect">
            <a:avLst>
              <a:gd name="adj" fmla="val 12000"/>
            </a:avLst>
          </a:prstGeom>
          <a:solidFill>
            <a:srgbClr val="2B3B7A"/>
          </a:solidFill>
          <a:ln w="12700">
            <a:solidFill>
              <a:srgbClr val="3D50A0"/>
            </a:solidFill>
            <a:prstDash val="solid"/>
          </a:ln>
        </p:spPr>
      </p:sp>
      <p:sp>
        <p:nvSpPr>
          <p:cNvPr id="31" name="Text 29"/>
          <p:cNvSpPr txBox="1"/>
          <p:nvPr/>
        </p:nvSpPr>
        <p:spPr>
          <a:xfrm>
            <a:off x="2002536" y="3529584"/>
            <a:ext cx="1024128" cy="457200"/>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Dept. Head</a:t>
            </a:r>
            <a:endParaRPr lang="en-US" sz="1050" dirty="0"/>
          </a:p>
        </p:txBody>
      </p:sp>
      <p:sp>
        <p:nvSpPr>
          <p:cNvPr id="32" name="Shape 30"/>
          <p:cNvSpPr/>
          <p:nvPr/>
        </p:nvSpPr>
        <p:spPr>
          <a:xfrm>
            <a:off x="3044952" y="3758184"/>
            <a:ext cx="137160" cy="0"/>
          </a:xfrm>
          <a:prstGeom prst="line">
            <a:avLst/>
          </a:prstGeom>
          <a:noFill/>
          <a:ln w="22225">
            <a:solidFill>
              <a:srgbClr val="CADCFC"/>
            </a:solidFill>
            <a:prstDash val="solid"/>
            <a:tailEnd type="triangle"/>
          </a:ln>
        </p:spPr>
      </p:sp>
      <p:sp>
        <p:nvSpPr>
          <p:cNvPr id="33" name="Shape 31"/>
          <p:cNvSpPr/>
          <p:nvPr/>
        </p:nvSpPr>
        <p:spPr>
          <a:xfrm>
            <a:off x="3200400" y="3529584"/>
            <a:ext cx="1024128" cy="457200"/>
          </a:xfrm>
          <a:prstGeom prst="roundRect">
            <a:avLst>
              <a:gd name="adj" fmla="val 12000"/>
            </a:avLst>
          </a:prstGeom>
          <a:solidFill>
            <a:srgbClr val="2B3B7A"/>
          </a:solidFill>
          <a:ln w="12700">
            <a:solidFill>
              <a:srgbClr val="3D50A0"/>
            </a:solidFill>
            <a:prstDash val="solid"/>
          </a:ln>
        </p:spPr>
      </p:sp>
      <p:sp>
        <p:nvSpPr>
          <p:cNvPr id="34" name="Text 32"/>
          <p:cNvSpPr txBox="1"/>
          <p:nvPr/>
        </p:nvSpPr>
        <p:spPr>
          <a:xfrm>
            <a:off x="3200400" y="3529584"/>
            <a:ext cx="1024128" cy="457200"/>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HR</a:t>
            </a:r>
            <a:endParaRPr lang="en-US" sz="1050" dirty="0"/>
          </a:p>
        </p:txBody>
      </p:sp>
      <p:sp>
        <p:nvSpPr>
          <p:cNvPr id="35" name="Shape 33"/>
          <p:cNvSpPr/>
          <p:nvPr/>
        </p:nvSpPr>
        <p:spPr>
          <a:xfrm>
            <a:off x="4242816" y="3758184"/>
            <a:ext cx="137160" cy="0"/>
          </a:xfrm>
          <a:prstGeom prst="line">
            <a:avLst/>
          </a:prstGeom>
          <a:noFill/>
          <a:ln w="22225">
            <a:solidFill>
              <a:srgbClr val="CADCFC"/>
            </a:solidFill>
            <a:prstDash val="solid"/>
            <a:tailEnd type="triangle"/>
          </a:ln>
        </p:spPr>
      </p:sp>
      <p:sp>
        <p:nvSpPr>
          <p:cNvPr id="36" name="Shape 34"/>
          <p:cNvSpPr/>
          <p:nvPr/>
        </p:nvSpPr>
        <p:spPr>
          <a:xfrm>
            <a:off x="4398264" y="3529584"/>
            <a:ext cx="1024128" cy="457200"/>
          </a:xfrm>
          <a:prstGeom prst="roundRect">
            <a:avLst>
              <a:gd name="adj" fmla="val 12000"/>
            </a:avLst>
          </a:prstGeom>
          <a:solidFill>
            <a:srgbClr val="2B3B7A"/>
          </a:solidFill>
          <a:ln w="12700">
            <a:solidFill>
              <a:srgbClr val="3D50A0"/>
            </a:solidFill>
            <a:prstDash val="solid"/>
          </a:ln>
        </p:spPr>
      </p:sp>
      <p:sp>
        <p:nvSpPr>
          <p:cNvPr id="37" name="Text 35"/>
          <p:cNvSpPr txBox="1"/>
          <p:nvPr/>
        </p:nvSpPr>
        <p:spPr>
          <a:xfrm>
            <a:off x="4398264" y="3529584"/>
            <a:ext cx="1024128" cy="457200"/>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Mayor</a:t>
            </a:r>
            <a:endParaRPr lang="en-US" sz="1050" dirty="0"/>
          </a:p>
        </p:txBody>
      </p:sp>
      <p:sp>
        <p:nvSpPr>
          <p:cNvPr id="38" name="Text 36"/>
          <p:cNvSpPr txBox="1"/>
          <p:nvPr/>
        </p:nvSpPr>
        <p:spPr>
          <a:xfrm>
            <a:off x="804672" y="4078224"/>
            <a:ext cx="4617720" cy="274320"/>
          </a:xfrm>
          <a:prstGeom prst="rect">
            <a:avLst/>
          </a:prstGeom>
          <a:noFill/>
          <a:ln/>
        </p:spPr>
        <p:txBody>
          <a:bodyPr wrap="square" lIns="0" tIns="0" rIns="0" bIns="0" rtlCol="0" anchor="ctr"/>
          <a:lstStyle/>
          <a:p>
            <a:pPr indent="0" marL="0">
              <a:buNone/>
            </a:pPr>
            <a:r>
              <a:rPr lang="en-US" sz="1050" i="1" dirty="0">
                <a:solidFill>
                  <a:srgbClr val="CADCFC"/>
                </a:solidFill>
                <a:latin typeface="Calibri" pitchFamily="34" charset="0"/>
                <a:ea typeface="Calibri" pitchFamily="34" charset="-122"/>
                <a:cs typeface="Calibri" pitchFamily="34" charset="-120"/>
              </a:rPr>
              <a:t>Balances update only after the final decision is recorded.</a:t>
            </a:r>
            <a:endParaRPr lang="en-US" sz="1050" dirty="0"/>
          </a:p>
        </p:txBody>
      </p:sp>
      <p:sp>
        <p:nvSpPr>
          <p:cNvPr id="39" name="Shape 37"/>
          <p:cNvSpPr/>
          <p:nvPr/>
        </p:nvSpPr>
        <p:spPr>
          <a:xfrm>
            <a:off x="566928" y="4663440"/>
            <a:ext cx="5074920" cy="1417320"/>
          </a:xfrm>
          <a:prstGeom prst="roundRect">
            <a:avLst>
              <a:gd name="adj" fmla="val 5161"/>
            </a:avLst>
          </a:prstGeom>
          <a:solidFill>
            <a:srgbClr val="FBEDEA"/>
          </a:solidFill>
          <a:ln w="12700">
            <a:solidFill>
              <a:srgbClr val="F0D3CD"/>
            </a:solidFill>
            <a:prstDash val="solid"/>
          </a:ln>
        </p:spPr>
      </p:sp>
      <p:sp>
        <p:nvSpPr>
          <p:cNvPr id="40" name="Text 38"/>
          <p:cNvSpPr txBox="1"/>
          <p:nvPr/>
        </p:nvSpPr>
        <p:spPr>
          <a:xfrm>
            <a:off x="804672" y="4828032"/>
            <a:ext cx="4617720" cy="256032"/>
          </a:xfrm>
          <a:prstGeom prst="rect">
            <a:avLst/>
          </a:prstGeom>
          <a:noFill/>
          <a:ln/>
        </p:spPr>
        <p:txBody>
          <a:bodyPr wrap="square" lIns="0" tIns="0" rIns="0" bIns="0" rtlCol="0" anchor="ctr"/>
          <a:lstStyle/>
          <a:p>
            <a:pPr indent="0" marL="0">
              <a:buNone/>
            </a:pPr>
            <a:r>
              <a:rPr lang="en-US" sz="1300" b="1" dirty="0">
                <a:solidFill>
                  <a:srgbClr val="C43D2B"/>
                </a:solidFill>
                <a:latin typeface="Calibri" pitchFamily="34" charset="0"/>
                <a:ea typeface="Calibri" pitchFamily="34" charset="-122"/>
                <a:cs typeface="Calibri" pitchFamily="34" charset="-120"/>
              </a:rPr>
              <a:t>Why controls still matter inside the LAN</a:t>
            </a:r>
            <a:endParaRPr lang="en-US" sz="1300" dirty="0"/>
          </a:p>
        </p:txBody>
      </p:sp>
      <p:sp>
        <p:nvSpPr>
          <p:cNvPr id="41" name="Text 39"/>
          <p:cNvSpPr txBox="1"/>
          <p:nvPr/>
        </p:nvSpPr>
        <p:spPr>
          <a:xfrm>
            <a:off x="859536" y="5120640"/>
            <a:ext cx="4572000" cy="868680"/>
          </a:xfrm>
          <a:prstGeom prst="rect">
            <a:avLst/>
          </a:prstGeom>
          <a:noFill/>
          <a:ln/>
        </p:spPr>
        <p:txBody>
          <a:bodyPr wrap="square" lIns="0" tIns="0" rIns="0" bIns="0" rtlCol="0" anchor="ctr"/>
          <a:lstStyle/>
          <a:p>
            <a:pPr marL="342900" indent="-342900">
              <a:spcAft>
                <a:spcPts val="400"/>
              </a:spcAft>
              <a:buSzPct val="100000"/>
              <a:buChar char="•"/>
            </a:pPr>
            <a:r>
              <a:rPr lang="en-US" sz="1150" dirty="0">
                <a:solidFill>
                  <a:srgbClr val="343B4F"/>
                </a:solidFill>
                <a:latin typeface="Calibri" pitchFamily="34" charset="0"/>
                <a:ea typeface="Calibri" pitchFamily="34" charset="-122"/>
                <a:cs typeface="Calibri" pitchFamily="34" charset="-120"/>
              </a:rPr>
              <a:t>Unauthorized internal access and privilege misuse</a:t>
            </a:r>
            <a:endParaRPr lang="en-US" sz="1150" dirty="0"/>
          </a:p>
          <a:p>
            <a:pPr marL="342900" indent="-342900">
              <a:spcAft>
                <a:spcPts val="400"/>
              </a:spcAft>
              <a:buSzPct val="100000"/>
              <a:buChar char="•"/>
            </a:pPr>
            <a:r>
              <a:rPr lang="en-US" sz="1150" dirty="0">
                <a:solidFill>
                  <a:srgbClr val="343B4F"/>
                </a:solidFill>
                <a:latin typeface="Calibri" pitchFamily="34" charset="0"/>
                <a:ea typeface="Calibri" pitchFamily="34" charset="-122"/>
                <a:cs typeface="Calibri" pitchFamily="34" charset="-120"/>
              </a:rPr>
              <a:t>Improper edits to leave records by shared workstations</a:t>
            </a:r>
            <a:endParaRPr lang="en-US" sz="1150" dirty="0"/>
          </a:p>
          <a:p>
            <a:pPr marL="342900" indent="-342900">
              <a:spcAft>
                <a:spcPts val="400"/>
              </a:spcAft>
              <a:buSzPct val="100000"/>
              <a:buChar char="•"/>
            </a:pPr>
            <a:r>
              <a:rPr lang="en-US" sz="1150" dirty="0">
                <a:solidFill>
                  <a:srgbClr val="343B4F"/>
                </a:solidFill>
                <a:latin typeface="Calibri" pitchFamily="34" charset="0"/>
                <a:ea typeface="Calibri" pitchFamily="34" charset="-122"/>
                <a:cs typeface="Calibri" pitchFamily="34" charset="-120"/>
              </a:rPr>
              <a:t>Brute-force attempts from a trusted network segment</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66928" y="384048"/>
            <a:ext cx="8229600" cy="237744"/>
          </a:xfrm>
          <a:prstGeom prst="rect">
            <a:avLst/>
          </a:prstGeom>
          <a:noFill/>
          <a:ln/>
        </p:spPr>
        <p:txBody>
          <a:bodyPr wrap="square" lIns="0" tIns="0" rIns="0" bIns="0" rtlCol="0" anchor="ctr"/>
          <a:lstStyle/>
          <a:p>
            <a:pPr indent="0" marL="0">
              <a:buNone/>
            </a:pPr>
            <a:r>
              <a:rPr lang="en-US" sz="1100" b="1" spc="160" kern="0" dirty="0">
                <a:solidFill>
                  <a:srgbClr val="78819A"/>
                </a:solidFill>
                <a:latin typeface="Calibri" pitchFamily="34" charset="0"/>
                <a:ea typeface="Calibri" pitchFamily="34" charset="-122"/>
                <a:cs typeface="Calibri" pitchFamily="34" charset="-120"/>
              </a:rPr>
              <a:t>4.2  NETWORK ARCHITECTURE</a:t>
            </a:r>
            <a:endParaRPr lang="en-US" sz="1100" dirty="0"/>
          </a:p>
        </p:txBody>
      </p:sp>
      <p:sp>
        <p:nvSpPr>
          <p:cNvPr id="3" name="Text 1"/>
          <p:cNvSpPr txBox="1"/>
          <p:nvPr/>
        </p:nvSpPr>
        <p:spPr>
          <a:xfrm>
            <a:off x="548640" y="621792"/>
            <a:ext cx="11155680" cy="603504"/>
          </a:xfrm>
          <a:prstGeom prst="rect">
            <a:avLst/>
          </a:prstGeom>
          <a:noFill/>
          <a:ln/>
        </p:spPr>
        <p:txBody>
          <a:bodyPr wrap="square" lIns="0" tIns="0" rIns="0" bIns="0" rtlCol="0" anchor="t"/>
          <a:lstStyle/>
          <a:p>
            <a:pPr indent="0" marL="0">
              <a:buNone/>
            </a:pPr>
            <a:r>
              <a:rPr lang="en-US" sz="3200" b="1" dirty="0">
                <a:solidFill>
                  <a:srgbClr val="1E2761"/>
                </a:solidFill>
                <a:latin typeface="Cambria" pitchFamily="34" charset="0"/>
                <a:ea typeface="Cambria" pitchFamily="34" charset="-122"/>
                <a:cs typeface="Cambria" pitchFamily="34" charset="-120"/>
              </a:rPr>
              <a:t>Client–server topology inside the LGU LAN</a:t>
            </a:r>
            <a:endParaRPr lang="en-US" sz="3200" dirty="0"/>
          </a:p>
        </p:txBody>
      </p:sp>
      <p:sp>
        <p:nvSpPr>
          <p:cNvPr id="4" name="Shape 2"/>
          <p:cNvSpPr/>
          <p:nvPr/>
        </p:nvSpPr>
        <p:spPr>
          <a:xfrm>
            <a:off x="566928" y="1417320"/>
            <a:ext cx="2514600" cy="3657600"/>
          </a:xfrm>
          <a:prstGeom prst="roundRect">
            <a:avLst>
              <a:gd name="adj" fmla="val 2909"/>
            </a:avLst>
          </a:prstGeom>
          <a:solidFill>
            <a:srgbClr val="F6F8FD"/>
          </a:solidFill>
          <a:ln w="12700">
            <a:solidFill>
              <a:srgbClr val="DCE5F6"/>
            </a:solidFill>
            <a:prstDash val="solid"/>
          </a:ln>
        </p:spPr>
      </p:sp>
      <p:sp>
        <p:nvSpPr>
          <p:cNvPr id="5" name="Text 3"/>
          <p:cNvSpPr txBox="1"/>
          <p:nvPr/>
        </p:nvSpPr>
        <p:spPr>
          <a:xfrm>
            <a:off x="749808" y="1563624"/>
            <a:ext cx="2194560" cy="237744"/>
          </a:xfrm>
          <a:prstGeom prst="rect">
            <a:avLst/>
          </a:prstGeom>
          <a:noFill/>
          <a:ln/>
        </p:spPr>
        <p:txBody>
          <a:bodyPr wrap="square" lIns="0" tIns="0" rIns="0" bIns="0" rtlCol="0" anchor="ctr"/>
          <a:lstStyle/>
          <a:p>
            <a:pPr indent="0" marL="0">
              <a:buNone/>
            </a:pPr>
            <a:r>
              <a:rPr lang="en-US" sz="1050" b="1" spc="120" kern="0" dirty="0">
                <a:solidFill>
                  <a:srgbClr val="78819A"/>
                </a:solidFill>
                <a:latin typeface="Calibri" pitchFamily="34" charset="0"/>
                <a:ea typeface="Calibri" pitchFamily="34" charset="-122"/>
                <a:cs typeface="Calibri" pitchFamily="34" charset="-120"/>
              </a:rPr>
              <a:t>AUTHORIZED CLIENTS</a:t>
            </a:r>
            <a:endParaRPr lang="en-US" sz="1050" dirty="0"/>
          </a:p>
        </p:txBody>
      </p:sp>
      <p:sp>
        <p:nvSpPr>
          <p:cNvPr id="6" name="Shape 4"/>
          <p:cNvSpPr/>
          <p:nvPr/>
        </p:nvSpPr>
        <p:spPr>
          <a:xfrm>
            <a:off x="749808" y="1874520"/>
            <a:ext cx="2148840" cy="420624"/>
          </a:xfrm>
          <a:prstGeom prst="roundRect">
            <a:avLst>
              <a:gd name="adj" fmla="val 13043"/>
            </a:avLst>
          </a:prstGeom>
          <a:solidFill>
            <a:srgbClr val="FFFFFF"/>
          </a:solidFill>
          <a:ln w="12700">
            <a:solidFill>
              <a:srgbClr val="C9D6EE"/>
            </a:solidFill>
            <a:prstDash val="solid"/>
          </a:ln>
        </p:spPr>
      </p:sp>
      <p:sp>
        <p:nvSpPr>
          <p:cNvPr id="7" name="Text 5"/>
          <p:cNvSpPr txBox="1"/>
          <p:nvPr/>
        </p:nvSpPr>
        <p:spPr>
          <a:xfrm>
            <a:off x="877824" y="1874520"/>
            <a:ext cx="1920240" cy="420624"/>
          </a:xfrm>
          <a:prstGeom prst="rect">
            <a:avLst/>
          </a:prstGeom>
          <a:noFill/>
          <a:ln/>
        </p:spPr>
        <p:txBody>
          <a:bodyPr wrap="square" lIns="0" tIns="0" rIns="0" bIns="0" rtlCol="0" anchor="ctr"/>
          <a:lstStyle/>
          <a:p>
            <a:pPr indent="0" marL="0">
              <a:buNone/>
            </a:pPr>
            <a:r>
              <a:rPr lang="en-US" sz="1050" dirty="0">
                <a:solidFill>
                  <a:srgbClr val="343B4F"/>
                </a:solidFill>
                <a:latin typeface="Calibri" pitchFamily="34" charset="0"/>
                <a:ea typeface="Calibri" pitchFamily="34" charset="-122"/>
                <a:cs typeface="Calibri" pitchFamily="34" charset="-120"/>
              </a:rPr>
              <a:t>Employee workstations</a:t>
            </a:r>
            <a:endParaRPr lang="en-US" sz="1050" dirty="0"/>
          </a:p>
        </p:txBody>
      </p:sp>
      <p:sp>
        <p:nvSpPr>
          <p:cNvPr id="8" name="Shape 6"/>
          <p:cNvSpPr/>
          <p:nvPr/>
        </p:nvSpPr>
        <p:spPr>
          <a:xfrm>
            <a:off x="749808" y="2386584"/>
            <a:ext cx="2148840" cy="420624"/>
          </a:xfrm>
          <a:prstGeom prst="roundRect">
            <a:avLst>
              <a:gd name="adj" fmla="val 13043"/>
            </a:avLst>
          </a:prstGeom>
          <a:solidFill>
            <a:srgbClr val="FFFFFF"/>
          </a:solidFill>
          <a:ln w="12700">
            <a:solidFill>
              <a:srgbClr val="C9D6EE"/>
            </a:solidFill>
            <a:prstDash val="solid"/>
          </a:ln>
        </p:spPr>
      </p:sp>
      <p:sp>
        <p:nvSpPr>
          <p:cNvPr id="9" name="Text 7"/>
          <p:cNvSpPr txBox="1"/>
          <p:nvPr/>
        </p:nvSpPr>
        <p:spPr>
          <a:xfrm>
            <a:off x="877824" y="2386584"/>
            <a:ext cx="1920240" cy="420624"/>
          </a:xfrm>
          <a:prstGeom prst="rect">
            <a:avLst/>
          </a:prstGeom>
          <a:noFill/>
          <a:ln/>
        </p:spPr>
        <p:txBody>
          <a:bodyPr wrap="square" lIns="0" tIns="0" rIns="0" bIns="0" rtlCol="0" anchor="ctr"/>
          <a:lstStyle/>
          <a:p>
            <a:pPr indent="0" marL="0">
              <a:buNone/>
            </a:pPr>
            <a:r>
              <a:rPr lang="en-US" sz="1050" dirty="0">
                <a:solidFill>
                  <a:srgbClr val="343B4F"/>
                </a:solidFill>
                <a:latin typeface="Calibri" pitchFamily="34" charset="0"/>
                <a:ea typeface="Calibri" pitchFamily="34" charset="-122"/>
                <a:cs typeface="Calibri" pitchFamily="34" charset="-120"/>
              </a:rPr>
              <a:t>Department Head PCs</a:t>
            </a:r>
            <a:endParaRPr lang="en-US" sz="1050" dirty="0"/>
          </a:p>
        </p:txBody>
      </p:sp>
      <p:sp>
        <p:nvSpPr>
          <p:cNvPr id="10" name="Shape 8"/>
          <p:cNvSpPr/>
          <p:nvPr/>
        </p:nvSpPr>
        <p:spPr>
          <a:xfrm>
            <a:off x="749808" y="2898648"/>
            <a:ext cx="2148840" cy="420624"/>
          </a:xfrm>
          <a:prstGeom prst="roundRect">
            <a:avLst>
              <a:gd name="adj" fmla="val 13043"/>
            </a:avLst>
          </a:prstGeom>
          <a:solidFill>
            <a:srgbClr val="FFFFFF"/>
          </a:solidFill>
          <a:ln w="12700">
            <a:solidFill>
              <a:srgbClr val="C9D6EE"/>
            </a:solidFill>
            <a:prstDash val="solid"/>
          </a:ln>
        </p:spPr>
      </p:sp>
      <p:sp>
        <p:nvSpPr>
          <p:cNvPr id="11" name="Text 9"/>
          <p:cNvSpPr txBox="1"/>
          <p:nvPr/>
        </p:nvSpPr>
        <p:spPr>
          <a:xfrm>
            <a:off x="877824" y="2898648"/>
            <a:ext cx="1920240" cy="420624"/>
          </a:xfrm>
          <a:prstGeom prst="rect">
            <a:avLst/>
          </a:prstGeom>
          <a:noFill/>
          <a:ln/>
        </p:spPr>
        <p:txBody>
          <a:bodyPr wrap="square" lIns="0" tIns="0" rIns="0" bIns="0" rtlCol="0" anchor="ctr"/>
          <a:lstStyle/>
          <a:p>
            <a:pPr indent="0" marL="0">
              <a:buNone/>
            </a:pPr>
            <a:r>
              <a:rPr lang="en-US" sz="1050" dirty="0">
                <a:solidFill>
                  <a:srgbClr val="343B4F"/>
                </a:solidFill>
                <a:latin typeface="Calibri" pitchFamily="34" charset="0"/>
                <a:ea typeface="Calibri" pitchFamily="34" charset="-122"/>
                <a:cs typeface="Calibri" pitchFamily="34" charset="-120"/>
              </a:rPr>
              <a:t>HR Management PCs</a:t>
            </a:r>
            <a:endParaRPr lang="en-US" sz="1050" dirty="0"/>
          </a:p>
        </p:txBody>
      </p:sp>
      <p:sp>
        <p:nvSpPr>
          <p:cNvPr id="12" name="Shape 10"/>
          <p:cNvSpPr/>
          <p:nvPr/>
        </p:nvSpPr>
        <p:spPr>
          <a:xfrm>
            <a:off x="749808" y="3410712"/>
            <a:ext cx="2148840" cy="420624"/>
          </a:xfrm>
          <a:prstGeom prst="roundRect">
            <a:avLst>
              <a:gd name="adj" fmla="val 13043"/>
            </a:avLst>
          </a:prstGeom>
          <a:solidFill>
            <a:srgbClr val="FFFFFF"/>
          </a:solidFill>
          <a:ln w="12700">
            <a:solidFill>
              <a:srgbClr val="C9D6EE"/>
            </a:solidFill>
            <a:prstDash val="solid"/>
          </a:ln>
        </p:spPr>
      </p:sp>
      <p:sp>
        <p:nvSpPr>
          <p:cNvPr id="13" name="Text 11"/>
          <p:cNvSpPr txBox="1"/>
          <p:nvPr/>
        </p:nvSpPr>
        <p:spPr>
          <a:xfrm>
            <a:off x="877824" y="3410712"/>
            <a:ext cx="1920240" cy="420624"/>
          </a:xfrm>
          <a:prstGeom prst="rect">
            <a:avLst/>
          </a:prstGeom>
          <a:noFill/>
          <a:ln/>
        </p:spPr>
        <p:txBody>
          <a:bodyPr wrap="square" lIns="0" tIns="0" rIns="0" bIns="0" rtlCol="0" anchor="ctr"/>
          <a:lstStyle/>
          <a:p>
            <a:pPr indent="0" marL="0">
              <a:buNone/>
            </a:pPr>
            <a:r>
              <a:rPr lang="en-US" sz="1050" dirty="0">
                <a:solidFill>
                  <a:srgbClr val="343B4F"/>
                </a:solidFill>
                <a:latin typeface="Calibri" pitchFamily="34" charset="0"/>
                <a:ea typeface="Calibri" pitchFamily="34" charset="-122"/>
                <a:cs typeface="Calibri" pitchFamily="34" charset="-120"/>
              </a:rPr>
              <a:t>Office of the Mayor</a:t>
            </a:r>
            <a:endParaRPr lang="en-US" sz="1050" dirty="0"/>
          </a:p>
        </p:txBody>
      </p:sp>
      <p:sp>
        <p:nvSpPr>
          <p:cNvPr id="14" name="Shape 12"/>
          <p:cNvSpPr/>
          <p:nvPr/>
        </p:nvSpPr>
        <p:spPr>
          <a:xfrm>
            <a:off x="749808" y="3922776"/>
            <a:ext cx="2148840" cy="420624"/>
          </a:xfrm>
          <a:prstGeom prst="roundRect">
            <a:avLst>
              <a:gd name="adj" fmla="val 13043"/>
            </a:avLst>
          </a:prstGeom>
          <a:solidFill>
            <a:srgbClr val="FFFFFF"/>
          </a:solidFill>
          <a:ln w="12700">
            <a:solidFill>
              <a:srgbClr val="C9D6EE"/>
            </a:solidFill>
            <a:prstDash val="solid"/>
          </a:ln>
        </p:spPr>
      </p:sp>
      <p:sp>
        <p:nvSpPr>
          <p:cNvPr id="15" name="Text 13"/>
          <p:cNvSpPr txBox="1"/>
          <p:nvPr/>
        </p:nvSpPr>
        <p:spPr>
          <a:xfrm>
            <a:off x="877824" y="3922776"/>
            <a:ext cx="1920240" cy="420624"/>
          </a:xfrm>
          <a:prstGeom prst="rect">
            <a:avLst/>
          </a:prstGeom>
          <a:noFill/>
          <a:ln/>
        </p:spPr>
        <p:txBody>
          <a:bodyPr wrap="square" lIns="0" tIns="0" rIns="0" bIns="0" rtlCol="0" anchor="ctr"/>
          <a:lstStyle/>
          <a:p>
            <a:pPr indent="0" marL="0">
              <a:buNone/>
            </a:pPr>
            <a:r>
              <a:rPr lang="en-US" sz="1050" dirty="0">
                <a:solidFill>
                  <a:srgbClr val="343B4F"/>
                </a:solidFill>
                <a:latin typeface="Calibri" pitchFamily="34" charset="0"/>
                <a:ea typeface="Calibri" pitchFamily="34" charset="-122"/>
                <a:cs typeface="Calibri" pitchFamily="34" charset="-120"/>
              </a:rPr>
              <a:t>System Admin console</a:t>
            </a:r>
            <a:endParaRPr lang="en-US" sz="1050" dirty="0"/>
          </a:p>
        </p:txBody>
      </p:sp>
      <p:sp>
        <p:nvSpPr>
          <p:cNvPr id="16" name="Shape 14"/>
          <p:cNvSpPr/>
          <p:nvPr/>
        </p:nvSpPr>
        <p:spPr>
          <a:xfrm>
            <a:off x="749808" y="4434840"/>
            <a:ext cx="2148840" cy="420624"/>
          </a:xfrm>
          <a:prstGeom prst="roundRect">
            <a:avLst>
              <a:gd name="adj" fmla="val 13043"/>
            </a:avLst>
          </a:prstGeom>
          <a:solidFill>
            <a:srgbClr val="FFFFFF"/>
          </a:solidFill>
          <a:ln w="12700">
            <a:solidFill>
              <a:srgbClr val="C9D6EE"/>
            </a:solidFill>
            <a:prstDash val="solid"/>
          </a:ln>
        </p:spPr>
      </p:sp>
      <p:sp>
        <p:nvSpPr>
          <p:cNvPr id="17" name="Text 15"/>
          <p:cNvSpPr txBox="1"/>
          <p:nvPr/>
        </p:nvSpPr>
        <p:spPr>
          <a:xfrm>
            <a:off x="877824" y="4434840"/>
            <a:ext cx="1920240" cy="420624"/>
          </a:xfrm>
          <a:prstGeom prst="rect">
            <a:avLst/>
          </a:prstGeom>
          <a:noFill/>
          <a:ln/>
        </p:spPr>
        <p:txBody>
          <a:bodyPr wrap="square" lIns="0" tIns="0" rIns="0" bIns="0" rtlCol="0" anchor="ctr"/>
          <a:lstStyle/>
          <a:p>
            <a:pPr indent="0" marL="0">
              <a:buNone/>
            </a:pPr>
            <a:r>
              <a:rPr lang="en-US" sz="1050" dirty="0">
                <a:solidFill>
                  <a:srgbClr val="343B4F"/>
                </a:solidFill>
                <a:latin typeface="Calibri" pitchFamily="34" charset="0"/>
                <a:ea typeface="Calibri" pitchFamily="34" charset="-122"/>
                <a:cs typeface="Calibri" pitchFamily="34" charset="-120"/>
              </a:rPr>
              <a:t>Mobile devices (Wi-Fi)</a:t>
            </a:r>
            <a:endParaRPr lang="en-US" sz="1050" dirty="0"/>
          </a:p>
        </p:txBody>
      </p:sp>
      <p:sp>
        <p:nvSpPr>
          <p:cNvPr id="18" name="Shape 16"/>
          <p:cNvSpPr/>
          <p:nvPr/>
        </p:nvSpPr>
        <p:spPr>
          <a:xfrm>
            <a:off x="3675888" y="2441448"/>
            <a:ext cx="1600200" cy="1600200"/>
          </a:xfrm>
          <a:prstGeom prst="roundRect">
            <a:avLst>
              <a:gd name="adj" fmla="val 4571"/>
            </a:avLst>
          </a:prstGeom>
          <a:solidFill>
            <a:srgbClr val="1E2761"/>
          </a:solidFill>
          <a:ln w="12700">
            <a:solidFill>
              <a:srgbClr val="1E2761"/>
            </a:solidFill>
            <a:prstDash val="solid"/>
          </a:ln>
          <a:effectLst>
            <a:outerShdw sx="100000" sy="100000" kx="0" ky="0" algn="bl" rotWithShape="0" blurRad="101600" dist="12700" dir="5400000">
              <a:srgbClr val="8892AA">
                <a:alpha val="10000"/>
              </a:srgbClr>
            </a:outerShdw>
          </a:effectLst>
        </p:spPr>
      </p:sp>
      <p:sp>
        <p:nvSpPr>
          <p:cNvPr id="19" name="Text 17"/>
          <p:cNvSpPr txBox="1"/>
          <p:nvPr/>
        </p:nvSpPr>
        <p:spPr>
          <a:xfrm>
            <a:off x="3675888" y="2624328"/>
            <a:ext cx="1600200" cy="640080"/>
          </a:xfrm>
          <a:prstGeom prst="rect">
            <a:avLst/>
          </a:prstGeom>
          <a:noFill/>
          <a:ln/>
        </p:spPr>
        <p:txBody>
          <a:bodyPr wrap="square" lIns="0" tIns="0" rIns="0" bIns="0" rtlCol="0" anchor="ctr"/>
          <a:lstStyle/>
          <a:p>
            <a:pPr algn="ctr" indent="0" marL="0">
              <a:lnSpc>
                <a:spcPts val="1800"/>
              </a:lnSpc>
              <a:buNone/>
            </a:pPr>
            <a:r>
              <a:rPr lang="en-US" sz="1400" b="1" dirty="0">
                <a:solidFill>
                  <a:srgbClr val="FFFFFF"/>
                </a:solidFill>
                <a:latin typeface="Calibri" pitchFamily="34" charset="0"/>
                <a:ea typeface="Calibri" pitchFamily="34" charset="-122"/>
                <a:cs typeface="Calibri" pitchFamily="34" charset="-120"/>
              </a:rPr>
              <a:t>Managed</a:t>
            </a:r>
            <a:endParaRPr lang="en-US" sz="1400" dirty="0"/>
          </a:p>
          <a:p>
            <a:pPr algn="ctr" indent="0" marL="0">
              <a:lnSpc>
                <a:spcPts val="1800"/>
              </a:lnSpc>
              <a:buNone/>
            </a:pPr>
            <a:r>
              <a:rPr lang="en-US" sz="1400" b="1" dirty="0">
                <a:solidFill>
                  <a:srgbClr val="FFFFFF"/>
                </a:solidFill>
                <a:latin typeface="Calibri" pitchFamily="34" charset="0"/>
                <a:ea typeface="Calibri" pitchFamily="34" charset="-122"/>
                <a:cs typeface="Calibri" pitchFamily="34" charset="-120"/>
              </a:rPr>
              <a:t>Switch</a:t>
            </a:r>
            <a:endParaRPr lang="en-US" sz="1400" dirty="0"/>
          </a:p>
        </p:txBody>
      </p:sp>
      <p:sp>
        <p:nvSpPr>
          <p:cNvPr id="20" name="Text 18"/>
          <p:cNvSpPr txBox="1"/>
          <p:nvPr/>
        </p:nvSpPr>
        <p:spPr>
          <a:xfrm>
            <a:off x="3675888" y="3236976"/>
            <a:ext cx="1600200" cy="685800"/>
          </a:xfrm>
          <a:prstGeom prst="rect">
            <a:avLst/>
          </a:prstGeom>
          <a:noFill/>
          <a:ln/>
        </p:spPr>
        <p:txBody>
          <a:bodyPr wrap="square" lIns="0" tIns="0" rIns="0" bIns="0" rtlCol="0" anchor="ctr"/>
          <a:lstStyle/>
          <a:p>
            <a:pPr algn="ctr" indent="0" marL="0">
              <a:lnSpc>
                <a:spcPts val="1300"/>
              </a:lnSpc>
              <a:buNone/>
            </a:pPr>
            <a:r>
              <a:rPr lang="en-US" sz="1000" dirty="0">
                <a:solidFill>
                  <a:srgbClr val="CADCFC"/>
                </a:solidFill>
                <a:latin typeface="Calibri" pitchFamily="34" charset="0"/>
                <a:ea typeface="Calibri" pitchFamily="34" charset="-122"/>
                <a:cs typeface="Calibri" pitchFamily="34" charset="-120"/>
              </a:rPr>
              <a:t>Wired LAN</a:t>
            </a:r>
            <a:endParaRPr lang="en-US" sz="1000" dirty="0"/>
          </a:p>
          <a:p>
            <a:pPr algn="ctr" indent="0" marL="0">
              <a:lnSpc>
                <a:spcPts val="1300"/>
              </a:lnSpc>
              <a:buNone/>
            </a:pPr>
            <a:r>
              <a:rPr lang="en-US" sz="1000" dirty="0">
                <a:solidFill>
                  <a:srgbClr val="CADCFC"/>
                </a:solidFill>
                <a:latin typeface="Calibri" pitchFamily="34" charset="0"/>
                <a:ea typeface="Calibri" pitchFamily="34" charset="-122"/>
                <a:cs typeface="Calibri" pitchFamily="34" charset="-120"/>
              </a:rPr>
              <a:t>distribution</a:t>
            </a:r>
            <a:endParaRPr lang="en-US" sz="1000" dirty="0"/>
          </a:p>
          <a:p>
            <a:pPr algn="ctr" indent="0" marL="0">
              <a:lnSpc>
                <a:spcPts val="1300"/>
              </a:lnSpc>
              <a:buNone/>
            </a:pPr>
            <a:r>
              <a:rPr lang="en-US" sz="1000" dirty="0">
                <a:solidFill>
                  <a:srgbClr val="CADCFC"/>
                </a:solidFill>
                <a:latin typeface="Calibri" pitchFamily="34" charset="0"/>
                <a:ea typeface="Calibri" pitchFamily="34" charset="-122"/>
                <a:cs typeface="Calibri" pitchFamily="34" charset="-120"/>
              </a:rPr>
              <a:t>+ Wireless AP</a:t>
            </a:r>
            <a:endParaRPr lang="en-US" sz="1000" dirty="0"/>
          </a:p>
        </p:txBody>
      </p:sp>
      <p:sp>
        <p:nvSpPr>
          <p:cNvPr id="21" name="Shape 19"/>
          <p:cNvSpPr/>
          <p:nvPr/>
        </p:nvSpPr>
        <p:spPr>
          <a:xfrm>
            <a:off x="3127248" y="3246120"/>
            <a:ext cx="502920" cy="0"/>
          </a:xfrm>
          <a:prstGeom prst="line">
            <a:avLst/>
          </a:prstGeom>
          <a:noFill/>
          <a:ln w="22225">
            <a:solidFill>
              <a:srgbClr val="1E2761"/>
            </a:solidFill>
            <a:prstDash val="solid"/>
            <a:tailEnd type="triangle"/>
          </a:ln>
        </p:spPr>
      </p:sp>
      <p:sp>
        <p:nvSpPr>
          <p:cNvPr id="22" name="Shape 20"/>
          <p:cNvSpPr/>
          <p:nvPr/>
        </p:nvSpPr>
        <p:spPr>
          <a:xfrm>
            <a:off x="5870448" y="2441448"/>
            <a:ext cx="1600200" cy="1600200"/>
          </a:xfrm>
          <a:prstGeom prst="roundRect">
            <a:avLst>
              <a:gd name="adj" fmla="val 4571"/>
            </a:avLst>
          </a:prstGeom>
          <a:solidFill>
            <a:srgbClr val="CADCFC"/>
          </a:solidFill>
          <a:ln w="12700">
            <a:solidFill>
              <a:srgbClr val="A9C2EC"/>
            </a:solidFill>
            <a:prstDash val="solid"/>
          </a:ln>
          <a:effectLst>
            <a:outerShdw sx="100000" sy="100000" kx="0" ky="0" algn="bl" rotWithShape="0" blurRad="101600" dist="12700" dir="5400000">
              <a:srgbClr val="8892AA">
                <a:alpha val="10000"/>
              </a:srgbClr>
            </a:outerShdw>
          </a:effectLst>
        </p:spPr>
      </p:sp>
      <p:sp>
        <p:nvSpPr>
          <p:cNvPr id="23" name="Text 21"/>
          <p:cNvSpPr txBox="1"/>
          <p:nvPr/>
        </p:nvSpPr>
        <p:spPr>
          <a:xfrm>
            <a:off x="5870448" y="2624328"/>
            <a:ext cx="1600200" cy="640080"/>
          </a:xfrm>
          <a:prstGeom prst="rect">
            <a:avLst/>
          </a:prstGeom>
          <a:noFill/>
          <a:ln/>
        </p:spPr>
        <p:txBody>
          <a:bodyPr wrap="square" lIns="0" tIns="0" rIns="0" bIns="0" rtlCol="0" anchor="ctr"/>
          <a:lstStyle/>
          <a:p>
            <a:pPr algn="ctr" indent="0" marL="0">
              <a:lnSpc>
                <a:spcPts val="1800"/>
              </a:lnSpc>
              <a:buNone/>
            </a:pPr>
            <a:r>
              <a:rPr lang="en-US" sz="1400" b="1" dirty="0">
                <a:solidFill>
                  <a:srgbClr val="1E2761"/>
                </a:solidFill>
                <a:latin typeface="Calibri" pitchFamily="34" charset="0"/>
                <a:ea typeface="Calibri" pitchFamily="34" charset="-122"/>
                <a:cs typeface="Calibri" pitchFamily="34" charset="-120"/>
              </a:rPr>
              <a:t>Router /</a:t>
            </a:r>
            <a:endParaRPr lang="en-US" sz="1400" dirty="0"/>
          </a:p>
          <a:p>
            <a:pPr algn="ctr" indent="0" marL="0">
              <a:lnSpc>
                <a:spcPts val="1800"/>
              </a:lnSpc>
              <a:buNone/>
            </a:pPr>
            <a:r>
              <a:rPr lang="en-US" sz="1400" b="1" dirty="0">
                <a:solidFill>
                  <a:srgbClr val="1E2761"/>
                </a:solidFill>
                <a:latin typeface="Calibri" pitchFamily="34" charset="0"/>
                <a:ea typeface="Calibri" pitchFamily="34" charset="-122"/>
                <a:cs typeface="Calibri" pitchFamily="34" charset="-120"/>
              </a:rPr>
              <a:t>Firewall</a:t>
            </a:r>
            <a:endParaRPr lang="en-US" sz="1400" dirty="0"/>
          </a:p>
        </p:txBody>
      </p:sp>
      <p:sp>
        <p:nvSpPr>
          <p:cNvPr id="24" name="Text 22"/>
          <p:cNvSpPr txBox="1"/>
          <p:nvPr/>
        </p:nvSpPr>
        <p:spPr>
          <a:xfrm>
            <a:off x="5870448" y="3264408"/>
            <a:ext cx="1600200" cy="548640"/>
          </a:xfrm>
          <a:prstGeom prst="rect">
            <a:avLst/>
          </a:prstGeom>
          <a:noFill/>
          <a:ln/>
        </p:spPr>
        <p:txBody>
          <a:bodyPr wrap="square" lIns="0" tIns="0" rIns="0" bIns="0" rtlCol="0" anchor="ctr"/>
          <a:lstStyle/>
          <a:p>
            <a:pPr algn="ctr" indent="0" marL="0">
              <a:lnSpc>
                <a:spcPts val="1300"/>
              </a:lnSpc>
              <a:buNone/>
            </a:pPr>
            <a:r>
              <a:rPr lang="en-US" sz="1000" dirty="0">
                <a:solidFill>
                  <a:srgbClr val="3A4670"/>
                </a:solidFill>
                <a:latin typeface="Calibri" pitchFamily="34" charset="0"/>
                <a:ea typeface="Calibri" pitchFamily="34" charset="-122"/>
                <a:cs typeface="Calibri" pitchFamily="34" charset="-120"/>
              </a:rPr>
              <a:t>Network boundary</a:t>
            </a:r>
            <a:endParaRPr lang="en-US" sz="1000" dirty="0"/>
          </a:p>
          <a:p>
            <a:pPr algn="ctr" indent="0" marL="0">
              <a:lnSpc>
                <a:spcPts val="1300"/>
              </a:lnSpc>
              <a:buNone/>
            </a:pPr>
            <a:r>
              <a:rPr lang="en-US" sz="1000" dirty="0">
                <a:solidFill>
                  <a:srgbClr val="3A4670"/>
                </a:solidFill>
                <a:latin typeface="Calibri" pitchFamily="34" charset="0"/>
                <a:ea typeface="Calibri" pitchFamily="34" charset="-122"/>
                <a:cs typeface="Calibri" pitchFamily="34" charset="-120"/>
              </a:rPr>
              <a:t>&amp; access policy</a:t>
            </a:r>
            <a:endParaRPr lang="en-US" sz="1000" dirty="0"/>
          </a:p>
        </p:txBody>
      </p:sp>
      <p:sp>
        <p:nvSpPr>
          <p:cNvPr id="25" name="Shape 23"/>
          <p:cNvSpPr/>
          <p:nvPr/>
        </p:nvSpPr>
        <p:spPr>
          <a:xfrm>
            <a:off x="5321808" y="3246120"/>
            <a:ext cx="502920" cy="0"/>
          </a:xfrm>
          <a:prstGeom prst="line">
            <a:avLst/>
          </a:prstGeom>
          <a:noFill/>
          <a:ln w="22225">
            <a:solidFill>
              <a:srgbClr val="1E2761"/>
            </a:solidFill>
            <a:prstDash val="solid"/>
            <a:tailEnd type="triangle"/>
          </a:ln>
        </p:spPr>
      </p:sp>
      <p:sp>
        <p:nvSpPr>
          <p:cNvPr id="26" name="Shape 24"/>
          <p:cNvSpPr/>
          <p:nvPr/>
        </p:nvSpPr>
        <p:spPr>
          <a:xfrm>
            <a:off x="5870448" y="1417320"/>
            <a:ext cx="1600200" cy="640080"/>
          </a:xfrm>
          <a:prstGeom prst="roundRect">
            <a:avLst>
              <a:gd name="adj" fmla="val 14286"/>
            </a:avLst>
          </a:prstGeom>
          <a:solidFill>
            <a:srgbClr val="FBEDEA"/>
          </a:solidFill>
          <a:ln w="15875">
            <a:solidFill>
              <a:srgbClr val="C43D2B"/>
            </a:solidFill>
            <a:prstDash val="dash"/>
          </a:ln>
        </p:spPr>
      </p:sp>
      <p:sp>
        <p:nvSpPr>
          <p:cNvPr id="27" name="Text 25"/>
          <p:cNvSpPr txBox="1"/>
          <p:nvPr/>
        </p:nvSpPr>
        <p:spPr>
          <a:xfrm>
            <a:off x="5870448" y="1417320"/>
            <a:ext cx="1600200" cy="640080"/>
          </a:xfrm>
          <a:prstGeom prst="rect">
            <a:avLst/>
          </a:prstGeom>
          <a:noFill/>
          <a:ln/>
        </p:spPr>
        <p:txBody>
          <a:bodyPr wrap="square" lIns="0" tIns="0" rIns="0" bIns="0" rtlCol="0" anchor="ctr"/>
          <a:lstStyle/>
          <a:p>
            <a:pPr algn="ctr" indent="0" marL="0">
              <a:buNone/>
            </a:pPr>
            <a:r>
              <a:rPr lang="en-US" sz="1200" b="1" dirty="0">
                <a:solidFill>
                  <a:srgbClr val="C43D2B"/>
                </a:solidFill>
                <a:latin typeface="Calibri" pitchFamily="34" charset="0"/>
                <a:ea typeface="Calibri" pitchFamily="34" charset="-122"/>
                <a:cs typeface="Calibri" pitchFamily="34" charset="-120"/>
              </a:rPr>
              <a:t>Internet</a:t>
            </a:r>
            <a:endParaRPr lang="en-US" sz="1200" dirty="0"/>
          </a:p>
        </p:txBody>
      </p:sp>
      <p:sp>
        <p:nvSpPr>
          <p:cNvPr id="28" name="Shape 26"/>
          <p:cNvSpPr/>
          <p:nvPr/>
        </p:nvSpPr>
        <p:spPr>
          <a:xfrm>
            <a:off x="6675120" y="2075688"/>
            <a:ext cx="0" cy="347472"/>
          </a:xfrm>
          <a:prstGeom prst="line">
            <a:avLst/>
          </a:prstGeom>
          <a:noFill/>
          <a:ln w="19050">
            <a:solidFill>
              <a:srgbClr val="C43D2B"/>
            </a:solidFill>
            <a:prstDash val="dash"/>
          </a:ln>
        </p:spPr>
      </p:sp>
      <p:sp>
        <p:nvSpPr>
          <p:cNvPr id="29" name="Text 27"/>
          <p:cNvSpPr txBox="1"/>
          <p:nvPr/>
        </p:nvSpPr>
        <p:spPr>
          <a:xfrm>
            <a:off x="6784848" y="2148840"/>
            <a:ext cx="1463040" cy="256032"/>
          </a:xfrm>
          <a:prstGeom prst="rect">
            <a:avLst/>
          </a:prstGeom>
          <a:noFill/>
          <a:ln/>
        </p:spPr>
        <p:txBody>
          <a:bodyPr wrap="square" lIns="0" tIns="0" rIns="0" bIns="0" rtlCol="0" anchor="ctr"/>
          <a:lstStyle/>
          <a:p>
            <a:pPr indent="0" marL="0">
              <a:buNone/>
            </a:pPr>
            <a:r>
              <a:rPr lang="en-US" sz="950" i="1" dirty="0">
                <a:solidFill>
                  <a:srgbClr val="C43D2B"/>
                </a:solidFill>
                <a:latin typeface="Calibri" pitchFamily="34" charset="0"/>
                <a:ea typeface="Calibri" pitchFamily="34" charset="-122"/>
                <a:cs typeface="Calibri" pitchFamily="34" charset="-120"/>
              </a:rPr>
              <a:t>no public exposure</a:t>
            </a:r>
            <a:endParaRPr lang="en-US" sz="950" dirty="0"/>
          </a:p>
        </p:txBody>
      </p:sp>
      <p:sp>
        <p:nvSpPr>
          <p:cNvPr id="30" name="Shape 28"/>
          <p:cNvSpPr/>
          <p:nvPr/>
        </p:nvSpPr>
        <p:spPr>
          <a:xfrm>
            <a:off x="8065008" y="1417320"/>
            <a:ext cx="3566160" cy="3657600"/>
          </a:xfrm>
          <a:prstGeom prst="roundRect">
            <a:avLst>
              <a:gd name="adj" fmla="val 2051"/>
            </a:avLst>
          </a:prstGeom>
          <a:solidFill>
            <a:srgbClr val="1E2761"/>
          </a:solidFill>
          <a:ln w="12700">
            <a:solidFill>
              <a:srgbClr val="1E2761"/>
            </a:solidFill>
            <a:prstDash val="solid"/>
          </a:ln>
          <a:effectLst>
            <a:outerShdw sx="100000" sy="100000" kx="0" ky="0" algn="bl" rotWithShape="0" blurRad="101600" dist="12700" dir="5400000">
              <a:srgbClr val="8892AA">
                <a:alpha val="10000"/>
              </a:srgbClr>
            </a:outerShdw>
          </a:effectLst>
        </p:spPr>
      </p:sp>
      <p:sp>
        <p:nvSpPr>
          <p:cNvPr id="31" name="Text 29"/>
          <p:cNvSpPr txBox="1"/>
          <p:nvPr/>
        </p:nvSpPr>
        <p:spPr>
          <a:xfrm>
            <a:off x="8284464" y="1581912"/>
            <a:ext cx="3108960" cy="237744"/>
          </a:xfrm>
          <a:prstGeom prst="rect">
            <a:avLst/>
          </a:prstGeom>
          <a:noFill/>
          <a:ln/>
        </p:spPr>
        <p:txBody>
          <a:bodyPr wrap="square" lIns="0" tIns="0" rIns="0" bIns="0" rtlCol="0" anchor="ctr"/>
          <a:lstStyle/>
          <a:p>
            <a:pPr indent="0" marL="0">
              <a:buNone/>
            </a:pPr>
            <a:r>
              <a:rPr lang="en-US" sz="1050" b="1" spc="120" kern="0" dirty="0">
                <a:solidFill>
                  <a:srgbClr val="CADCFC"/>
                </a:solidFill>
                <a:latin typeface="Calibri" pitchFamily="34" charset="0"/>
                <a:ea typeface="Calibri" pitchFamily="34" charset="-122"/>
                <a:cs typeface="Calibri" pitchFamily="34" charset="-120"/>
              </a:rPr>
              <a:t>CENTRALIZED SERVER</a:t>
            </a:r>
            <a:endParaRPr lang="en-US" sz="1050" dirty="0"/>
          </a:p>
        </p:txBody>
      </p:sp>
      <p:sp>
        <p:nvSpPr>
          <p:cNvPr id="32" name="Shape 30"/>
          <p:cNvSpPr/>
          <p:nvPr/>
        </p:nvSpPr>
        <p:spPr>
          <a:xfrm>
            <a:off x="8284464" y="1892808"/>
            <a:ext cx="3127248" cy="548640"/>
          </a:xfrm>
          <a:prstGeom prst="roundRect">
            <a:avLst>
              <a:gd name="adj" fmla="val 10000"/>
            </a:avLst>
          </a:prstGeom>
          <a:solidFill>
            <a:srgbClr val="2B3B7A"/>
          </a:solidFill>
          <a:ln w="12700">
            <a:solidFill>
              <a:srgbClr val="3D50A0"/>
            </a:solidFill>
            <a:prstDash val="solid"/>
          </a:ln>
        </p:spPr>
      </p:sp>
      <p:sp>
        <p:nvSpPr>
          <p:cNvPr id="33" name="Text 31"/>
          <p:cNvSpPr txBox="1"/>
          <p:nvPr/>
        </p:nvSpPr>
        <p:spPr>
          <a:xfrm>
            <a:off x="8449056" y="1938528"/>
            <a:ext cx="2834640" cy="219456"/>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Apache HTTP Server</a:t>
            </a:r>
            <a:endParaRPr lang="en-US" sz="1150" dirty="0"/>
          </a:p>
        </p:txBody>
      </p:sp>
      <p:sp>
        <p:nvSpPr>
          <p:cNvPr id="34" name="Text 32"/>
          <p:cNvSpPr txBox="1"/>
          <p:nvPr/>
        </p:nvSpPr>
        <p:spPr>
          <a:xfrm>
            <a:off x="8449056" y="2157984"/>
            <a:ext cx="2834640" cy="219456"/>
          </a:xfrm>
          <a:prstGeom prst="rect">
            <a:avLst/>
          </a:prstGeom>
          <a:noFill/>
          <a:ln/>
        </p:spPr>
        <p:txBody>
          <a:bodyPr wrap="square" lIns="0" tIns="0" rIns="0" bIns="0" rtlCol="0" anchor="ctr"/>
          <a:lstStyle/>
          <a:p>
            <a:pPr indent="0" marL="0">
              <a:buNone/>
            </a:pPr>
            <a:r>
              <a:rPr lang="en-US" sz="950" dirty="0">
                <a:solidFill>
                  <a:srgbClr val="AFC0EA"/>
                </a:solidFill>
                <a:latin typeface="Calibri" pitchFamily="34" charset="0"/>
                <a:ea typeface="Calibri" pitchFamily="34" charset="-122"/>
                <a:cs typeface="Calibri" pitchFamily="34" charset="-120"/>
              </a:rPr>
              <a:t>TLS termination · HTTPS only</a:t>
            </a:r>
            <a:endParaRPr lang="en-US" sz="950" dirty="0"/>
          </a:p>
        </p:txBody>
      </p:sp>
      <p:sp>
        <p:nvSpPr>
          <p:cNvPr id="35" name="Shape 33"/>
          <p:cNvSpPr/>
          <p:nvPr/>
        </p:nvSpPr>
        <p:spPr>
          <a:xfrm>
            <a:off x="8284464" y="2514600"/>
            <a:ext cx="3127248" cy="548640"/>
          </a:xfrm>
          <a:prstGeom prst="roundRect">
            <a:avLst>
              <a:gd name="adj" fmla="val 10000"/>
            </a:avLst>
          </a:prstGeom>
          <a:solidFill>
            <a:srgbClr val="2B3B7A"/>
          </a:solidFill>
          <a:ln w="12700">
            <a:solidFill>
              <a:srgbClr val="3D50A0"/>
            </a:solidFill>
            <a:prstDash val="solid"/>
          </a:ln>
        </p:spPr>
      </p:sp>
      <p:sp>
        <p:nvSpPr>
          <p:cNvPr id="36" name="Text 34"/>
          <p:cNvSpPr txBox="1"/>
          <p:nvPr/>
        </p:nvSpPr>
        <p:spPr>
          <a:xfrm>
            <a:off x="8449056" y="2560320"/>
            <a:ext cx="2834640" cy="219456"/>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Laravel 12 application</a:t>
            </a:r>
            <a:endParaRPr lang="en-US" sz="1150" dirty="0"/>
          </a:p>
        </p:txBody>
      </p:sp>
      <p:sp>
        <p:nvSpPr>
          <p:cNvPr id="37" name="Text 35"/>
          <p:cNvSpPr txBox="1"/>
          <p:nvPr/>
        </p:nvSpPr>
        <p:spPr>
          <a:xfrm>
            <a:off x="8449056" y="2779776"/>
            <a:ext cx="2834640" cy="219456"/>
          </a:xfrm>
          <a:prstGeom prst="rect">
            <a:avLst/>
          </a:prstGeom>
          <a:noFill/>
          <a:ln/>
        </p:spPr>
        <p:txBody>
          <a:bodyPr wrap="square" lIns="0" tIns="0" rIns="0" bIns="0" rtlCol="0" anchor="ctr"/>
          <a:lstStyle/>
          <a:p>
            <a:pPr indent="0" marL="0">
              <a:buNone/>
            </a:pPr>
            <a:r>
              <a:rPr lang="en-US" sz="950" dirty="0">
                <a:solidFill>
                  <a:srgbClr val="AFC0EA"/>
                </a:solidFill>
                <a:latin typeface="Calibri" pitchFamily="34" charset="0"/>
                <a:ea typeface="Calibri" pitchFamily="34" charset="-122"/>
                <a:cs typeface="Calibri" pitchFamily="34" charset="-120"/>
              </a:rPr>
              <a:t>Middleware kernel, controllers, services</a:t>
            </a:r>
            <a:endParaRPr lang="en-US" sz="950" dirty="0"/>
          </a:p>
        </p:txBody>
      </p:sp>
      <p:sp>
        <p:nvSpPr>
          <p:cNvPr id="38" name="Shape 36"/>
          <p:cNvSpPr/>
          <p:nvPr/>
        </p:nvSpPr>
        <p:spPr>
          <a:xfrm>
            <a:off x="8284464" y="3136392"/>
            <a:ext cx="3127248" cy="548640"/>
          </a:xfrm>
          <a:prstGeom prst="roundRect">
            <a:avLst>
              <a:gd name="adj" fmla="val 10000"/>
            </a:avLst>
          </a:prstGeom>
          <a:solidFill>
            <a:srgbClr val="CADCFC"/>
          </a:solidFill>
          <a:ln w="12700">
            <a:solidFill>
              <a:srgbClr val="CADCFC"/>
            </a:solidFill>
            <a:prstDash val="solid"/>
          </a:ln>
        </p:spPr>
      </p:sp>
      <p:sp>
        <p:nvSpPr>
          <p:cNvPr id="39" name="Text 37"/>
          <p:cNvSpPr txBox="1"/>
          <p:nvPr/>
        </p:nvSpPr>
        <p:spPr>
          <a:xfrm>
            <a:off x="8449056" y="3182112"/>
            <a:ext cx="2834640" cy="219456"/>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MySQL / MariaDB</a:t>
            </a:r>
            <a:endParaRPr lang="en-US" sz="1150" dirty="0"/>
          </a:p>
        </p:txBody>
      </p:sp>
      <p:sp>
        <p:nvSpPr>
          <p:cNvPr id="40" name="Text 38"/>
          <p:cNvSpPr txBox="1"/>
          <p:nvPr/>
        </p:nvSpPr>
        <p:spPr>
          <a:xfrm>
            <a:off x="8449056" y="3401568"/>
            <a:ext cx="2834640" cy="219456"/>
          </a:xfrm>
          <a:prstGeom prst="rect">
            <a:avLst/>
          </a:prstGeom>
          <a:noFill/>
          <a:ln/>
        </p:spPr>
        <p:txBody>
          <a:bodyPr wrap="square" lIns="0" tIns="0" rIns="0" bIns="0" rtlCol="0" anchor="ctr"/>
          <a:lstStyle/>
          <a:p>
            <a:pPr indent="0" marL="0">
              <a:buNone/>
            </a:pPr>
            <a:r>
              <a:rPr lang="en-US" sz="950" dirty="0">
                <a:solidFill>
                  <a:srgbClr val="3A4670"/>
                </a:solidFill>
                <a:latin typeface="Calibri" pitchFamily="34" charset="0"/>
                <a:ea typeface="Calibri" pitchFamily="34" charset="-122"/>
                <a:cs typeface="Calibri" pitchFamily="34" charset="-120"/>
              </a:rPr>
              <a:t>Employees, leave, balances, config</a:t>
            </a:r>
            <a:endParaRPr lang="en-US" sz="950" dirty="0"/>
          </a:p>
        </p:txBody>
      </p:sp>
      <p:sp>
        <p:nvSpPr>
          <p:cNvPr id="41" name="Shape 39"/>
          <p:cNvSpPr/>
          <p:nvPr/>
        </p:nvSpPr>
        <p:spPr>
          <a:xfrm>
            <a:off x="8284464" y="3758184"/>
            <a:ext cx="3127248" cy="548640"/>
          </a:xfrm>
          <a:prstGeom prst="roundRect">
            <a:avLst>
              <a:gd name="adj" fmla="val 10000"/>
            </a:avLst>
          </a:prstGeom>
          <a:solidFill>
            <a:srgbClr val="2B3B7A"/>
          </a:solidFill>
          <a:ln w="12700">
            <a:solidFill>
              <a:srgbClr val="3D50A0"/>
            </a:solidFill>
            <a:prstDash val="solid"/>
          </a:ln>
        </p:spPr>
      </p:sp>
      <p:sp>
        <p:nvSpPr>
          <p:cNvPr id="42" name="Text 40"/>
          <p:cNvSpPr txBox="1"/>
          <p:nvPr/>
        </p:nvSpPr>
        <p:spPr>
          <a:xfrm>
            <a:off x="8449056" y="3803904"/>
            <a:ext cx="2834640" cy="219456"/>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Audit &amp; security stores</a:t>
            </a:r>
            <a:endParaRPr lang="en-US" sz="1150" dirty="0"/>
          </a:p>
        </p:txBody>
      </p:sp>
      <p:sp>
        <p:nvSpPr>
          <p:cNvPr id="43" name="Text 41"/>
          <p:cNvSpPr txBox="1"/>
          <p:nvPr/>
        </p:nvSpPr>
        <p:spPr>
          <a:xfrm>
            <a:off x="8449056" y="4023360"/>
            <a:ext cx="2834640" cy="219456"/>
          </a:xfrm>
          <a:prstGeom prst="rect">
            <a:avLst/>
          </a:prstGeom>
          <a:noFill/>
          <a:ln/>
        </p:spPr>
        <p:txBody>
          <a:bodyPr wrap="square" lIns="0" tIns="0" rIns="0" bIns="0" rtlCol="0" anchor="ctr"/>
          <a:lstStyle/>
          <a:p>
            <a:pPr indent="0" marL="0">
              <a:buNone/>
            </a:pPr>
            <a:r>
              <a:rPr lang="en-US" sz="950" dirty="0">
                <a:solidFill>
                  <a:srgbClr val="AFC0EA"/>
                </a:solidFill>
                <a:latin typeface="Calibri" pitchFamily="34" charset="0"/>
                <a:ea typeface="Calibri" pitchFamily="34" charset="-122"/>
                <a:cs typeface="Calibri" pitchFamily="34" charset="-120"/>
              </a:rPr>
              <a:t>Audit, activity, intrusion, failed logins</a:t>
            </a:r>
            <a:endParaRPr lang="en-US" sz="950" dirty="0"/>
          </a:p>
        </p:txBody>
      </p:sp>
      <p:sp>
        <p:nvSpPr>
          <p:cNvPr id="44" name="Shape 42"/>
          <p:cNvSpPr/>
          <p:nvPr/>
        </p:nvSpPr>
        <p:spPr>
          <a:xfrm>
            <a:off x="8284464" y="4379976"/>
            <a:ext cx="3127248" cy="548640"/>
          </a:xfrm>
          <a:prstGeom prst="roundRect">
            <a:avLst>
              <a:gd name="adj" fmla="val 10000"/>
            </a:avLst>
          </a:prstGeom>
          <a:solidFill>
            <a:srgbClr val="2B3B7A"/>
          </a:solidFill>
          <a:ln w="12700">
            <a:solidFill>
              <a:srgbClr val="3D50A0"/>
            </a:solidFill>
            <a:prstDash val="solid"/>
          </a:ln>
        </p:spPr>
      </p:sp>
      <p:sp>
        <p:nvSpPr>
          <p:cNvPr id="45" name="Text 43"/>
          <p:cNvSpPr txBox="1"/>
          <p:nvPr/>
        </p:nvSpPr>
        <p:spPr>
          <a:xfrm>
            <a:off x="8449056" y="4425696"/>
            <a:ext cx="2834640" cy="219456"/>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Mail relay + scheduler</a:t>
            </a:r>
            <a:endParaRPr lang="en-US" sz="1150" dirty="0"/>
          </a:p>
        </p:txBody>
      </p:sp>
      <p:sp>
        <p:nvSpPr>
          <p:cNvPr id="46" name="Text 44"/>
          <p:cNvSpPr txBox="1"/>
          <p:nvPr/>
        </p:nvSpPr>
        <p:spPr>
          <a:xfrm>
            <a:off x="8449056" y="4645152"/>
            <a:ext cx="2834640" cy="219456"/>
          </a:xfrm>
          <a:prstGeom prst="rect">
            <a:avLst/>
          </a:prstGeom>
          <a:noFill/>
          <a:ln/>
        </p:spPr>
        <p:txBody>
          <a:bodyPr wrap="square" lIns="0" tIns="0" rIns="0" bIns="0" rtlCol="0" anchor="ctr"/>
          <a:lstStyle/>
          <a:p>
            <a:pPr indent="0" marL="0">
              <a:buNone/>
            </a:pPr>
            <a:r>
              <a:rPr lang="en-US" sz="950" dirty="0">
                <a:solidFill>
                  <a:srgbClr val="AFC0EA"/>
                </a:solidFill>
                <a:latin typeface="Calibri" pitchFamily="34" charset="0"/>
                <a:ea typeface="Calibri" pitchFamily="34" charset="-122"/>
                <a:cs typeface="Calibri" pitchFamily="34" charset="-120"/>
              </a:rPr>
              <a:t>OTP delivery, alerts, accrual jobs</a:t>
            </a:r>
            <a:endParaRPr lang="en-US" sz="950" dirty="0"/>
          </a:p>
        </p:txBody>
      </p:sp>
      <p:sp>
        <p:nvSpPr>
          <p:cNvPr id="47" name="Shape 45"/>
          <p:cNvSpPr/>
          <p:nvPr/>
        </p:nvSpPr>
        <p:spPr>
          <a:xfrm>
            <a:off x="7516368" y="3246120"/>
            <a:ext cx="502920" cy="0"/>
          </a:xfrm>
          <a:prstGeom prst="line">
            <a:avLst/>
          </a:prstGeom>
          <a:noFill/>
          <a:ln w="22225">
            <a:solidFill>
              <a:srgbClr val="1E2761"/>
            </a:solidFill>
            <a:prstDash val="solid"/>
            <a:tailEnd type="triangle"/>
          </a:ln>
        </p:spPr>
      </p:sp>
      <p:sp>
        <p:nvSpPr>
          <p:cNvPr id="48" name="Text 46"/>
          <p:cNvSpPr txBox="1"/>
          <p:nvPr/>
        </p:nvSpPr>
        <p:spPr>
          <a:xfrm>
            <a:off x="7470648" y="2953512"/>
            <a:ext cx="640080" cy="219456"/>
          </a:xfrm>
          <a:prstGeom prst="rect">
            <a:avLst/>
          </a:prstGeom>
          <a:noFill/>
          <a:ln/>
        </p:spPr>
        <p:txBody>
          <a:bodyPr wrap="square" lIns="0" tIns="0" rIns="0" bIns="0" rtlCol="0" anchor="ctr"/>
          <a:lstStyle/>
          <a:p>
            <a:pPr algn="ctr" indent="0" marL="0">
              <a:buNone/>
            </a:pPr>
            <a:r>
              <a:rPr lang="en-US" sz="900" b="1" dirty="0">
                <a:solidFill>
                  <a:srgbClr val="1E2761"/>
                </a:solidFill>
                <a:latin typeface="Calibri" pitchFamily="34" charset="0"/>
                <a:ea typeface="Calibri" pitchFamily="34" charset="-122"/>
                <a:cs typeface="Calibri" pitchFamily="34" charset="-120"/>
              </a:rPr>
              <a:t>HTTPS</a:t>
            </a:r>
            <a:endParaRPr lang="en-US" sz="900" dirty="0"/>
          </a:p>
        </p:txBody>
      </p:sp>
      <p:sp>
        <p:nvSpPr>
          <p:cNvPr id="49" name="Text 47"/>
          <p:cNvSpPr txBox="1"/>
          <p:nvPr/>
        </p:nvSpPr>
        <p:spPr>
          <a:xfrm>
            <a:off x="7470648" y="3337560"/>
            <a:ext cx="640080" cy="219456"/>
          </a:xfrm>
          <a:prstGeom prst="rect">
            <a:avLst/>
          </a:prstGeom>
          <a:noFill/>
          <a:ln/>
        </p:spPr>
        <p:txBody>
          <a:bodyPr wrap="square" lIns="0" tIns="0" rIns="0" bIns="0" rtlCol="0" anchor="ctr"/>
          <a:lstStyle/>
          <a:p>
            <a:pPr algn="ctr" indent="0" marL="0">
              <a:buNone/>
            </a:pPr>
            <a:r>
              <a:rPr lang="en-US" sz="900" b="1" dirty="0">
                <a:solidFill>
                  <a:srgbClr val="1E2761"/>
                </a:solidFill>
                <a:latin typeface="Calibri" pitchFamily="34" charset="0"/>
                <a:ea typeface="Calibri" pitchFamily="34" charset="-122"/>
                <a:cs typeface="Calibri" pitchFamily="34" charset="-120"/>
              </a:rPr>
              <a:t>TLS</a:t>
            </a:r>
            <a:endParaRPr lang="en-US" sz="900" dirty="0"/>
          </a:p>
        </p:txBody>
      </p:sp>
      <p:sp>
        <p:nvSpPr>
          <p:cNvPr id="50" name="Shape 48"/>
          <p:cNvSpPr/>
          <p:nvPr/>
        </p:nvSpPr>
        <p:spPr>
          <a:xfrm>
            <a:off x="566928" y="5358384"/>
            <a:ext cx="3520440" cy="694944"/>
          </a:xfrm>
          <a:prstGeom prst="roundRect">
            <a:avLst>
              <a:gd name="adj" fmla="val 10526"/>
            </a:avLst>
          </a:prstGeom>
          <a:solidFill>
            <a:srgbClr val="EEF3FC"/>
          </a:solidFill>
          <a:ln w="12700">
            <a:solidFill>
              <a:srgbClr val="DCE5F6"/>
            </a:solidFill>
            <a:prstDash val="solid"/>
          </a:ln>
        </p:spPr>
      </p:sp>
      <p:sp>
        <p:nvSpPr>
          <p:cNvPr id="51" name="Text 49"/>
          <p:cNvSpPr txBox="1"/>
          <p:nvPr/>
        </p:nvSpPr>
        <p:spPr>
          <a:xfrm>
            <a:off x="786384" y="5431536"/>
            <a:ext cx="3108960" cy="219456"/>
          </a:xfrm>
          <a:prstGeom prst="rect">
            <a:avLst/>
          </a:prstGeom>
          <a:noFill/>
          <a:ln/>
        </p:spPr>
        <p:txBody>
          <a:bodyPr wrap="square" lIns="0" tIns="0" rIns="0" bIns="0" rtlCol="0" anchor="ctr"/>
          <a:lstStyle/>
          <a:p>
            <a:pPr indent="0" marL="0">
              <a:buNone/>
            </a:pPr>
            <a:r>
              <a:rPr lang="en-US" sz="1100" b="1" dirty="0">
                <a:solidFill>
                  <a:srgbClr val="1E2761"/>
                </a:solidFill>
                <a:latin typeface="Calibri" pitchFamily="34" charset="0"/>
                <a:ea typeface="Calibri" pitchFamily="34" charset="-122"/>
                <a:cs typeface="Calibri" pitchFamily="34" charset="-120"/>
              </a:rPr>
              <a:t>Device allow-list</a:t>
            </a:r>
            <a:endParaRPr lang="en-US" sz="1100" dirty="0"/>
          </a:p>
        </p:txBody>
      </p:sp>
      <p:sp>
        <p:nvSpPr>
          <p:cNvPr id="52" name="Text 50"/>
          <p:cNvSpPr txBox="1"/>
          <p:nvPr/>
        </p:nvSpPr>
        <p:spPr>
          <a:xfrm>
            <a:off x="786384" y="5669280"/>
            <a:ext cx="3108960" cy="219456"/>
          </a:xfrm>
          <a:prstGeom prst="rect">
            <a:avLst/>
          </a:prstGeom>
          <a:noFill/>
          <a:ln/>
        </p:spPr>
        <p:txBody>
          <a:bodyPr wrap="square" lIns="0" tIns="0" rIns="0" bIns="0" rtlCol="0" anchor="ctr"/>
          <a:lstStyle/>
          <a:p>
            <a:pPr indent="0" marL="0">
              <a:buNone/>
            </a:pPr>
            <a:r>
              <a:rPr lang="en-US" sz="1000" dirty="0">
                <a:solidFill>
                  <a:srgbClr val="343B4F"/>
                </a:solidFill>
                <a:latin typeface="Calibri" pitchFamily="34" charset="0"/>
                <a:ea typeface="Calibri" pitchFamily="34" charset="-122"/>
                <a:cs typeface="Calibri" pitchFamily="34" charset="-120"/>
              </a:rPr>
              <a:t>Only registered devices clear the check</a:t>
            </a:r>
            <a:endParaRPr lang="en-US" sz="1000" dirty="0"/>
          </a:p>
        </p:txBody>
      </p:sp>
      <p:sp>
        <p:nvSpPr>
          <p:cNvPr id="53" name="Shape 51"/>
          <p:cNvSpPr/>
          <p:nvPr/>
        </p:nvSpPr>
        <p:spPr>
          <a:xfrm>
            <a:off x="4270248" y="5358384"/>
            <a:ext cx="3520440" cy="694944"/>
          </a:xfrm>
          <a:prstGeom prst="roundRect">
            <a:avLst>
              <a:gd name="adj" fmla="val 10526"/>
            </a:avLst>
          </a:prstGeom>
          <a:solidFill>
            <a:srgbClr val="EEF3FC"/>
          </a:solidFill>
          <a:ln w="12700">
            <a:solidFill>
              <a:srgbClr val="DCE5F6"/>
            </a:solidFill>
            <a:prstDash val="solid"/>
          </a:ln>
        </p:spPr>
      </p:sp>
      <p:sp>
        <p:nvSpPr>
          <p:cNvPr id="54" name="Text 52"/>
          <p:cNvSpPr txBox="1"/>
          <p:nvPr/>
        </p:nvSpPr>
        <p:spPr>
          <a:xfrm>
            <a:off x="4489704" y="5431536"/>
            <a:ext cx="3108960" cy="219456"/>
          </a:xfrm>
          <a:prstGeom prst="rect">
            <a:avLst/>
          </a:prstGeom>
          <a:noFill/>
          <a:ln/>
        </p:spPr>
        <p:txBody>
          <a:bodyPr wrap="square" lIns="0" tIns="0" rIns="0" bIns="0" rtlCol="0" anchor="ctr"/>
          <a:lstStyle/>
          <a:p>
            <a:pPr indent="0" marL="0">
              <a:buNone/>
            </a:pPr>
            <a:r>
              <a:rPr lang="en-US" sz="1100" b="1" dirty="0">
                <a:solidFill>
                  <a:srgbClr val="1E2761"/>
                </a:solidFill>
                <a:latin typeface="Calibri" pitchFamily="34" charset="0"/>
                <a:ea typeface="Calibri" pitchFamily="34" charset="-122"/>
                <a:cs typeface="Calibri" pitchFamily="34" charset="-120"/>
              </a:rPr>
              <a:t>Boundary policy</a:t>
            </a:r>
            <a:endParaRPr lang="en-US" sz="1100" dirty="0"/>
          </a:p>
        </p:txBody>
      </p:sp>
      <p:sp>
        <p:nvSpPr>
          <p:cNvPr id="55" name="Text 53"/>
          <p:cNvSpPr txBox="1"/>
          <p:nvPr/>
        </p:nvSpPr>
        <p:spPr>
          <a:xfrm>
            <a:off x="4489704" y="5669280"/>
            <a:ext cx="3108960" cy="219456"/>
          </a:xfrm>
          <a:prstGeom prst="rect">
            <a:avLst/>
          </a:prstGeom>
          <a:noFill/>
          <a:ln/>
        </p:spPr>
        <p:txBody>
          <a:bodyPr wrap="square" lIns="0" tIns="0" rIns="0" bIns="0" rtlCol="0" anchor="ctr"/>
          <a:lstStyle/>
          <a:p>
            <a:pPr indent="0" marL="0">
              <a:buNone/>
            </a:pPr>
            <a:r>
              <a:rPr lang="en-US" sz="1000" dirty="0">
                <a:solidFill>
                  <a:srgbClr val="343B4F"/>
                </a:solidFill>
                <a:latin typeface="Calibri" pitchFamily="34" charset="0"/>
                <a:ea typeface="Calibri" pitchFamily="34" charset="-122"/>
                <a:cs typeface="Calibri" pitchFamily="34" charset="-120"/>
              </a:rPr>
              <a:t>Firewall keeps the app off public routes</a:t>
            </a:r>
            <a:endParaRPr lang="en-US" sz="1000" dirty="0"/>
          </a:p>
        </p:txBody>
      </p:sp>
      <p:sp>
        <p:nvSpPr>
          <p:cNvPr id="56" name="Shape 54"/>
          <p:cNvSpPr/>
          <p:nvPr/>
        </p:nvSpPr>
        <p:spPr>
          <a:xfrm>
            <a:off x="7973568" y="5358384"/>
            <a:ext cx="3520440" cy="694944"/>
          </a:xfrm>
          <a:prstGeom prst="roundRect">
            <a:avLst>
              <a:gd name="adj" fmla="val 10526"/>
            </a:avLst>
          </a:prstGeom>
          <a:solidFill>
            <a:srgbClr val="EEF3FC"/>
          </a:solidFill>
          <a:ln w="12700">
            <a:solidFill>
              <a:srgbClr val="DCE5F6"/>
            </a:solidFill>
            <a:prstDash val="solid"/>
          </a:ln>
        </p:spPr>
      </p:sp>
      <p:sp>
        <p:nvSpPr>
          <p:cNvPr id="57" name="Text 55"/>
          <p:cNvSpPr txBox="1"/>
          <p:nvPr/>
        </p:nvSpPr>
        <p:spPr>
          <a:xfrm>
            <a:off x="8193024" y="5431536"/>
            <a:ext cx="3108960" cy="219456"/>
          </a:xfrm>
          <a:prstGeom prst="rect">
            <a:avLst/>
          </a:prstGeom>
          <a:noFill/>
          <a:ln/>
        </p:spPr>
        <p:txBody>
          <a:bodyPr wrap="square" lIns="0" tIns="0" rIns="0" bIns="0" rtlCol="0" anchor="ctr"/>
          <a:lstStyle/>
          <a:p>
            <a:pPr indent="0" marL="0">
              <a:buNone/>
            </a:pPr>
            <a:r>
              <a:rPr lang="en-US" sz="1100" b="1" dirty="0">
                <a:solidFill>
                  <a:srgbClr val="1E2761"/>
                </a:solidFill>
                <a:latin typeface="Calibri" pitchFamily="34" charset="0"/>
                <a:ea typeface="Calibri" pitchFamily="34" charset="-122"/>
                <a:cs typeface="Calibri" pitchFamily="34" charset="-120"/>
              </a:rPr>
              <a:t>Local-only database</a:t>
            </a:r>
            <a:endParaRPr lang="en-US" sz="1100" dirty="0"/>
          </a:p>
        </p:txBody>
      </p:sp>
      <p:sp>
        <p:nvSpPr>
          <p:cNvPr id="58" name="Text 56"/>
          <p:cNvSpPr txBox="1"/>
          <p:nvPr/>
        </p:nvSpPr>
        <p:spPr>
          <a:xfrm>
            <a:off x="8193024" y="5669280"/>
            <a:ext cx="3108960" cy="219456"/>
          </a:xfrm>
          <a:prstGeom prst="rect">
            <a:avLst/>
          </a:prstGeom>
          <a:noFill/>
          <a:ln/>
        </p:spPr>
        <p:txBody>
          <a:bodyPr wrap="square" lIns="0" tIns="0" rIns="0" bIns="0" rtlCol="0" anchor="ctr"/>
          <a:lstStyle/>
          <a:p>
            <a:pPr indent="0" marL="0">
              <a:buNone/>
            </a:pPr>
            <a:r>
              <a:rPr lang="en-US" sz="1000" dirty="0">
                <a:solidFill>
                  <a:srgbClr val="343B4F"/>
                </a:solidFill>
                <a:latin typeface="Calibri" pitchFamily="34" charset="0"/>
                <a:ea typeface="Calibri" pitchFamily="34" charset="-122"/>
                <a:cs typeface="Calibri" pitchFamily="34" charset="-120"/>
              </a:rPr>
              <a:t>MySQL binds to the application host only</a:t>
            </a:r>
            <a:endParaRPr lang="en-US" sz="1000" dirty="0"/>
          </a:p>
        </p:txBody>
      </p:sp>
      <p:sp>
        <p:nvSpPr>
          <p:cNvPr id="59" name="Text 57"/>
          <p:cNvSpPr txBox="1"/>
          <p:nvPr/>
        </p:nvSpPr>
        <p:spPr>
          <a:xfrm>
            <a:off x="566928" y="6272784"/>
            <a:ext cx="11064240" cy="274320"/>
          </a:xfrm>
          <a:prstGeom prst="rect">
            <a:avLst/>
          </a:prstGeom>
          <a:noFill/>
          <a:ln/>
        </p:spPr>
        <p:txBody>
          <a:bodyPr wrap="square" lIns="0" tIns="0" rIns="0" bIns="0" rtlCol="0" anchor="ctr"/>
          <a:lstStyle/>
          <a:p>
            <a:pPr indent="0" marL="0">
              <a:buNone/>
            </a:pPr>
            <a:r>
              <a:rPr lang="en-US" sz="1050" i="1" dirty="0">
                <a:solidFill>
                  <a:srgbClr val="78819A"/>
                </a:solidFill>
                <a:latin typeface="Calibri" pitchFamily="34" charset="0"/>
                <a:ea typeface="Calibri" pitchFamily="34" charset="-122"/>
                <a:cs typeface="Calibri" pitchFamily="34" charset="-120"/>
              </a:rPr>
              <a:t>Figure 3 — Requests travel from authorized clients through the switch and router/firewall to the centralized server; responses return over the same HTTPS path.</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658368" y="219456"/>
            <a:ext cx="8229600" cy="237744"/>
          </a:xfrm>
          <a:prstGeom prst="rect">
            <a:avLst/>
          </a:prstGeom>
          <a:noFill/>
          <a:ln/>
        </p:spPr>
        <p:txBody>
          <a:bodyPr wrap="square" lIns="0" tIns="0" rIns="0" bIns="0" rtlCol="0" anchor="ctr"/>
          <a:lstStyle/>
          <a:p>
            <a:pPr indent="0" marL="0">
              <a:buNone/>
            </a:pPr>
            <a:r>
              <a:rPr lang="en-US" sz="1100" b="1" spc="160" kern="0" dirty="0">
                <a:solidFill>
                  <a:srgbClr val="78819A"/>
                </a:solidFill>
                <a:latin typeface="Calibri" pitchFamily="34" charset="0"/>
                <a:ea typeface="Calibri" pitchFamily="34" charset="-122"/>
                <a:cs typeface="Calibri" pitchFamily="34" charset="-120"/>
              </a:rPr>
              <a:t>SYSTEM ARCHITECTURE  —  END TO END</a:t>
            </a:r>
            <a:endParaRPr lang="en-US" sz="1100" dirty="0"/>
          </a:p>
        </p:txBody>
      </p:sp>
      <p:pic>
        <p:nvPicPr>
          <p:cNvPr id="3" name="Image 0" descr="/tmp/claude-0/-home-user-DJ/20ed61d7-b78d-5bb4-abb2-863fea3f0b22/scratchpad/deck/architecture.png">    </p:cNvPr>
          <p:cNvPicPr>
            <a:picLocks noChangeAspect="1"/>
          </p:cNvPicPr>
          <p:nvPr/>
        </p:nvPicPr>
        <p:blipFill>
          <a:blip r:embed="rId1"/>
          <a:stretch>
            <a:fillRect/>
          </a:stretch>
        </p:blipFill>
        <p:spPr>
          <a:xfrm>
            <a:off x="658368" y="548640"/>
            <a:ext cx="10863072" cy="59436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66928" y="384048"/>
            <a:ext cx="8229600" cy="237744"/>
          </a:xfrm>
          <a:prstGeom prst="rect">
            <a:avLst/>
          </a:prstGeom>
          <a:noFill/>
          <a:ln/>
        </p:spPr>
        <p:txBody>
          <a:bodyPr wrap="square" lIns="0" tIns="0" rIns="0" bIns="0" rtlCol="0" anchor="ctr"/>
          <a:lstStyle/>
          <a:p>
            <a:pPr indent="0" marL="0">
              <a:buNone/>
            </a:pPr>
            <a:r>
              <a:rPr lang="en-US" sz="1100" b="1" spc="160" kern="0" dirty="0">
                <a:solidFill>
                  <a:srgbClr val="78819A"/>
                </a:solidFill>
                <a:latin typeface="Calibri" pitchFamily="34" charset="0"/>
                <a:ea typeface="Calibri" pitchFamily="34" charset="-122"/>
                <a:cs typeface="Calibri" pitchFamily="34" charset="-120"/>
              </a:rPr>
              <a:t>4.3  APPLICATION SYSTEM ARCHITECTURE</a:t>
            </a:r>
            <a:endParaRPr lang="en-US" sz="1100" dirty="0"/>
          </a:p>
        </p:txBody>
      </p:sp>
      <p:sp>
        <p:nvSpPr>
          <p:cNvPr id="3" name="Text 1"/>
          <p:cNvSpPr txBox="1"/>
          <p:nvPr/>
        </p:nvSpPr>
        <p:spPr>
          <a:xfrm>
            <a:off x="548640" y="621792"/>
            <a:ext cx="11155680" cy="603504"/>
          </a:xfrm>
          <a:prstGeom prst="rect">
            <a:avLst/>
          </a:prstGeom>
          <a:noFill/>
          <a:ln/>
        </p:spPr>
        <p:txBody>
          <a:bodyPr wrap="square" lIns="0" tIns="0" rIns="0" bIns="0" rtlCol="0" anchor="t"/>
          <a:lstStyle/>
          <a:p>
            <a:pPr indent="0" marL="0">
              <a:buNone/>
            </a:pPr>
            <a:r>
              <a:rPr lang="en-US" sz="3200" b="1" dirty="0">
                <a:solidFill>
                  <a:srgbClr val="1E2761"/>
                </a:solidFill>
                <a:latin typeface="Cambria" pitchFamily="34" charset="0"/>
                <a:ea typeface="Cambria" pitchFamily="34" charset="-122"/>
                <a:cs typeface="Cambria" pitchFamily="34" charset="-120"/>
              </a:rPr>
              <a:t>Five layers, separated responsibilities</a:t>
            </a:r>
            <a:endParaRPr lang="en-US" sz="3200" dirty="0"/>
          </a:p>
        </p:txBody>
      </p:sp>
      <p:sp>
        <p:nvSpPr>
          <p:cNvPr id="4" name="Shape 2"/>
          <p:cNvSpPr/>
          <p:nvPr/>
        </p:nvSpPr>
        <p:spPr>
          <a:xfrm>
            <a:off x="566928" y="1417320"/>
            <a:ext cx="11064240" cy="713232"/>
          </a:xfrm>
          <a:prstGeom prst="roundRect">
            <a:avLst>
              <a:gd name="adj" fmla="val 8974"/>
            </a:avLst>
          </a:prstGeom>
          <a:solidFill>
            <a:srgbClr val="CADCFC"/>
          </a:solidFill>
          <a:ln w="12700">
            <a:solidFill>
              <a:srgbClr val="CADCFC"/>
            </a:solidFill>
            <a:prstDash val="solid"/>
          </a:ln>
        </p:spPr>
      </p:sp>
      <p:sp>
        <p:nvSpPr>
          <p:cNvPr id="5" name="Text 3"/>
          <p:cNvSpPr txBox="1"/>
          <p:nvPr/>
        </p:nvSpPr>
        <p:spPr>
          <a:xfrm>
            <a:off x="804672" y="1472184"/>
            <a:ext cx="3200400" cy="603504"/>
          </a:xfrm>
          <a:prstGeom prst="rect">
            <a:avLst/>
          </a:prstGeom>
          <a:noFill/>
          <a:ln/>
        </p:spPr>
        <p:txBody>
          <a:bodyPr wrap="square" lIns="0" tIns="0" rIns="0" bIns="0" rtlCol="0" anchor="ctr"/>
          <a:lstStyle/>
          <a:p>
            <a:pPr indent="0" marL="0">
              <a:buNone/>
            </a:pPr>
            <a:r>
              <a:rPr lang="en-US" sz="1200" b="1" spc="80" kern="0" dirty="0">
                <a:solidFill>
                  <a:srgbClr val="1E2761"/>
                </a:solidFill>
                <a:latin typeface="Calibri" pitchFamily="34" charset="0"/>
                <a:ea typeface="Calibri" pitchFamily="34" charset="-122"/>
                <a:cs typeface="Calibri" pitchFamily="34" charset="-120"/>
              </a:rPr>
              <a:t>PRESENTATION</a:t>
            </a:r>
            <a:endParaRPr lang="en-US" sz="1200" dirty="0"/>
          </a:p>
        </p:txBody>
      </p:sp>
      <p:sp>
        <p:nvSpPr>
          <p:cNvPr id="6" name="Text 4"/>
          <p:cNvSpPr txBox="1"/>
          <p:nvPr/>
        </p:nvSpPr>
        <p:spPr>
          <a:xfrm>
            <a:off x="4069080" y="1472184"/>
            <a:ext cx="7360920" cy="603504"/>
          </a:xfrm>
          <a:prstGeom prst="rect">
            <a:avLst/>
          </a:prstGeom>
          <a:noFill/>
          <a:ln/>
        </p:spPr>
        <p:txBody>
          <a:bodyPr wrap="square" lIns="0" tIns="0" rIns="0" bIns="0" rtlCol="0" anchor="ctr"/>
          <a:lstStyle/>
          <a:p>
            <a:pPr indent="0" marL="0">
              <a:buNone/>
            </a:pPr>
            <a:r>
              <a:rPr lang="en-US" sz="1100" dirty="0">
                <a:solidFill>
                  <a:srgbClr val="3A4670"/>
                </a:solidFill>
                <a:latin typeface="Calibri" pitchFamily="34" charset="0"/>
                <a:ea typeface="Calibri" pitchFamily="34" charset="-122"/>
                <a:cs typeface="Calibri" pitchFamily="34" charset="-120"/>
              </a:rPr>
              <a:t>Blade views · Bootstrap 5 · Chart.js · SweetAlert2 · dark/light theme · offline-vendored assets</a:t>
            </a:r>
            <a:endParaRPr lang="en-US" sz="1100" dirty="0"/>
          </a:p>
        </p:txBody>
      </p:sp>
      <p:sp>
        <p:nvSpPr>
          <p:cNvPr id="7" name="Shape 5"/>
          <p:cNvSpPr/>
          <p:nvPr/>
        </p:nvSpPr>
        <p:spPr>
          <a:xfrm>
            <a:off x="2834640" y="2139696"/>
            <a:ext cx="0" cy="100584"/>
          </a:xfrm>
          <a:prstGeom prst="line">
            <a:avLst/>
          </a:prstGeom>
          <a:noFill/>
          <a:ln w="22225">
            <a:solidFill>
              <a:srgbClr val="9AAAD4"/>
            </a:solidFill>
            <a:prstDash val="solid"/>
            <a:tailEnd type="triangle"/>
          </a:ln>
        </p:spPr>
      </p:sp>
      <p:sp>
        <p:nvSpPr>
          <p:cNvPr id="8" name="Shape 6"/>
          <p:cNvSpPr/>
          <p:nvPr/>
        </p:nvSpPr>
        <p:spPr>
          <a:xfrm>
            <a:off x="566928" y="2240280"/>
            <a:ext cx="11064240" cy="713232"/>
          </a:xfrm>
          <a:prstGeom prst="roundRect">
            <a:avLst>
              <a:gd name="adj" fmla="val 8974"/>
            </a:avLst>
          </a:prstGeom>
          <a:solidFill>
            <a:srgbClr val="2B3B7A"/>
          </a:solidFill>
          <a:ln w="12700">
            <a:solidFill>
              <a:srgbClr val="2B3B7A"/>
            </a:solidFill>
            <a:prstDash val="solid"/>
          </a:ln>
        </p:spPr>
      </p:sp>
      <p:sp>
        <p:nvSpPr>
          <p:cNvPr id="9" name="Text 7"/>
          <p:cNvSpPr txBox="1"/>
          <p:nvPr/>
        </p:nvSpPr>
        <p:spPr>
          <a:xfrm>
            <a:off x="804672" y="2295144"/>
            <a:ext cx="3200400" cy="603504"/>
          </a:xfrm>
          <a:prstGeom prst="rect">
            <a:avLst/>
          </a:prstGeom>
          <a:noFill/>
          <a:ln/>
        </p:spPr>
        <p:txBody>
          <a:bodyPr wrap="square" lIns="0" tIns="0" rIns="0" bIns="0" rtlCol="0" anchor="ctr"/>
          <a:lstStyle/>
          <a:p>
            <a:pPr indent="0" marL="0">
              <a:buNone/>
            </a:pPr>
            <a:r>
              <a:rPr lang="en-US" sz="1200" b="1" spc="80" kern="0" dirty="0">
                <a:solidFill>
                  <a:srgbClr val="FFFFFF"/>
                </a:solidFill>
                <a:latin typeface="Calibri" pitchFamily="34" charset="0"/>
                <a:ea typeface="Calibri" pitchFamily="34" charset="-122"/>
                <a:cs typeface="Calibri" pitchFamily="34" charset="-120"/>
              </a:rPr>
              <a:t>HTTP  &amp;  SECURITY KERNEL</a:t>
            </a:r>
            <a:endParaRPr lang="en-US" sz="1200" dirty="0"/>
          </a:p>
        </p:txBody>
      </p:sp>
      <p:sp>
        <p:nvSpPr>
          <p:cNvPr id="10" name="Text 8"/>
          <p:cNvSpPr txBox="1"/>
          <p:nvPr/>
        </p:nvSpPr>
        <p:spPr>
          <a:xfrm>
            <a:off x="4069080" y="2295144"/>
            <a:ext cx="7360920" cy="603504"/>
          </a:xfrm>
          <a:prstGeom prst="rect">
            <a:avLst/>
          </a:prstGeom>
          <a:noFill/>
          <a:ln/>
        </p:spPr>
        <p:txBody>
          <a:bodyPr wrap="square" lIns="0" tIns="0" rIns="0" bIns="0" rtlCol="0" anchor="ctr"/>
          <a:lstStyle/>
          <a:p>
            <a:pPr indent="0" marL="0">
              <a:buNone/>
            </a:pPr>
            <a:r>
              <a:rPr lang="en-US" sz="1100" dirty="0">
                <a:solidFill>
                  <a:srgbClr val="C6D2F2"/>
                </a:solidFill>
                <a:latin typeface="Calibri" pitchFamily="34" charset="0"/>
                <a:ea typeface="Calibri" pitchFamily="34" charset="-122"/>
                <a:cs typeface="Calibri" pitchFamily="34" charset="-120"/>
              </a:rPr>
              <a:t>Routes (web / api v1) · Controllers · Form Requests · 9-stage middleware pipeline</a:t>
            </a:r>
            <a:endParaRPr lang="en-US" sz="1100" dirty="0"/>
          </a:p>
        </p:txBody>
      </p:sp>
      <p:sp>
        <p:nvSpPr>
          <p:cNvPr id="11" name="Shape 9"/>
          <p:cNvSpPr/>
          <p:nvPr/>
        </p:nvSpPr>
        <p:spPr>
          <a:xfrm>
            <a:off x="2834640" y="2962656"/>
            <a:ext cx="0" cy="100584"/>
          </a:xfrm>
          <a:prstGeom prst="line">
            <a:avLst/>
          </a:prstGeom>
          <a:noFill/>
          <a:ln w="22225">
            <a:solidFill>
              <a:srgbClr val="9AAAD4"/>
            </a:solidFill>
            <a:prstDash val="solid"/>
            <a:tailEnd type="triangle"/>
          </a:ln>
        </p:spPr>
      </p:sp>
      <p:sp>
        <p:nvSpPr>
          <p:cNvPr id="12" name="Shape 10"/>
          <p:cNvSpPr/>
          <p:nvPr/>
        </p:nvSpPr>
        <p:spPr>
          <a:xfrm>
            <a:off x="566928" y="3063240"/>
            <a:ext cx="11064240" cy="713232"/>
          </a:xfrm>
          <a:prstGeom prst="roundRect">
            <a:avLst>
              <a:gd name="adj" fmla="val 8974"/>
            </a:avLst>
          </a:prstGeom>
          <a:solidFill>
            <a:srgbClr val="1E2761"/>
          </a:solidFill>
          <a:ln w="12700">
            <a:solidFill>
              <a:srgbClr val="1E2761"/>
            </a:solidFill>
            <a:prstDash val="solid"/>
          </a:ln>
        </p:spPr>
      </p:sp>
      <p:sp>
        <p:nvSpPr>
          <p:cNvPr id="13" name="Text 11"/>
          <p:cNvSpPr txBox="1"/>
          <p:nvPr/>
        </p:nvSpPr>
        <p:spPr>
          <a:xfrm>
            <a:off x="804672" y="3118104"/>
            <a:ext cx="3200400" cy="603504"/>
          </a:xfrm>
          <a:prstGeom prst="rect">
            <a:avLst/>
          </a:prstGeom>
          <a:noFill/>
          <a:ln/>
        </p:spPr>
        <p:txBody>
          <a:bodyPr wrap="square" lIns="0" tIns="0" rIns="0" bIns="0" rtlCol="0" anchor="ctr"/>
          <a:lstStyle/>
          <a:p>
            <a:pPr indent="0" marL="0">
              <a:buNone/>
            </a:pPr>
            <a:r>
              <a:rPr lang="en-US" sz="1200" b="1" spc="80" kern="0" dirty="0">
                <a:solidFill>
                  <a:srgbClr val="FFFFFF"/>
                </a:solidFill>
                <a:latin typeface="Calibri" pitchFamily="34" charset="0"/>
                <a:ea typeface="Calibri" pitchFamily="34" charset="-122"/>
                <a:cs typeface="Calibri" pitchFamily="34" charset="-120"/>
              </a:rPr>
              <a:t>DOMAIN  /  APPLICATION SERVICES</a:t>
            </a:r>
            <a:endParaRPr lang="en-US" sz="1200" dirty="0"/>
          </a:p>
        </p:txBody>
      </p:sp>
      <p:sp>
        <p:nvSpPr>
          <p:cNvPr id="14" name="Text 12"/>
          <p:cNvSpPr txBox="1"/>
          <p:nvPr/>
        </p:nvSpPr>
        <p:spPr>
          <a:xfrm>
            <a:off x="4069080" y="3118104"/>
            <a:ext cx="7360920" cy="603504"/>
          </a:xfrm>
          <a:prstGeom prst="rect">
            <a:avLst/>
          </a:prstGeom>
          <a:noFill/>
          <a:ln/>
        </p:spPr>
        <p:txBody>
          <a:bodyPr wrap="square" lIns="0" tIns="0" rIns="0" bIns="0" rtlCol="0" anchor="ctr"/>
          <a:lstStyle/>
          <a:p>
            <a:pPr indent="0" marL="0">
              <a:buNone/>
            </a:pPr>
            <a:r>
              <a:rPr lang="en-US" sz="1100" dirty="0">
                <a:solidFill>
                  <a:srgbClr val="C6D2F2"/>
                </a:solidFill>
                <a:latin typeface="Calibri" pitchFamily="34" charset="0"/>
                <a:ea typeface="Calibri" pitchFamily="34" charset="-122"/>
                <a:cs typeface="Calibri" pitchFamily="34" charset="-120"/>
              </a:rPr>
              <a:t>LeaveApplication · LeaveCredit · ApprovalWorkflow · LeavePolicyEngine · Otp · LoginSecurity · IntrusionDetection · AuditLogger · Report</a:t>
            </a:r>
            <a:endParaRPr lang="en-US" sz="1100" dirty="0"/>
          </a:p>
        </p:txBody>
      </p:sp>
      <p:sp>
        <p:nvSpPr>
          <p:cNvPr id="15" name="Shape 13"/>
          <p:cNvSpPr/>
          <p:nvPr/>
        </p:nvSpPr>
        <p:spPr>
          <a:xfrm>
            <a:off x="2834640" y="3785616"/>
            <a:ext cx="0" cy="100584"/>
          </a:xfrm>
          <a:prstGeom prst="line">
            <a:avLst/>
          </a:prstGeom>
          <a:noFill/>
          <a:ln w="22225">
            <a:solidFill>
              <a:srgbClr val="9AAAD4"/>
            </a:solidFill>
            <a:prstDash val="solid"/>
            <a:tailEnd type="triangle"/>
          </a:ln>
        </p:spPr>
      </p:sp>
      <p:sp>
        <p:nvSpPr>
          <p:cNvPr id="16" name="Shape 14"/>
          <p:cNvSpPr/>
          <p:nvPr/>
        </p:nvSpPr>
        <p:spPr>
          <a:xfrm>
            <a:off x="566928" y="3886200"/>
            <a:ext cx="11064240" cy="713232"/>
          </a:xfrm>
          <a:prstGeom prst="roundRect">
            <a:avLst>
              <a:gd name="adj" fmla="val 8974"/>
            </a:avLst>
          </a:prstGeom>
          <a:solidFill>
            <a:srgbClr val="2B3B7A"/>
          </a:solidFill>
          <a:ln w="12700">
            <a:solidFill>
              <a:srgbClr val="2B3B7A"/>
            </a:solidFill>
            <a:prstDash val="solid"/>
          </a:ln>
        </p:spPr>
      </p:sp>
      <p:sp>
        <p:nvSpPr>
          <p:cNvPr id="17" name="Text 15"/>
          <p:cNvSpPr txBox="1"/>
          <p:nvPr/>
        </p:nvSpPr>
        <p:spPr>
          <a:xfrm>
            <a:off x="804672" y="3941064"/>
            <a:ext cx="3200400" cy="603504"/>
          </a:xfrm>
          <a:prstGeom prst="rect">
            <a:avLst/>
          </a:prstGeom>
          <a:noFill/>
          <a:ln/>
        </p:spPr>
        <p:txBody>
          <a:bodyPr wrap="square" lIns="0" tIns="0" rIns="0" bIns="0" rtlCol="0" anchor="ctr"/>
          <a:lstStyle/>
          <a:p>
            <a:pPr indent="0" marL="0">
              <a:buNone/>
            </a:pPr>
            <a:r>
              <a:rPr lang="en-US" sz="1200" b="1" spc="80" kern="0" dirty="0">
                <a:solidFill>
                  <a:srgbClr val="FFFFFF"/>
                </a:solidFill>
                <a:latin typeface="Calibri" pitchFamily="34" charset="0"/>
                <a:ea typeface="Calibri" pitchFamily="34" charset="-122"/>
                <a:cs typeface="Calibri" pitchFamily="34" charset="-120"/>
              </a:rPr>
              <a:t>DATA ACCESS</a:t>
            </a:r>
            <a:endParaRPr lang="en-US" sz="1200" dirty="0"/>
          </a:p>
        </p:txBody>
      </p:sp>
      <p:sp>
        <p:nvSpPr>
          <p:cNvPr id="18" name="Text 16"/>
          <p:cNvSpPr txBox="1"/>
          <p:nvPr/>
        </p:nvSpPr>
        <p:spPr>
          <a:xfrm>
            <a:off x="4069080" y="3941064"/>
            <a:ext cx="7360920" cy="603504"/>
          </a:xfrm>
          <a:prstGeom prst="rect">
            <a:avLst/>
          </a:prstGeom>
          <a:noFill/>
          <a:ln/>
        </p:spPr>
        <p:txBody>
          <a:bodyPr wrap="square" lIns="0" tIns="0" rIns="0" bIns="0" rtlCol="0" anchor="ctr"/>
          <a:lstStyle/>
          <a:p>
            <a:pPr indent="0" marL="0">
              <a:buNone/>
            </a:pPr>
            <a:r>
              <a:rPr lang="en-US" sz="1100" dirty="0">
                <a:solidFill>
                  <a:srgbClr val="C6D2F2"/>
                </a:solidFill>
                <a:latin typeface="Calibri" pitchFamily="34" charset="0"/>
                <a:ea typeface="Calibri" pitchFamily="34" charset="-122"/>
                <a:cs typeface="Calibri" pitchFamily="34" charset="-120"/>
              </a:rPr>
              <a:t>Eloquent models &amp; repositories — parameterized queries, transactional balance updates</a:t>
            </a:r>
            <a:endParaRPr lang="en-US" sz="1100" dirty="0"/>
          </a:p>
        </p:txBody>
      </p:sp>
      <p:sp>
        <p:nvSpPr>
          <p:cNvPr id="19" name="Shape 17"/>
          <p:cNvSpPr/>
          <p:nvPr/>
        </p:nvSpPr>
        <p:spPr>
          <a:xfrm>
            <a:off x="2834640" y="4608576"/>
            <a:ext cx="0" cy="100584"/>
          </a:xfrm>
          <a:prstGeom prst="line">
            <a:avLst/>
          </a:prstGeom>
          <a:noFill/>
          <a:ln w="22225">
            <a:solidFill>
              <a:srgbClr val="9AAAD4"/>
            </a:solidFill>
            <a:prstDash val="solid"/>
            <a:tailEnd type="triangle"/>
          </a:ln>
        </p:spPr>
      </p:sp>
      <p:sp>
        <p:nvSpPr>
          <p:cNvPr id="20" name="Shape 18"/>
          <p:cNvSpPr/>
          <p:nvPr/>
        </p:nvSpPr>
        <p:spPr>
          <a:xfrm>
            <a:off x="566928" y="4709160"/>
            <a:ext cx="11064240" cy="713232"/>
          </a:xfrm>
          <a:prstGeom prst="roundRect">
            <a:avLst>
              <a:gd name="adj" fmla="val 8974"/>
            </a:avLst>
          </a:prstGeom>
          <a:solidFill>
            <a:srgbClr val="CADCFC"/>
          </a:solidFill>
          <a:ln w="12700">
            <a:solidFill>
              <a:srgbClr val="CADCFC"/>
            </a:solidFill>
            <a:prstDash val="solid"/>
          </a:ln>
        </p:spPr>
      </p:sp>
      <p:sp>
        <p:nvSpPr>
          <p:cNvPr id="21" name="Text 19"/>
          <p:cNvSpPr txBox="1"/>
          <p:nvPr/>
        </p:nvSpPr>
        <p:spPr>
          <a:xfrm>
            <a:off x="804672" y="4764024"/>
            <a:ext cx="3200400" cy="603504"/>
          </a:xfrm>
          <a:prstGeom prst="rect">
            <a:avLst/>
          </a:prstGeom>
          <a:noFill/>
          <a:ln/>
        </p:spPr>
        <p:txBody>
          <a:bodyPr wrap="square" lIns="0" tIns="0" rIns="0" bIns="0" rtlCol="0" anchor="ctr"/>
          <a:lstStyle/>
          <a:p>
            <a:pPr indent="0" marL="0">
              <a:buNone/>
            </a:pPr>
            <a:r>
              <a:rPr lang="en-US" sz="1200" b="1" spc="80" kern="0" dirty="0">
                <a:solidFill>
                  <a:srgbClr val="1E2761"/>
                </a:solidFill>
                <a:latin typeface="Calibri" pitchFamily="34" charset="0"/>
                <a:ea typeface="Calibri" pitchFamily="34" charset="-122"/>
                <a:cs typeface="Calibri" pitchFamily="34" charset="-120"/>
              </a:rPr>
              <a:t>INFRASTRUCTURE</a:t>
            </a:r>
            <a:endParaRPr lang="en-US" sz="1200" dirty="0"/>
          </a:p>
        </p:txBody>
      </p:sp>
      <p:sp>
        <p:nvSpPr>
          <p:cNvPr id="22" name="Text 20"/>
          <p:cNvSpPr txBox="1"/>
          <p:nvPr/>
        </p:nvSpPr>
        <p:spPr>
          <a:xfrm>
            <a:off x="4069080" y="4764024"/>
            <a:ext cx="7360920" cy="603504"/>
          </a:xfrm>
          <a:prstGeom prst="rect">
            <a:avLst/>
          </a:prstGeom>
          <a:noFill/>
          <a:ln/>
        </p:spPr>
        <p:txBody>
          <a:bodyPr wrap="square" lIns="0" tIns="0" rIns="0" bIns="0" rtlCol="0" anchor="ctr"/>
          <a:lstStyle/>
          <a:p>
            <a:pPr indent="0" marL="0">
              <a:buNone/>
            </a:pPr>
            <a:r>
              <a:rPr lang="en-US" sz="1100" dirty="0">
                <a:solidFill>
                  <a:srgbClr val="3A4670"/>
                </a:solidFill>
                <a:latin typeface="Calibri" pitchFamily="34" charset="0"/>
                <a:ea typeface="Calibri" pitchFamily="34" charset="-122"/>
                <a:cs typeface="Calibri" pitchFamily="34" charset="-120"/>
              </a:rPr>
              <a:t>MySQL / MariaDB · file storage · SMTP mail relay · queue worker · task scheduler</a:t>
            </a:r>
            <a:endParaRPr lang="en-US" sz="1100" dirty="0"/>
          </a:p>
        </p:txBody>
      </p:sp>
      <p:sp>
        <p:nvSpPr>
          <p:cNvPr id="23" name="Shape 21"/>
          <p:cNvSpPr/>
          <p:nvPr/>
        </p:nvSpPr>
        <p:spPr>
          <a:xfrm>
            <a:off x="566928" y="5596128"/>
            <a:ext cx="11064240" cy="566928"/>
          </a:xfrm>
          <a:prstGeom prst="roundRect">
            <a:avLst>
              <a:gd name="adj" fmla="val 12903"/>
            </a:avLst>
          </a:prstGeom>
          <a:solidFill>
            <a:srgbClr val="EEF3FC"/>
          </a:solidFill>
          <a:ln w="12700">
            <a:solidFill>
              <a:srgbClr val="DCE5F6"/>
            </a:solidFill>
            <a:prstDash val="solid"/>
          </a:ln>
        </p:spPr>
      </p:sp>
      <p:sp>
        <p:nvSpPr>
          <p:cNvPr id="24" name="Text 22"/>
          <p:cNvSpPr txBox="1"/>
          <p:nvPr/>
        </p:nvSpPr>
        <p:spPr>
          <a:xfrm>
            <a:off x="804672" y="5596128"/>
            <a:ext cx="10607040" cy="566928"/>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Trust boundary 1  </a:t>
            </a:r>
            <a:pPr indent="0" marL="0">
              <a:buNone/>
            </a:pPr>
            <a:r>
              <a:rPr lang="en-US" sz="1150" dirty="0">
                <a:solidFill>
                  <a:srgbClr val="343B4F"/>
                </a:solidFill>
                <a:latin typeface="Calibri" pitchFamily="34" charset="0"/>
                <a:ea typeface="Calibri" pitchFamily="34" charset="-122"/>
                <a:cs typeface="Calibri" pitchFamily="34" charset="-120"/>
              </a:rPr>
              <a:t>browser ⇄ Apache (TLS) — all input untrusted, validated and IDS-scanned.     </a:t>
            </a:r>
            <a:pPr indent="0" marL="0">
              <a:buNone/>
            </a:pPr>
            <a:r>
              <a:rPr lang="en-US" sz="1150" b="1" dirty="0">
                <a:solidFill>
                  <a:srgbClr val="1E2761"/>
                </a:solidFill>
                <a:latin typeface="Calibri" pitchFamily="34" charset="0"/>
                <a:ea typeface="Calibri" pitchFamily="34" charset="-122"/>
                <a:cs typeface="Calibri" pitchFamily="34" charset="-120"/>
              </a:rPr>
              <a:t>Trust boundary 2  </a:t>
            </a:r>
            <a:pPr indent="0" marL="0">
              <a:buNone/>
            </a:pPr>
            <a:r>
              <a:rPr lang="en-US" sz="1150" dirty="0">
                <a:solidFill>
                  <a:srgbClr val="343B4F"/>
                </a:solidFill>
                <a:latin typeface="Calibri" pitchFamily="34" charset="0"/>
                <a:ea typeface="Calibri" pitchFamily="34" charset="-122"/>
                <a:cs typeface="Calibri" pitchFamily="34" charset="-120"/>
              </a:rPr>
              <a:t>app ⇄ MySQL, bound to localhost only.</a:t>
            </a:r>
            <a:endParaRPr lang="en-US" sz="1150" dirty="0"/>
          </a:p>
        </p:txBody>
      </p:sp>
      <p:sp>
        <p:nvSpPr>
          <p:cNvPr id="25" name="Text 23"/>
          <p:cNvSpPr txBox="1"/>
          <p:nvPr/>
        </p:nvSpPr>
        <p:spPr>
          <a:xfrm>
            <a:off x="566928" y="6272784"/>
            <a:ext cx="11064240" cy="274320"/>
          </a:xfrm>
          <a:prstGeom prst="rect">
            <a:avLst/>
          </a:prstGeom>
          <a:noFill/>
          <a:ln/>
        </p:spPr>
        <p:txBody>
          <a:bodyPr wrap="square" lIns="0" tIns="0" rIns="0" bIns="0" rtlCol="0" anchor="ctr"/>
          <a:lstStyle/>
          <a:p>
            <a:pPr indent="0" marL="0">
              <a:buNone/>
            </a:pP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66928" y="384048"/>
            <a:ext cx="8229600" cy="237744"/>
          </a:xfrm>
          <a:prstGeom prst="rect">
            <a:avLst/>
          </a:prstGeom>
          <a:noFill/>
          <a:ln/>
        </p:spPr>
        <p:txBody>
          <a:bodyPr wrap="square" lIns="0" tIns="0" rIns="0" bIns="0" rtlCol="0" anchor="ctr"/>
          <a:lstStyle/>
          <a:p>
            <a:pPr indent="0" marL="0">
              <a:buNone/>
            </a:pPr>
            <a:r>
              <a:rPr lang="en-US" sz="1100" b="1" spc="160" kern="0" dirty="0">
                <a:solidFill>
                  <a:srgbClr val="78819A"/>
                </a:solidFill>
                <a:latin typeface="Calibri" pitchFamily="34" charset="0"/>
                <a:ea typeface="Calibri" pitchFamily="34" charset="-122"/>
                <a:cs typeface="Calibri" pitchFamily="34" charset="-120"/>
              </a:rPr>
              <a:t>4.3.3  INTEGRATED SECURITY FRAMEWORK</a:t>
            </a:r>
            <a:endParaRPr lang="en-US" sz="1100" dirty="0"/>
          </a:p>
        </p:txBody>
      </p:sp>
      <p:sp>
        <p:nvSpPr>
          <p:cNvPr id="3" name="Text 1"/>
          <p:cNvSpPr txBox="1"/>
          <p:nvPr/>
        </p:nvSpPr>
        <p:spPr>
          <a:xfrm>
            <a:off x="548640" y="621792"/>
            <a:ext cx="11155680" cy="603504"/>
          </a:xfrm>
          <a:prstGeom prst="rect">
            <a:avLst/>
          </a:prstGeom>
          <a:noFill/>
          <a:ln/>
        </p:spPr>
        <p:txBody>
          <a:bodyPr wrap="square" lIns="0" tIns="0" rIns="0" bIns="0" rtlCol="0" anchor="t"/>
          <a:lstStyle/>
          <a:p>
            <a:pPr indent="0" marL="0">
              <a:buNone/>
            </a:pPr>
            <a:r>
              <a:rPr lang="en-US" sz="3200" b="1" dirty="0">
                <a:solidFill>
                  <a:srgbClr val="1E2761"/>
                </a:solidFill>
                <a:latin typeface="Cambria" pitchFamily="34" charset="0"/>
                <a:ea typeface="Cambria" pitchFamily="34" charset="-122"/>
                <a:cs typeface="Cambria" pitchFamily="34" charset="-120"/>
              </a:rPr>
              <a:t>The security kernel — every request, in order</a:t>
            </a:r>
            <a:endParaRPr lang="en-US" sz="3200" dirty="0"/>
          </a:p>
        </p:txBody>
      </p:sp>
      <p:sp>
        <p:nvSpPr>
          <p:cNvPr id="4" name="Shape 2"/>
          <p:cNvSpPr/>
          <p:nvPr/>
        </p:nvSpPr>
        <p:spPr>
          <a:xfrm>
            <a:off x="566928" y="1444752"/>
            <a:ext cx="3520440" cy="1133856"/>
          </a:xfrm>
          <a:prstGeom prst="roundRect">
            <a:avLst>
              <a:gd name="adj" fmla="val 6452"/>
            </a:avLst>
          </a:prstGeom>
          <a:solidFill>
            <a:srgbClr val="EEF3FC"/>
          </a:solidFill>
          <a:ln w="12700">
            <a:solidFill>
              <a:srgbClr val="DCE5F6"/>
            </a:solidFill>
            <a:prstDash val="solid"/>
          </a:ln>
        </p:spPr>
      </p:sp>
      <p:sp>
        <p:nvSpPr>
          <p:cNvPr id="5" name="Shape 3"/>
          <p:cNvSpPr/>
          <p:nvPr/>
        </p:nvSpPr>
        <p:spPr>
          <a:xfrm>
            <a:off x="768096" y="1627632"/>
            <a:ext cx="310896" cy="310896"/>
          </a:xfrm>
          <a:prstGeom prst="ellipse">
            <a:avLst/>
          </a:prstGeom>
          <a:solidFill>
            <a:srgbClr val="1E2761"/>
          </a:solidFill>
          <a:ln w="12700">
            <a:solidFill>
              <a:srgbClr val="1E2761"/>
            </a:solidFill>
            <a:prstDash val="solid"/>
          </a:ln>
        </p:spPr>
      </p:sp>
      <p:sp>
        <p:nvSpPr>
          <p:cNvPr id="6" name="Text 4"/>
          <p:cNvSpPr txBox="1"/>
          <p:nvPr/>
        </p:nvSpPr>
        <p:spPr>
          <a:xfrm>
            <a:off x="768096" y="162763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188720" y="1609344"/>
            <a:ext cx="2743200" cy="256032"/>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Blocked IP check</a:t>
            </a:r>
            <a:endParaRPr lang="en-US" sz="1250" dirty="0"/>
          </a:p>
        </p:txBody>
      </p:sp>
      <p:sp>
        <p:nvSpPr>
          <p:cNvPr id="8" name="Text 6"/>
          <p:cNvSpPr txBox="1"/>
          <p:nvPr/>
        </p:nvSpPr>
        <p:spPr>
          <a:xfrm>
            <a:off x="1188720" y="1901952"/>
            <a:ext cx="2743200" cy="566928"/>
          </a:xfrm>
          <a:prstGeom prst="rect">
            <a:avLst/>
          </a:prstGeom>
          <a:noFill/>
          <a:ln/>
        </p:spPr>
        <p:txBody>
          <a:bodyPr wrap="square" lIns="0" tIns="0" rIns="0" bIns="0" rtlCol="0" anchor="ctr"/>
          <a:lstStyle/>
          <a:p>
            <a:pPr indent="0" marL="0">
              <a:lnSpc>
                <a:spcPts val="1450"/>
              </a:lnSpc>
              <a:buNone/>
            </a:pPr>
            <a:r>
              <a:rPr lang="en-US" sz="1100" dirty="0">
                <a:solidFill>
                  <a:srgbClr val="343B4F"/>
                </a:solidFill>
                <a:latin typeface="Calibri" pitchFamily="34" charset="0"/>
                <a:ea typeface="Calibri" pitchFamily="34" charset="-122"/>
                <a:cs typeface="Calibri" pitchFamily="34" charset="-120"/>
              </a:rPr>
              <a:t>Rejects known-bad sources before any processing</a:t>
            </a:r>
            <a:endParaRPr lang="en-US" sz="1100" dirty="0"/>
          </a:p>
        </p:txBody>
      </p:sp>
      <p:sp>
        <p:nvSpPr>
          <p:cNvPr id="9" name="Shape 7"/>
          <p:cNvSpPr/>
          <p:nvPr/>
        </p:nvSpPr>
        <p:spPr>
          <a:xfrm>
            <a:off x="4123944" y="2011680"/>
            <a:ext cx="109728" cy="0"/>
          </a:xfrm>
          <a:prstGeom prst="line">
            <a:avLst/>
          </a:prstGeom>
          <a:noFill/>
          <a:ln w="22225">
            <a:solidFill>
              <a:srgbClr val="9AAAD4"/>
            </a:solidFill>
            <a:prstDash val="solid"/>
            <a:tailEnd type="triangle"/>
          </a:ln>
        </p:spPr>
      </p:sp>
      <p:sp>
        <p:nvSpPr>
          <p:cNvPr id="10" name="Shape 8"/>
          <p:cNvSpPr/>
          <p:nvPr/>
        </p:nvSpPr>
        <p:spPr>
          <a:xfrm>
            <a:off x="4270248" y="1444752"/>
            <a:ext cx="3520440" cy="1133856"/>
          </a:xfrm>
          <a:prstGeom prst="roundRect">
            <a:avLst>
              <a:gd name="adj" fmla="val 6452"/>
            </a:avLst>
          </a:prstGeom>
          <a:solidFill>
            <a:srgbClr val="EEF3FC"/>
          </a:solidFill>
          <a:ln w="12700">
            <a:solidFill>
              <a:srgbClr val="DCE5F6"/>
            </a:solidFill>
            <a:prstDash val="solid"/>
          </a:ln>
        </p:spPr>
      </p:sp>
      <p:sp>
        <p:nvSpPr>
          <p:cNvPr id="11" name="Shape 9"/>
          <p:cNvSpPr/>
          <p:nvPr/>
        </p:nvSpPr>
        <p:spPr>
          <a:xfrm>
            <a:off x="4471416" y="1627632"/>
            <a:ext cx="310896" cy="310896"/>
          </a:xfrm>
          <a:prstGeom prst="ellipse">
            <a:avLst/>
          </a:prstGeom>
          <a:solidFill>
            <a:srgbClr val="1E2761"/>
          </a:solidFill>
          <a:ln w="12700">
            <a:solidFill>
              <a:srgbClr val="1E2761"/>
            </a:solidFill>
            <a:prstDash val="solid"/>
          </a:ln>
        </p:spPr>
      </p:sp>
      <p:sp>
        <p:nvSpPr>
          <p:cNvPr id="12" name="Text 10"/>
          <p:cNvSpPr txBox="1"/>
          <p:nvPr/>
        </p:nvSpPr>
        <p:spPr>
          <a:xfrm>
            <a:off x="4471416" y="162763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3" name="Text 11"/>
          <p:cNvSpPr txBox="1"/>
          <p:nvPr/>
        </p:nvSpPr>
        <p:spPr>
          <a:xfrm>
            <a:off x="4892040" y="1609344"/>
            <a:ext cx="2743200" cy="256032"/>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Authorized device</a:t>
            </a:r>
            <a:endParaRPr lang="en-US" sz="1250" dirty="0"/>
          </a:p>
        </p:txBody>
      </p:sp>
      <p:sp>
        <p:nvSpPr>
          <p:cNvPr id="14" name="Text 12"/>
          <p:cNvSpPr txBox="1"/>
          <p:nvPr/>
        </p:nvSpPr>
        <p:spPr>
          <a:xfrm>
            <a:off x="4892040" y="1901952"/>
            <a:ext cx="2743200" cy="566928"/>
          </a:xfrm>
          <a:prstGeom prst="rect">
            <a:avLst/>
          </a:prstGeom>
          <a:noFill/>
          <a:ln/>
        </p:spPr>
        <p:txBody>
          <a:bodyPr wrap="square" lIns="0" tIns="0" rIns="0" bIns="0" rtlCol="0" anchor="ctr"/>
          <a:lstStyle/>
          <a:p>
            <a:pPr indent="0" marL="0">
              <a:lnSpc>
                <a:spcPts val="1450"/>
              </a:lnSpc>
              <a:buNone/>
            </a:pPr>
            <a:r>
              <a:rPr lang="en-US" sz="1100" dirty="0">
                <a:solidFill>
                  <a:srgbClr val="343B4F"/>
                </a:solidFill>
                <a:latin typeface="Calibri" pitchFamily="34" charset="0"/>
                <a:ea typeface="Calibri" pitchFamily="34" charset="-122"/>
                <a:cs typeface="Calibri" pitchFamily="34" charset="-120"/>
              </a:rPr>
              <a:t>LAN device allow-list, toggleable per deployment</a:t>
            </a:r>
            <a:endParaRPr lang="en-US" sz="1100" dirty="0"/>
          </a:p>
        </p:txBody>
      </p:sp>
      <p:sp>
        <p:nvSpPr>
          <p:cNvPr id="15" name="Shape 13"/>
          <p:cNvSpPr/>
          <p:nvPr/>
        </p:nvSpPr>
        <p:spPr>
          <a:xfrm>
            <a:off x="7827264" y="2011680"/>
            <a:ext cx="109728" cy="0"/>
          </a:xfrm>
          <a:prstGeom prst="line">
            <a:avLst/>
          </a:prstGeom>
          <a:noFill/>
          <a:ln w="22225">
            <a:solidFill>
              <a:srgbClr val="9AAAD4"/>
            </a:solidFill>
            <a:prstDash val="solid"/>
            <a:tailEnd type="triangle"/>
          </a:ln>
        </p:spPr>
      </p:sp>
      <p:sp>
        <p:nvSpPr>
          <p:cNvPr id="16" name="Shape 14"/>
          <p:cNvSpPr/>
          <p:nvPr/>
        </p:nvSpPr>
        <p:spPr>
          <a:xfrm>
            <a:off x="7973568" y="1444752"/>
            <a:ext cx="3520440" cy="1133856"/>
          </a:xfrm>
          <a:prstGeom prst="roundRect">
            <a:avLst>
              <a:gd name="adj" fmla="val 6452"/>
            </a:avLst>
          </a:prstGeom>
          <a:solidFill>
            <a:srgbClr val="FBEDEA"/>
          </a:solidFill>
          <a:ln w="12700">
            <a:solidFill>
              <a:srgbClr val="F0D3CD"/>
            </a:solidFill>
            <a:prstDash val="solid"/>
          </a:ln>
        </p:spPr>
      </p:sp>
      <p:sp>
        <p:nvSpPr>
          <p:cNvPr id="17" name="Shape 15"/>
          <p:cNvSpPr/>
          <p:nvPr/>
        </p:nvSpPr>
        <p:spPr>
          <a:xfrm>
            <a:off x="8174736" y="1627632"/>
            <a:ext cx="310896" cy="310896"/>
          </a:xfrm>
          <a:prstGeom prst="ellipse">
            <a:avLst/>
          </a:prstGeom>
          <a:solidFill>
            <a:srgbClr val="C43D2B"/>
          </a:solidFill>
          <a:ln w="12700">
            <a:solidFill>
              <a:srgbClr val="C43D2B"/>
            </a:solidFill>
            <a:prstDash val="solid"/>
          </a:ln>
        </p:spPr>
      </p:sp>
      <p:sp>
        <p:nvSpPr>
          <p:cNvPr id="18" name="Text 16"/>
          <p:cNvSpPr txBox="1"/>
          <p:nvPr/>
        </p:nvSpPr>
        <p:spPr>
          <a:xfrm>
            <a:off x="8174736" y="162763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8595360" y="1609344"/>
            <a:ext cx="2743200" cy="256032"/>
          </a:xfrm>
          <a:prstGeom prst="rect">
            <a:avLst/>
          </a:prstGeom>
          <a:noFill/>
          <a:ln/>
        </p:spPr>
        <p:txBody>
          <a:bodyPr wrap="square" lIns="0" tIns="0" rIns="0" bIns="0" rtlCol="0" anchor="ctr"/>
          <a:lstStyle/>
          <a:p>
            <a:pPr indent="0" marL="0">
              <a:buNone/>
            </a:pPr>
            <a:r>
              <a:rPr lang="en-US" sz="1250" b="1" dirty="0">
                <a:solidFill>
                  <a:srgbClr val="C43D2B"/>
                </a:solidFill>
                <a:latin typeface="Calibri" pitchFamily="34" charset="0"/>
                <a:ea typeface="Calibri" pitchFamily="34" charset="-122"/>
                <a:cs typeface="Calibri" pitchFamily="34" charset="-120"/>
              </a:rPr>
              <a:t>Intrusion detection</a:t>
            </a:r>
            <a:endParaRPr lang="en-US" sz="1250" dirty="0"/>
          </a:p>
        </p:txBody>
      </p:sp>
      <p:sp>
        <p:nvSpPr>
          <p:cNvPr id="20" name="Text 18"/>
          <p:cNvSpPr txBox="1"/>
          <p:nvPr/>
        </p:nvSpPr>
        <p:spPr>
          <a:xfrm>
            <a:off x="8595360" y="1901952"/>
            <a:ext cx="2743200" cy="566928"/>
          </a:xfrm>
          <a:prstGeom prst="rect">
            <a:avLst/>
          </a:prstGeom>
          <a:noFill/>
          <a:ln/>
        </p:spPr>
        <p:txBody>
          <a:bodyPr wrap="square" lIns="0" tIns="0" rIns="0" bIns="0" rtlCol="0" anchor="ctr"/>
          <a:lstStyle/>
          <a:p>
            <a:pPr indent="0" marL="0">
              <a:lnSpc>
                <a:spcPts val="1450"/>
              </a:lnSpc>
              <a:buNone/>
            </a:pPr>
            <a:r>
              <a:rPr lang="en-US" sz="1100" dirty="0">
                <a:solidFill>
                  <a:srgbClr val="343B4F"/>
                </a:solidFill>
                <a:latin typeface="Calibri" pitchFamily="34" charset="0"/>
                <a:ea typeface="Calibri" pitchFamily="34" charset="-122"/>
                <a:cs typeface="Calibri" pitchFamily="34" charset="-120"/>
              </a:rPr>
              <a:t>SQLi / XSS / traversal signatures + rate anomaly</a:t>
            </a:r>
            <a:endParaRPr lang="en-US" sz="1100" dirty="0"/>
          </a:p>
        </p:txBody>
      </p:sp>
      <p:sp>
        <p:nvSpPr>
          <p:cNvPr id="21" name="Shape 19"/>
          <p:cNvSpPr/>
          <p:nvPr/>
        </p:nvSpPr>
        <p:spPr>
          <a:xfrm>
            <a:off x="566928" y="2743200"/>
            <a:ext cx="3520440" cy="1133856"/>
          </a:xfrm>
          <a:prstGeom prst="roundRect">
            <a:avLst>
              <a:gd name="adj" fmla="val 6452"/>
            </a:avLst>
          </a:prstGeom>
          <a:solidFill>
            <a:srgbClr val="EEF3FC"/>
          </a:solidFill>
          <a:ln w="12700">
            <a:solidFill>
              <a:srgbClr val="DCE5F6"/>
            </a:solidFill>
            <a:prstDash val="solid"/>
          </a:ln>
        </p:spPr>
      </p:sp>
      <p:sp>
        <p:nvSpPr>
          <p:cNvPr id="22" name="Shape 20"/>
          <p:cNvSpPr/>
          <p:nvPr/>
        </p:nvSpPr>
        <p:spPr>
          <a:xfrm>
            <a:off x="768096" y="2926080"/>
            <a:ext cx="310896" cy="310896"/>
          </a:xfrm>
          <a:prstGeom prst="ellipse">
            <a:avLst/>
          </a:prstGeom>
          <a:solidFill>
            <a:srgbClr val="1E2761"/>
          </a:solidFill>
          <a:ln w="12700">
            <a:solidFill>
              <a:srgbClr val="1E2761"/>
            </a:solidFill>
            <a:prstDash val="solid"/>
          </a:ln>
        </p:spPr>
      </p:sp>
      <p:sp>
        <p:nvSpPr>
          <p:cNvPr id="23" name="Text 21"/>
          <p:cNvSpPr txBox="1"/>
          <p:nvPr/>
        </p:nvSpPr>
        <p:spPr>
          <a:xfrm>
            <a:off x="768096" y="292608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4" name="Text 22"/>
          <p:cNvSpPr txBox="1"/>
          <p:nvPr/>
        </p:nvSpPr>
        <p:spPr>
          <a:xfrm>
            <a:off x="1188720" y="2907792"/>
            <a:ext cx="2743200" cy="256032"/>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Session &amp; CSRF</a:t>
            </a:r>
            <a:endParaRPr lang="en-US" sz="1250" dirty="0"/>
          </a:p>
        </p:txBody>
      </p:sp>
      <p:sp>
        <p:nvSpPr>
          <p:cNvPr id="25" name="Text 23"/>
          <p:cNvSpPr txBox="1"/>
          <p:nvPr/>
        </p:nvSpPr>
        <p:spPr>
          <a:xfrm>
            <a:off x="1188720" y="3200400"/>
            <a:ext cx="2743200" cy="566928"/>
          </a:xfrm>
          <a:prstGeom prst="rect">
            <a:avLst/>
          </a:prstGeom>
          <a:noFill/>
          <a:ln/>
        </p:spPr>
        <p:txBody>
          <a:bodyPr wrap="square" lIns="0" tIns="0" rIns="0" bIns="0" rtlCol="0" anchor="ctr"/>
          <a:lstStyle/>
          <a:p>
            <a:pPr indent="0" marL="0">
              <a:lnSpc>
                <a:spcPts val="1450"/>
              </a:lnSpc>
              <a:buNone/>
            </a:pPr>
            <a:r>
              <a:rPr lang="en-US" sz="1100" dirty="0">
                <a:solidFill>
                  <a:srgbClr val="343B4F"/>
                </a:solidFill>
                <a:latin typeface="Calibri" pitchFamily="34" charset="0"/>
                <a:ea typeface="Calibri" pitchFamily="34" charset="-122"/>
                <a:cs typeface="Calibri" pitchFamily="34" charset="-120"/>
              </a:rPr>
              <a:t>Token failures are recorded as intrusion events</a:t>
            </a:r>
            <a:endParaRPr lang="en-US" sz="1100" dirty="0"/>
          </a:p>
        </p:txBody>
      </p:sp>
      <p:sp>
        <p:nvSpPr>
          <p:cNvPr id="26" name="Shape 24"/>
          <p:cNvSpPr/>
          <p:nvPr/>
        </p:nvSpPr>
        <p:spPr>
          <a:xfrm>
            <a:off x="4123944" y="3310128"/>
            <a:ext cx="109728" cy="0"/>
          </a:xfrm>
          <a:prstGeom prst="line">
            <a:avLst/>
          </a:prstGeom>
          <a:noFill/>
          <a:ln w="22225">
            <a:solidFill>
              <a:srgbClr val="9AAAD4"/>
            </a:solidFill>
            <a:prstDash val="solid"/>
            <a:tailEnd type="triangle"/>
          </a:ln>
        </p:spPr>
      </p:sp>
      <p:sp>
        <p:nvSpPr>
          <p:cNvPr id="27" name="Shape 25"/>
          <p:cNvSpPr/>
          <p:nvPr/>
        </p:nvSpPr>
        <p:spPr>
          <a:xfrm>
            <a:off x="4270248" y="2743200"/>
            <a:ext cx="3520440" cy="1133856"/>
          </a:xfrm>
          <a:prstGeom prst="roundRect">
            <a:avLst>
              <a:gd name="adj" fmla="val 6452"/>
            </a:avLst>
          </a:prstGeom>
          <a:solidFill>
            <a:srgbClr val="EEF3FC"/>
          </a:solidFill>
          <a:ln w="12700">
            <a:solidFill>
              <a:srgbClr val="DCE5F6"/>
            </a:solidFill>
            <a:prstDash val="solid"/>
          </a:ln>
        </p:spPr>
      </p:sp>
      <p:sp>
        <p:nvSpPr>
          <p:cNvPr id="28" name="Shape 26"/>
          <p:cNvSpPr/>
          <p:nvPr/>
        </p:nvSpPr>
        <p:spPr>
          <a:xfrm>
            <a:off x="4471416" y="2926080"/>
            <a:ext cx="310896" cy="310896"/>
          </a:xfrm>
          <a:prstGeom prst="ellipse">
            <a:avLst/>
          </a:prstGeom>
          <a:solidFill>
            <a:srgbClr val="1E2761"/>
          </a:solidFill>
          <a:ln w="12700">
            <a:solidFill>
              <a:srgbClr val="1E2761"/>
            </a:solidFill>
            <a:prstDash val="solid"/>
          </a:ln>
        </p:spPr>
      </p:sp>
      <p:sp>
        <p:nvSpPr>
          <p:cNvPr id="29" name="Text 27"/>
          <p:cNvSpPr txBox="1"/>
          <p:nvPr/>
        </p:nvSpPr>
        <p:spPr>
          <a:xfrm>
            <a:off x="4471416" y="292608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30" name="Text 28"/>
          <p:cNvSpPr txBox="1"/>
          <p:nvPr/>
        </p:nvSpPr>
        <p:spPr>
          <a:xfrm>
            <a:off x="4892040" y="2907792"/>
            <a:ext cx="2743200" cy="256032"/>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Authentication</a:t>
            </a:r>
            <a:endParaRPr lang="en-US" sz="1250" dirty="0"/>
          </a:p>
        </p:txBody>
      </p:sp>
      <p:sp>
        <p:nvSpPr>
          <p:cNvPr id="31" name="Text 29"/>
          <p:cNvSpPr txBox="1"/>
          <p:nvPr/>
        </p:nvSpPr>
        <p:spPr>
          <a:xfrm>
            <a:off x="4892040" y="3200400"/>
            <a:ext cx="2743200" cy="566928"/>
          </a:xfrm>
          <a:prstGeom prst="rect">
            <a:avLst/>
          </a:prstGeom>
          <a:noFill/>
          <a:ln/>
        </p:spPr>
        <p:txBody>
          <a:bodyPr wrap="square" lIns="0" tIns="0" rIns="0" bIns="0" rtlCol="0" anchor="ctr"/>
          <a:lstStyle/>
          <a:p>
            <a:pPr indent="0" marL="0">
              <a:lnSpc>
                <a:spcPts val="1450"/>
              </a:lnSpc>
              <a:buNone/>
            </a:pPr>
            <a:r>
              <a:rPr lang="en-US" sz="1100" dirty="0">
                <a:solidFill>
                  <a:srgbClr val="343B4F"/>
                </a:solidFill>
                <a:latin typeface="Calibri" pitchFamily="34" charset="0"/>
                <a:ea typeface="Calibri" pitchFamily="34" charset="-122"/>
                <a:cs typeface="Calibri" pitchFamily="34" charset="-120"/>
              </a:rPr>
              <a:t>Username + password (bcrypt) then email OTP</a:t>
            </a:r>
            <a:endParaRPr lang="en-US" sz="1100" dirty="0"/>
          </a:p>
        </p:txBody>
      </p:sp>
      <p:sp>
        <p:nvSpPr>
          <p:cNvPr id="32" name="Shape 30"/>
          <p:cNvSpPr/>
          <p:nvPr/>
        </p:nvSpPr>
        <p:spPr>
          <a:xfrm>
            <a:off x="7827264" y="3310128"/>
            <a:ext cx="109728" cy="0"/>
          </a:xfrm>
          <a:prstGeom prst="line">
            <a:avLst/>
          </a:prstGeom>
          <a:noFill/>
          <a:ln w="22225">
            <a:solidFill>
              <a:srgbClr val="9AAAD4"/>
            </a:solidFill>
            <a:prstDash val="solid"/>
            <a:tailEnd type="triangle"/>
          </a:ln>
        </p:spPr>
      </p:sp>
      <p:sp>
        <p:nvSpPr>
          <p:cNvPr id="33" name="Shape 31"/>
          <p:cNvSpPr/>
          <p:nvPr/>
        </p:nvSpPr>
        <p:spPr>
          <a:xfrm>
            <a:off x="7973568" y="2743200"/>
            <a:ext cx="3520440" cy="1133856"/>
          </a:xfrm>
          <a:prstGeom prst="roundRect">
            <a:avLst>
              <a:gd name="adj" fmla="val 6452"/>
            </a:avLst>
          </a:prstGeom>
          <a:solidFill>
            <a:srgbClr val="EEF3FC"/>
          </a:solidFill>
          <a:ln w="12700">
            <a:solidFill>
              <a:srgbClr val="DCE5F6"/>
            </a:solidFill>
            <a:prstDash val="solid"/>
          </a:ln>
        </p:spPr>
      </p:sp>
      <p:sp>
        <p:nvSpPr>
          <p:cNvPr id="34" name="Shape 32"/>
          <p:cNvSpPr/>
          <p:nvPr/>
        </p:nvSpPr>
        <p:spPr>
          <a:xfrm>
            <a:off x="8174736" y="2926080"/>
            <a:ext cx="310896" cy="310896"/>
          </a:xfrm>
          <a:prstGeom prst="ellipse">
            <a:avLst/>
          </a:prstGeom>
          <a:solidFill>
            <a:srgbClr val="1E2761"/>
          </a:solidFill>
          <a:ln w="12700">
            <a:solidFill>
              <a:srgbClr val="1E2761"/>
            </a:solidFill>
            <a:prstDash val="solid"/>
          </a:ln>
        </p:spPr>
      </p:sp>
      <p:sp>
        <p:nvSpPr>
          <p:cNvPr id="35" name="Text 33"/>
          <p:cNvSpPr txBox="1"/>
          <p:nvPr/>
        </p:nvSpPr>
        <p:spPr>
          <a:xfrm>
            <a:off x="8174736" y="292608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36" name="Text 34"/>
          <p:cNvSpPr txBox="1"/>
          <p:nvPr/>
        </p:nvSpPr>
        <p:spPr>
          <a:xfrm>
            <a:off x="8595360" y="2907792"/>
            <a:ext cx="2743200" cy="256032"/>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RBAC permission gate</a:t>
            </a:r>
            <a:endParaRPr lang="en-US" sz="1250" dirty="0"/>
          </a:p>
        </p:txBody>
      </p:sp>
      <p:sp>
        <p:nvSpPr>
          <p:cNvPr id="37" name="Text 35"/>
          <p:cNvSpPr txBox="1"/>
          <p:nvPr/>
        </p:nvSpPr>
        <p:spPr>
          <a:xfrm>
            <a:off x="8595360" y="3200400"/>
            <a:ext cx="2743200" cy="566928"/>
          </a:xfrm>
          <a:prstGeom prst="rect">
            <a:avLst/>
          </a:prstGeom>
          <a:noFill/>
          <a:ln/>
        </p:spPr>
        <p:txBody>
          <a:bodyPr wrap="square" lIns="0" tIns="0" rIns="0" bIns="0" rtlCol="0" anchor="ctr"/>
          <a:lstStyle/>
          <a:p>
            <a:pPr indent="0" marL="0">
              <a:lnSpc>
                <a:spcPts val="1450"/>
              </a:lnSpc>
              <a:buNone/>
            </a:pPr>
            <a:r>
              <a:rPr lang="en-US" sz="1100" dirty="0">
                <a:solidFill>
                  <a:srgbClr val="343B4F"/>
                </a:solidFill>
                <a:latin typeface="Calibri" pitchFamily="34" charset="0"/>
                <a:ea typeface="Calibri" pitchFamily="34" charset="-122"/>
                <a:cs typeface="Calibri" pitchFamily="34" charset="-120"/>
              </a:rPr>
              <a:t>Database-driven roles, inheritance, per-user overrides</a:t>
            </a:r>
            <a:endParaRPr lang="en-US" sz="1100" dirty="0"/>
          </a:p>
        </p:txBody>
      </p:sp>
      <p:sp>
        <p:nvSpPr>
          <p:cNvPr id="38" name="Shape 36"/>
          <p:cNvSpPr/>
          <p:nvPr/>
        </p:nvSpPr>
        <p:spPr>
          <a:xfrm>
            <a:off x="566928" y="4041648"/>
            <a:ext cx="3520440" cy="1133856"/>
          </a:xfrm>
          <a:prstGeom prst="roundRect">
            <a:avLst>
              <a:gd name="adj" fmla="val 6452"/>
            </a:avLst>
          </a:prstGeom>
          <a:solidFill>
            <a:srgbClr val="EEF3FC"/>
          </a:solidFill>
          <a:ln w="12700">
            <a:solidFill>
              <a:srgbClr val="DCE5F6"/>
            </a:solidFill>
            <a:prstDash val="solid"/>
          </a:ln>
        </p:spPr>
      </p:sp>
      <p:sp>
        <p:nvSpPr>
          <p:cNvPr id="39" name="Shape 37"/>
          <p:cNvSpPr/>
          <p:nvPr/>
        </p:nvSpPr>
        <p:spPr>
          <a:xfrm>
            <a:off x="768096" y="4224528"/>
            <a:ext cx="310896" cy="310896"/>
          </a:xfrm>
          <a:prstGeom prst="ellipse">
            <a:avLst/>
          </a:prstGeom>
          <a:solidFill>
            <a:srgbClr val="1E2761"/>
          </a:solidFill>
          <a:ln w="12700">
            <a:solidFill>
              <a:srgbClr val="1E2761"/>
            </a:solidFill>
            <a:prstDash val="solid"/>
          </a:ln>
        </p:spPr>
      </p:sp>
      <p:sp>
        <p:nvSpPr>
          <p:cNvPr id="40" name="Text 38"/>
          <p:cNvSpPr txBox="1"/>
          <p:nvPr/>
        </p:nvSpPr>
        <p:spPr>
          <a:xfrm>
            <a:off x="768096" y="4224528"/>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7</a:t>
            </a:r>
            <a:endParaRPr lang="en-US" sz="1200" dirty="0"/>
          </a:p>
        </p:txBody>
      </p:sp>
      <p:sp>
        <p:nvSpPr>
          <p:cNvPr id="41" name="Text 39"/>
          <p:cNvSpPr txBox="1"/>
          <p:nvPr/>
        </p:nvSpPr>
        <p:spPr>
          <a:xfrm>
            <a:off x="1188720" y="4206240"/>
            <a:ext cx="2743200" cy="256032"/>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Activity logging</a:t>
            </a:r>
            <a:endParaRPr lang="en-US" sz="1250" dirty="0"/>
          </a:p>
        </p:txBody>
      </p:sp>
      <p:sp>
        <p:nvSpPr>
          <p:cNvPr id="42" name="Text 40"/>
          <p:cNvSpPr txBox="1"/>
          <p:nvPr/>
        </p:nvSpPr>
        <p:spPr>
          <a:xfrm>
            <a:off x="1188720" y="4498848"/>
            <a:ext cx="2743200" cy="566928"/>
          </a:xfrm>
          <a:prstGeom prst="rect">
            <a:avLst/>
          </a:prstGeom>
          <a:noFill/>
          <a:ln/>
        </p:spPr>
        <p:txBody>
          <a:bodyPr wrap="square" lIns="0" tIns="0" rIns="0" bIns="0" rtlCol="0" anchor="ctr"/>
          <a:lstStyle/>
          <a:p>
            <a:pPr indent="0" marL="0">
              <a:lnSpc>
                <a:spcPts val="1450"/>
              </a:lnSpc>
              <a:buNone/>
            </a:pPr>
            <a:r>
              <a:rPr lang="en-US" sz="1100" dirty="0">
                <a:solidFill>
                  <a:srgbClr val="343B4F"/>
                </a:solidFill>
                <a:latin typeface="Calibri" pitchFamily="34" charset="0"/>
                <a:ea typeface="Calibri" pitchFamily="34" charset="-122"/>
                <a:cs typeface="Calibri" pitchFamily="34" charset="-120"/>
              </a:rPr>
              <a:t>Page-level trail attributed to the acting user</a:t>
            </a:r>
            <a:endParaRPr lang="en-US" sz="1100" dirty="0"/>
          </a:p>
        </p:txBody>
      </p:sp>
      <p:sp>
        <p:nvSpPr>
          <p:cNvPr id="43" name="Shape 41"/>
          <p:cNvSpPr/>
          <p:nvPr/>
        </p:nvSpPr>
        <p:spPr>
          <a:xfrm>
            <a:off x="4123944" y="4608576"/>
            <a:ext cx="109728" cy="0"/>
          </a:xfrm>
          <a:prstGeom prst="line">
            <a:avLst/>
          </a:prstGeom>
          <a:noFill/>
          <a:ln w="22225">
            <a:solidFill>
              <a:srgbClr val="9AAAD4"/>
            </a:solidFill>
            <a:prstDash val="solid"/>
            <a:tailEnd type="triangle"/>
          </a:ln>
        </p:spPr>
      </p:sp>
      <p:sp>
        <p:nvSpPr>
          <p:cNvPr id="44" name="Shape 42"/>
          <p:cNvSpPr/>
          <p:nvPr/>
        </p:nvSpPr>
        <p:spPr>
          <a:xfrm>
            <a:off x="4270248" y="4041648"/>
            <a:ext cx="3520440" cy="1133856"/>
          </a:xfrm>
          <a:prstGeom prst="roundRect">
            <a:avLst>
              <a:gd name="adj" fmla="val 6452"/>
            </a:avLst>
          </a:prstGeom>
          <a:solidFill>
            <a:srgbClr val="EEF3FC"/>
          </a:solidFill>
          <a:ln w="12700">
            <a:solidFill>
              <a:srgbClr val="DCE5F6"/>
            </a:solidFill>
            <a:prstDash val="solid"/>
          </a:ln>
        </p:spPr>
      </p:sp>
      <p:sp>
        <p:nvSpPr>
          <p:cNvPr id="45" name="Shape 43"/>
          <p:cNvSpPr/>
          <p:nvPr/>
        </p:nvSpPr>
        <p:spPr>
          <a:xfrm>
            <a:off x="4471416" y="4224528"/>
            <a:ext cx="310896" cy="310896"/>
          </a:xfrm>
          <a:prstGeom prst="ellipse">
            <a:avLst/>
          </a:prstGeom>
          <a:solidFill>
            <a:srgbClr val="1E2761"/>
          </a:solidFill>
          <a:ln w="12700">
            <a:solidFill>
              <a:srgbClr val="1E2761"/>
            </a:solidFill>
            <a:prstDash val="solid"/>
          </a:ln>
        </p:spPr>
      </p:sp>
      <p:sp>
        <p:nvSpPr>
          <p:cNvPr id="46" name="Text 44"/>
          <p:cNvSpPr txBox="1"/>
          <p:nvPr/>
        </p:nvSpPr>
        <p:spPr>
          <a:xfrm>
            <a:off x="4471416" y="4224528"/>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8</a:t>
            </a:r>
            <a:endParaRPr lang="en-US" sz="1200" dirty="0"/>
          </a:p>
        </p:txBody>
      </p:sp>
      <p:sp>
        <p:nvSpPr>
          <p:cNvPr id="47" name="Text 45"/>
          <p:cNvSpPr txBox="1"/>
          <p:nvPr/>
        </p:nvSpPr>
        <p:spPr>
          <a:xfrm>
            <a:off x="4892040" y="4206240"/>
            <a:ext cx="2743200" cy="256032"/>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Audit trail</a:t>
            </a:r>
            <a:endParaRPr lang="en-US" sz="1250" dirty="0"/>
          </a:p>
        </p:txBody>
      </p:sp>
      <p:sp>
        <p:nvSpPr>
          <p:cNvPr id="48" name="Text 46"/>
          <p:cNvSpPr txBox="1"/>
          <p:nvPr/>
        </p:nvSpPr>
        <p:spPr>
          <a:xfrm>
            <a:off x="4892040" y="4498848"/>
            <a:ext cx="2743200" cy="566928"/>
          </a:xfrm>
          <a:prstGeom prst="rect">
            <a:avLst/>
          </a:prstGeom>
          <a:noFill/>
          <a:ln/>
        </p:spPr>
        <p:txBody>
          <a:bodyPr wrap="square" lIns="0" tIns="0" rIns="0" bIns="0" rtlCol="0" anchor="ctr"/>
          <a:lstStyle/>
          <a:p>
            <a:pPr indent="0" marL="0">
              <a:lnSpc>
                <a:spcPts val="1450"/>
              </a:lnSpc>
              <a:buNone/>
            </a:pPr>
            <a:r>
              <a:rPr lang="en-US" sz="1100" dirty="0">
                <a:solidFill>
                  <a:srgbClr val="343B4F"/>
                </a:solidFill>
                <a:latin typeface="Calibri" pitchFamily="34" charset="0"/>
                <a:ea typeface="Calibri" pitchFamily="34" charset="-122"/>
                <a:cs typeface="Calibri" pitchFamily="34" charset="-120"/>
              </a:rPr>
              <a:t>Append-only record of every state change</a:t>
            </a:r>
            <a:endParaRPr lang="en-US" sz="1100" dirty="0"/>
          </a:p>
        </p:txBody>
      </p:sp>
      <p:sp>
        <p:nvSpPr>
          <p:cNvPr id="49" name="Shape 47"/>
          <p:cNvSpPr/>
          <p:nvPr/>
        </p:nvSpPr>
        <p:spPr>
          <a:xfrm>
            <a:off x="7827264" y="4608576"/>
            <a:ext cx="109728" cy="0"/>
          </a:xfrm>
          <a:prstGeom prst="line">
            <a:avLst/>
          </a:prstGeom>
          <a:noFill/>
          <a:ln w="22225">
            <a:solidFill>
              <a:srgbClr val="9AAAD4"/>
            </a:solidFill>
            <a:prstDash val="solid"/>
            <a:tailEnd type="triangle"/>
          </a:ln>
        </p:spPr>
      </p:sp>
      <p:sp>
        <p:nvSpPr>
          <p:cNvPr id="50" name="Shape 48"/>
          <p:cNvSpPr/>
          <p:nvPr/>
        </p:nvSpPr>
        <p:spPr>
          <a:xfrm>
            <a:off x="7973568" y="4041648"/>
            <a:ext cx="3520440" cy="1133856"/>
          </a:xfrm>
          <a:prstGeom prst="roundRect">
            <a:avLst>
              <a:gd name="adj" fmla="val 6452"/>
            </a:avLst>
          </a:prstGeom>
          <a:solidFill>
            <a:srgbClr val="EEF3FC"/>
          </a:solidFill>
          <a:ln w="12700">
            <a:solidFill>
              <a:srgbClr val="DCE5F6"/>
            </a:solidFill>
            <a:prstDash val="solid"/>
          </a:ln>
        </p:spPr>
      </p:sp>
      <p:sp>
        <p:nvSpPr>
          <p:cNvPr id="51" name="Shape 49"/>
          <p:cNvSpPr/>
          <p:nvPr/>
        </p:nvSpPr>
        <p:spPr>
          <a:xfrm>
            <a:off x="8174736" y="4224528"/>
            <a:ext cx="310896" cy="310896"/>
          </a:xfrm>
          <a:prstGeom prst="ellipse">
            <a:avLst/>
          </a:prstGeom>
          <a:solidFill>
            <a:srgbClr val="1E2761"/>
          </a:solidFill>
          <a:ln w="12700">
            <a:solidFill>
              <a:srgbClr val="1E2761"/>
            </a:solidFill>
            <a:prstDash val="solid"/>
          </a:ln>
        </p:spPr>
      </p:sp>
      <p:sp>
        <p:nvSpPr>
          <p:cNvPr id="52" name="Text 50"/>
          <p:cNvSpPr txBox="1"/>
          <p:nvPr/>
        </p:nvSpPr>
        <p:spPr>
          <a:xfrm>
            <a:off x="8174736" y="4224528"/>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9</a:t>
            </a:r>
            <a:endParaRPr lang="en-US" sz="1200" dirty="0"/>
          </a:p>
        </p:txBody>
      </p:sp>
      <p:sp>
        <p:nvSpPr>
          <p:cNvPr id="53" name="Text 51"/>
          <p:cNvSpPr txBox="1"/>
          <p:nvPr/>
        </p:nvSpPr>
        <p:spPr>
          <a:xfrm>
            <a:off x="8595360" y="4206240"/>
            <a:ext cx="2743200" cy="256032"/>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Security headers</a:t>
            </a:r>
            <a:endParaRPr lang="en-US" sz="1250" dirty="0"/>
          </a:p>
        </p:txBody>
      </p:sp>
      <p:sp>
        <p:nvSpPr>
          <p:cNvPr id="54" name="Text 52"/>
          <p:cNvSpPr txBox="1"/>
          <p:nvPr/>
        </p:nvSpPr>
        <p:spPr>
          <a:xfrm>
            <a:off x="8595360" y="4498848"/>
            <a:ext cx="2743200" cy="566928"/>
          </a:xfrm>
          <a:prstGeom prst="rect">
            <a:avLst/>
          </a:prstGeom>
          <a:noFill/>
          <a:ln/>
        </p:spPr>
        <p:txBody>
          <a:bodyPr wrap="square" lIns="0" tIns="0" rIns="0" bIns="0" rtlCol="0" anchor="ctr"/>
          <a:lstStyle/>
          <a:p>
            <a:pPr indent="0" marL="0">
              <a:lnSpc>
                <a:spcPts val="1450"/>
              </a:lnSpc>
              <a:buNone/>
            </a:pPr>
            <a:r>
              <a:rPr lang="en-US" sz="1100" dirty="0">
                <a:solidFill>
                  <a:srgbClr val="343B4F"/>
                </a:solidFill>
                <a:latin typeface="Calibri" pitchFamily="34" charset="0"/>
                <a:ea typeface="Calibri" pitchFamily="34" charset="-122"/>
                <a:cs typeface="Calibri" pitchFamily="34" charset="-120"/>
              </a:rPr>
              <a:t>CSP · X-Frame-Options · nosniff · Referrer-Policy · HSTS</a:t>
            </a:r>
            <a:endParaRPr lang="en-US" sz="1100" dirty="0"/>
          </a:p>
        </p:txBody>
      </p:sp>
      <p:sp>
        <p:nvSpPr>
          <p:cNvPr id="55" name="Shape 53"/>
          <p:cNvSpPr/>
          <p:nvPr/>
        </p:nvSpPr>
        <p:spPr>
          <a:xfrm>
            <a:off x="566928" y="5394960"/>
            <a:ext cx="11064240" cy="713232"/>
          </a:xfrm>
          <a:prstGeom prst="roundRect">
            <a:avLst>
              <a:gd name="adj" fmla="val 10256"/>
            </a:avLst>
          </a:prstGeom>
          <a:solidFill>
            <a:srgbClr val="1E2761"/>
          </a:solidFill>
          <a:ln w="12700">
            <a:solidFill>
              <a:srgbClr val="1E2761"/>
            </a:solidFill>
            <a:prstDash val="solid"/>
          </a:ln>
        </p:spPr>
      </p:sp>
      <p:sp>
        <p:nvSpPr>
          <p:cNvPr id="56" name="Text 54"/>
          <p:cNvSpPr txBox="1"/>
          <p:nvPr/>
        </p:nvSpPr>
        <p:spPr>
          <a:xfrm>
            <a:off x="822960" y="5394960"/>
            <a:ext cx="10561320" cy="713232"/>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Defense in depth — no single mechanism is relied on. A request must clear network restriction, transport security, request filtering, identity, and authorization before it can change a leave record.</a:t>
            </a:r>
            <a:endParaRPr lang="en-US" sz="1200" dirty="0"/>
          </a:p>
        </p:txBody>
      </p:sp>
      <p:sp>
        <p:nvSpPr>
          <p:cNvPr id="57" name="Text 55"/>
          <p:cNvSpPr txBox="1"/>
          <p:nvPr/>
        </p:nvSpPr>
        <p:spPr>
          <a:xfrm>
            <a:off x="566928" y="6272784"/>
            <a:ext cx="11064240" cy="274320"/>
          </a:xfrm>
          <a:prstGeom prst="rect">
            <a:avLst/>
          </a:prstGeom>
          <a:noFill/>
          <a:ln/>
        </p:spPr>
        <p:txBody>
          <a:bodyPr wrap="square" lIns="0" tIns="0" rIns="0" bIns="0" rtlCol="0" anchor="ctr"/>
          <a:lstStyle/>
          <a:p>
            <a:pPr indent="0" marL="0">
              <a:buNone/>
            </a:pP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66928" y="384048"/>
            <a:ext cx="8229600" cy="237744"/>
          </a:xfrm>
          <a:prstGeom prst="rect">
            <a:avLst/>
          </a:prstGeom>
          <a:noFill/>
          <a:ln/>
        </p:spPr>
        <p:txBody>
          <a:bodyPr wrap="square" lIns="0" tIns="0" rIns="0" bIns="0" rtlCol="0" anchor="ctr"/>
          <a:lstStyle/>
          <a:p>
            <a:pPr indent="0" marL="0">
              <a:buNone/>
            </a:pPr>
            <a:r>
              <a:rPr lang="en-US" sz="1100" b="1" spc="160" kern="0" dirty="0">
                <a:solidFill>
                  <a:srgbClr val="78819A"/>
                </a:solidFill>
                <a:latin typeface="Calibri" pitchFamily="34" charset="0"/>
                <a:ea typeface="Calibri" pitchFamily="34" charset="-122"/>
                <a:cs typeface="Calibri" pitchFamily="34" charset="-120"/>
              </a:rPr>
              <a:t>4.4.3  REAL-TIME INTRUSION ALERT WORKFLOW</a:t>
            </a:r>
            <a:endParaRPr lang="en-US" sz="1100" dirty="0"/>
          </a:p>
        </p:txBody>
      </p:sp>
      <p:sp>
        <p:nvSpPr>
          <p:cNvPr id="3" name="Text 1"/>
          <p:cNvSpPr txBox="1"/>
          <p:nvPr/>
        </p:nvSpPr>
        <p:spPr>
          <a:xfrm>
            <a:off x="548640" y="621792"/>
            <a:ext cx="11155680" cy="603504"/>
          </a:xfrm>
          <a:prstGeom prst="rect">
            <a:avLst/>
          </a:prstGeom>
          <a:noFill/>
          <a:ln/>
        </p:spPr>
        <p:txBody>
          <a:bodyPr wrap="square" lIns="0" tIns="0" rIns="0" bIns="0" rtlCol="0" anchor="t"/>
          <a:lstStyle/>
          <a:p>
            <a:pPr indent="0" marL="0">
              <a:buNone/>
            </a:pPr>
            <a:r>
              <a:rPr lang="en-US" sz="3200" b="1" dirty="0">
                <a:solidFill>
                  <a:srgbClr val="1E2761"/>
                </a:solidFill>
                <a:latin typeface="Cambria" pitchFamily="34" charset="0"/>
                <a:ea typeface="Cambria" pitchFamily="34" charset="-122"/>
                <a:cs typeface="Cambria" pitchFamily="34" charset="-120"/>
              </a:rPr>
              <a:t>Detect, record, block, notify</a:t>
            </a:r>
            <a:endParaRPr lang="en-US" sz="3200" dirty="0"/>
          </a:p>
        </p:txBody>
      </p:sp>
      <p:sp>
        <p:nvSpPr>
          <p:cNvPr id="4" name="Shape 2"/>
          <p:cNvSpPr/>
          <p:nvPr/>
        </p:nvSpPr>
        <p:spPr>
          <a:xfrm>
            <a:off x="566928" y="1481328"/>
            <a:ext cx="2084832" cy="2103120"/>
          </a:xfrm>
          <a:prstGeom prst="roundRect">
            <a:avLst>
              <a:gd name="adj" fmla="val 3509"/>
            </a:avLst>
          </a:prstGeom>
          <a:solidFill>
            <a:srgbClr val="EEF3FC"/>
          </a:solidFill>
          <a:ln w="12700">
            <a:solidFill>
              <a:srgbClr val="DCE5F6"/>
            </a:solidFill>
            <a:prstDash val="solid"/>
          </a:ln>
        </p:spPr>
      </p:sp>
      <p:sp>
        <p:nvSpPr>
          <p:cNvPr id="5" name="Shape 3"/>
          <p:cNvSpPr/>
          <p:nvPr/>
        </p:nvSpPr>
        <p:spPr>
          <a:xfrm>
            <a:off x="749808" y="1664208"/>
            <a:ext cx="329184" cy="329184"/>
          </a:xfrm>
          <a:prstGeom prst="ellipse">
            <a:avLst/>
          </a:prstGeom>
          <a:solidFill>
            <a:srgbClr val="1E2761"/>
          </a:solidFill>
          <a:ln w="12700">
            <a:solidFill>
              <a:srgbClr val="1E2761"/>
            </a:solidFill>
            <a:prstDash val="solid"/>
          </a:ln>
        </p:spPr>
      </p:sp>
      <p:sp>
        <p:nvSpPr>
          <p:cNvPr id="6" name="Text 4"/>
          <p:cNvSpPr txBox="1"/>
          <p:nvPr/>
        </p:nvSpPr>
        <p:spPr>
          <a:xfrm>
            <a:off x="749808" y="166420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749808" y="2139696"/>
            <a:ext cx="1755648" cy="457200"/>
          </a:xfrm>
          <a:prstGeom prst="rect">
            <a:avLst/>
          </a:prstGeom>
          <a:noFill/>
          <a:ln/>
        </p:spPr>
        <p:txBody>
          <a:bodyPr wrap="square" lIns="0" tIns="0" rIns="0" bIns="0" rtlCol="0" anchor="ctr"/>
          <a:lstStyle/>
          <a:p>
            <a:pPr indent="0" marL="0">
              <a:lnSpc>
                <a:spcPts val="1700"/>
              </a:lnSpc>
              <a:buNone/>
            </a:pPr>
            <a:r>
              <a:rPr lang="en-US" sz="1300" b="1" dirty="0">
                <a:solidFill>
                  <a:srgbClr val="1E2761"/>
                </a:solidFill>
                <a:latin typeface="Calibri" pitchFamily="34" charset="0"/>
                <a:ea typeface="Calibri" pitchFamily="34" charset="-122"/>
                <a:cs typeface="Calibri" pitchFamily="34" charset="-120"/>
              </a:rPr>
              <a:t>Login attempt</a:t>
            </a:r>
            <a:endParaRPr lang="en-US" sz="1300" dirty="0"/>
          </a:p>
        </p:txBody>
      </p:sp>
      <p:sp>
        <p:nvSpPr>
          <p:cNvPr id="8" name="Text 6"/>
          <p:cNvSpPr txBox="1"/>
          <p:nvPr/>
        </p:nvSpPr>
        <p:spPr>
          <a:xfrm>
            <a:off x="749808" y="2633472"/>
            <a:ext cx="1755648" cy="822960"/>
          </a:xfrm>
          <a:prstGeom prst="rect">
            <a:avLst/>
          </a:prstGeom>
          <a:noFill/>
          <a:ln/>
        </p:spPr>
        <p:txBody>
          <a:bodyPr wrap="square" lIns="0" tIns="0" rIns="0" bIns="0" rtlCol="0" anchor="ctr"/>
          <a:lstStyle/>
          <a:p>
            <a:pPr indent="0" marL="0">
              <a:lnSpc>
                <a:spcPts val="1450"/>
              </a:lnSpc>
              <a:buNone/>
            </a:pPr>
            <a:r>
              <a:rPr lang="en-US" sz="1100" dirty="0">
                <a:solidFill>
                  <a:srgbClr val="343B4F"/>
                </a:solidFill>
                <a:latin typeface="Calibri" pitchFamily="34" charset="0"/>
                <a:ea typeface="Calibri" pitchFamily="34" charset="-122"/>
                <a:cs typeface="Calibri" pitchFamily="34" charset="-120"/>
              </a:rPr>
              <a:t>Credentials and OTP submitted from a LAN client</a:t>
            </a:r>
            <a:endParaRPr lang="en-US" sz="1100" dirty="0"/>
          </a:p>
        </p:txBody>
      </p:sp>
      <p:sp>
        <p:nvSpPr>
          <p:cNvPr id="9" name="Shape 7"/>
          <p:cNvSpPr/>
          <p:nvPr/>
        </p:nvSpPr>
        <p:spPr>
          <a:xfrm>
            <a:off x="2679192" y="2532888"/>
            <a:ext cx="146304" cy="0"/>
          </a:xfrm>
          <a:prstGeom prst="line">
            <a:avLst/>
          </a:prstGeom>
          <a:noFill/>
          <a:ln w="22225">
            <a:solidFill>
              <a:srgbClr val="1E2761"/>
            </a:solidFill>
            <a:prstDash val="solid"/>
            <a:tailEnd type="triangle"/>
          </a:ln>
        </p:spPr>
      </p:sp>
      <p:sp>
        <p:nvSpPr>
          <p:cNvPr id="10" name="Shape 8"/>
          <p:cNvSpPr/>
          <p:nvPr/>
        </p:nvSpPr>
        <p:spPr>
          <a:xfrm>
            <a:off x="2852928" y="1481328"/>
            <a:ext cx="2084832" cy="2103120"/>
          </a:xfrm>
          <a:prstGeom prst="roundRect">
            <a:avLst>
              <a:gd name="adj" fmla="val 3509"/>
            </a:avLst>
          </a:prstGeom>
          <a:solidFill>
            <a:srgbClr val="EEF3FC"/>
          </a:solidFill>
          <a:ln w="12700">
            <a:solidFill>
              <a:srgbClr val="DCE5F6"/>
            </a:solidFill>
            <a:prstDash val="solid"/>
          </a:ln>
        </p:spPr>
      </p:sp>
      <p:sp>
        <p:nvSpPr>
          <p:cNvPr id="11" name="Shape 9"/>
          <p:cNvSpPr/>
          <p:nvPr/>
        </p:nvSpPr>
        <p:spPr>
          <a:xfrm>
            <a:off x="3035808" y="1664208"/>
            <a:ext cx="329184" cy="329184"/>
          </a:xfrm>
          <a:prstGeom prst="ellipse">
            <a:avLst/>
          </a:prstGeom>
          <a:solidFill>
            <a:srgbClr val="1E2761"/>
          </a:solidFill>
          <a:ln w="12700">
            <a:solidFill>
              <a:srgbClr val="1E2761"/>
            </a:solidFill>
            <a:prstDash val="solid"/>
          </a:ln>
        </p:spPr>
      </p:sp>
      <p:sp>
        <p:nvSpPr>
          <p:cNvPr id="12" name="Text 10"/>
          <p:cNvSpPr txBox="1"/>
          <p:nvPr/>
        </p:nvSpPr>
        <p:spPr>
          <a:xfrm>
            <a:off x="3035808" y="166420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3" name="Text 11"/>
          <p:cNvSpPr txBox="1"/>
          <p:nvPr/>
        </p:nvSpPr>
        <p:spPr>
          <a:xfrm>
            <a:off x="3035808" y="2139696"/>
            <a:ext cx="1755648" cy="457200"/>
          </a:xfrm>
          <a:prstGeom prst="rect">
            <a:avLst/>
          </a:prstGeom>
          <a:noFill/>
          <a:ln/>
        </p:spPr>
        <p:txBody>
          <a:bodyPr wrap="square" lIns="0" tIns="0" rIns="0" bIns="0" rtlCol="0" anchor="ctr"/>
          <a:lstStyle/>
          <a:p>
            <a:pPr indent="0" marL="0">
              <a:lnSpc>
                <a:spcPts val="1700"/>
              </a:lnSpc>
              <a:buNone/>
            </a:pPr>
            <a:r>
              <a:rPr lang="en-US" sz="1300" b="1" dirty="0">
                <a:solidFill>
                  <a:srgbClr val="1E2761"/>
                </a:solidFill>
                <a:latin typeface="Calibri" pitchFamily="34" charset="0"/>
                <a:ea typeface="Calibri" pitchFamily="34" charset="-122"/>
                <a:cs typeface="Calibri" pitchFamily="34" charset="-120"/>
              </a:rPr>
              <a:t>Verify &amp; record</a:t>
            </a:r>
            <a:endParaRPr lang="en-US" sz="1300" dirty="0"/>
          </a:p>
        </p:txBody>
      </p:sp>
      <p:sp>
        <p:nvSpPr>
          <p:cNvPr id="14" name="Text 12"/>
          <p:cNvSpPr txBox="1"/>
          <p:nvPr/>
        </p:nvSpPr>
        <p:spPr>
          <a:xfrm>
            <a:off x="3035808" y="2633472"/>
            <a:ext cx="1755648" cy="822960"/>
          </a:xfrm>
          <a:prstGeom prst="rect">
            <a:avLst/>
          </a:prstGeom>
          <a:noFill/>
          <a:ln/>
        </p:spPr>
        <p:txBody>
          <a:bodyPr wrap="square" lIns="0" tIns="0" rIns="0" bIns="0" rtlCol="0" anchor="ctr"/>
          <a:lstStyle/>
          <a:p>
            <a:pPr indent="0" marL="0">
              <a:lnSpc>
                <a:spcPts val="1450"/>
              </a:lnSpc>
              <a:buNone/>
            </a:pPr>
            <a:r>
              <a:rPr lang="en-US" sz="1100" dirty="0">
                <a:solidFill>
                  <a:srgbClr val="343B4F"/>
                </a:solidFill>
                <a:latin typeface="Calibri" pitchFamily="34" charset="0"/>
                <a:ea typeface="Calibri" pitchFamily="34" charset="-122"/>
                <a:cs typeface="Calibri" pitchFamily="34" charset="-120"/>
              </a:rPr>
              <a:t>Failed attempt logged with username, IP, device, timestamp</a:t>
            </a:r>
            <a:endParaRPr lang="en-US" sz="1100" dirty="0"/>
          </a:p>
        </p:txBody>
      </p:sp>
      <p:sp>
        <p:nvSpPr>
          <p:cNvPr id="15" name="Shape 13"/>
          <p:cNvSpPr/>
          <p:nvPr/>
        </p:nvSpPr>
        <p:spPr>
          <a:xfrm>
            <a:off x="4965192" y="2532888"/>
            <a:ext cx="146304" cy="0"/>
          </a:xfrm>
          <a:prstGeom prst="line">
            <a:avLst/>
          </a:prstGeom>
          <a:noFill/>
          <a:ln w="22225">
            <a:solidFill>
              <a:srgbClr val="1E2761"/>
            </a:solidFill>
            <a:prstDash val="solid"/>
            <a:tailEnd type="triangle"/>
          </a:ln>
        </p:spPr>
      </p:sp>
      <p:sp>
        <p:nvSpPr>
          <p:cNvPr id="16" name="Shape 14"/>
          <p:cNvSpPr/>
          <p:nvPr/>
        </p:nvSpPr>
        <p:spPr>
          <a:xfrm>
            <a:off x="5138928" y="1481328"/>
            <a:ext cx="2084832" cy="2103120"/>
          </a:xfrm>
          <a:prstGeom prst="roundRect">
            <a:avLst>
              <a:gd name="adj" fmla="val 3509"/>
            </a:avLst>
          </a:prstGeom>
          <a:solidFill>
            <a:srgbClr val="EEF3FC"/>
          </a:solidFill>
          <a:ln w="12700">
            <a:solidFill>
              <a:srgbClr val="DCE5F6"/>
            </a:solidFill>
            <a:prstDash val="solid"/>
          </a:ln>
        </p:spPr>
      </p:sp>
      <p:sp>
        <p:nvSpPr>
          <p:cNvPr id="17" name="Shape 15"/>
          <p:cNvSpPr/>
          <p:nvPr/>
        </p:nvSpPr>
        <p:spPr>
          <a:xfrm>
            <a:off x="5321808" y="1664208"/>
            <a:ext cx="329184" cy="329184"/>
          </a:xfrm>
          <a:prstGeom prst="ellipse">
            <a:avLst/>
          </a:prstGeom>
          <a:solidFill>
            <a:srgbClr val="1E2761"/>
          </a:solidFill>
          <a:ln w="12700">
            <a:solidFill>
              <a:srgbClr val="1E2761"/>
            </a:solidFill>
            <a:prstDash val="solid"/>
          </a:ln>
        </p:spPr>
      </p:sp>
      <p:sp>
        <p:nvSpPr>
          <p:cNvPr id="18" name="Text 16"/>
          <p:cNvSpPr txBox="1"/>
          <p:nvPr/>
        </p:nvSpPr>
        <p:spPr>
          <a:xfrm>
            <a:off x="5321808" y="166420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5321808" y="2139696"/>
            <a:ext cx="1755648" cy="457200"/>
          </a:xfrm>
          <a:prstGeom prst="rect">
            <a:avLst/>
          </a:prstGeom>
          <a:noFill/>
          <a:ln/>
        </p:spPr>
        <p:txBody>
          <a:bodyPr wrap="square" lIns="0" tIns="0" rIns="0" bIns="0" rtlCol="0" anchor="ctr"/>
          <a:lstStyle/>
          <a:p>
            <a:pPr indent="0" marL="0">
              <a:lnSpc>
                <a:spcPts val="1700"/>
              </a:lnSpc>
              <a:buNone/>
            </a:pPr>
            <a:r>
              <a:rPr lang="en-US" sz="1300" b="1" dirty="0">
                <a:solidFill>
                  <a:srgbClr val="1E2761"/>
                </a:solidFill>
                <a:latin typeface="Calibri" pitchFamily="34" charset="0"/>
                <a:ea typeface="Calibri" pitchFamily="34" charset="-122"/>
                <a:cs typeface="Calibri" pitchFamily="34" charset="-120"/>
              </a:rPr>
              <a:t>Threshold check</a:t>
            </a:r>
            <a:endParaRPr lang="en-US" sz="1300" dirty="0"/>
          </a:p>
        </p:txBody>
      </p:sp>
      <p:sp>
        <p:nvSpPr>
          <p:cNvPr id="20" name="Text 18"/>
          <p:cNvSpPr txBox="1"/>
          <p:nvPr/>
        </p:nvSpPr>
        <p:spPr>
          <a:xfrm>
            <a:off x="5321808" y="2633472"/>
            <a:ext cx="1755648" cy="822960"/>
          </a:xfrm>
          <a:prstGeom prst="rect">
            <a:avLst/>
          </a:prstGeom>
          <a:noFill/>
          <a:ln/>
        </p:spPr>
        <p:txBody>
          <a:bodyPr wrap="square" lIns="0" tIns="0" rIns="0" bIns="0" rtlCol="0" anchor="ctr"/>
          <a:lstStyle/>
          <a:p>
            <a:pPr indent="0" marL="0">
              <a:lnSpc>
                <a:spcPts val="1450"/>
              </a:lnSpc>
              <a:buNone/>
            </a:pPr>
            <a:r>
              <a:rPr lang="en-US" sz="1100" dirty="0">
                <a:solidFill>
                  <a:srgbClr val="343B4F"/>
                </a:solidFill>
                <a:latin typeface="Calibri" pitchFamily="34" charset="0"/>
                <a:ea typeface="Calibri" pitchFamily="34" charset="-122"/>
                <a:cs typeface="Calibri" pitchFamily="34" charset="-120"/>
              </a:rPr>
              <a:t>Repeated failures from one account or IP are correlated</a:t>
            </a:r>
            <a:endParaRPr lang="en-US" sz="1100" dirty="0"/>
          </a:p>
        </p:txBody>
      </p:sp>
      <p:sp>
        <p:nvSpPr>
          <p:cNvPr id="21" name="Shape 19"/>
          <p:cNvSpPr/>
          <p:nvPr/>
        </p:nvSpPr>
        <p:spPr>
          <a:xfrm>
            <a:off x="7251192" y="2532888"/>
            <a:ext cx="146304" cy="0"/>
          </a:xfrm>
          <a:prstGeom prst="line">
            <a:avLst/>
          </a:prstGeom>
          <a:noFill/>
          <a:ln w="22225">
            <a:solidFill>
              <a:srgbClr val="1E2761"/>
            </a:solidFill>
            <a:prstDash val="solid"/>
            <a:tailEnd type="triangle"/>
          </a:ln>
        </p:spPr>
      </p:sp>
      <p:sp>
        <p:nvSpPr>
          <p:cNvPr id="22" name="Shape 20"/>
          <p:cNvSpPr/>
          <p:nvPr/>
        </p:nvSpPr>
        <p:spPr>
          <a:xfrm>
            <a:off x="7424928" y="1481328"/>
            <a:ext cx="2084832" cy="2103120"/>
          </a:xfrm>
          <a:prstGeom prst="roundRect">
            <a:avLst>
              <a:gd name="adj" fmla="val 3509"/>
            </a:avLst>
          </a:prstGeom>
          <a:solidFill>
            <a:srgbClr val="FBEDEA"/>
          </a:solidFill>
          <a:ln w="12700">
            <a:solidFill>
              <a:srgbClr val="F0D3CD"/>
            </a:solidFill>
            <a:prstDash val="solid"/>
          </a:ln>
        </p:spPr>
      </p:sp>
      <p:sp>
        <p:nvSpPr>
          <p:cNvPr id="23" name="Shape 21"/>
          <p:cNvSpPr/>
          <p:nvPr/>
        </p:nvSpPr>
        <p:spPr>
          <a:xfrm>
            <a:off x="7607808" y="1664208"/>
            <a:ext cx="329184" cy="329184"/>
          </a:xfrm>
          <a:prstGeom prst="ellipse">
            <a:avLst/>
          </a:prstGeom>
          <a:solidFill>
            <a:srgbClr val="C43D2B"/>
          </a:solidFill>
          <a:ln w="12700">
            <a:solidFill>
              <a:srgbClr val="C43D2B"/>
            </a:solidFill>
            <a:prstDash val="solid"/>
          </a:ln>
        </p:spPr>
      </p:sp>
      <p:sp>
        <p:nvSpPr>
          <p:cNvPr id="24" name="Text 22"/>
          <p:cNvSpPr txBox="1"/>
          <p:nvPr/>
        </p:nvSpPr>
        <p:spPr>
          <a:xfrm>
            <a:off x="7607808" y="166420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5" name="Text 23"/>
          <p:cNvSpPr txBox="1"/>
          <p:nvPr/>
        </p:nvSpPr>
        <p:spPr>
          <a:xfrm>
            <a:off x="7607808" y="2139696"/>
            <a:ext cx="1755648" cy="457200"/>
          </a:xfrm>
          <a:prstGeom prst="rect">
            <a:avLst/>
          </a:prstGeom>
          <a:noFill/>
          <a:ln/>
        </p:spPr>
        <p:txBody>
          <a:bodyPr wrap="square" lIns="0" tIns="0" rIns="0" bIns="0" rtlCol="0" anchor="ctr"/>
          <a:lstStyle/>
          <a:p>
            <a:pPr indent="0" marL="0">
              <a:lnSpc>
                <a:spcPts val="1700"/>
              </a:lnSpc>
              <a:buNone/>
            </a:pPr>
            <a:r>
              <a:rPr lang="en-US" sz="1300" b="1" dirty="0">
                <a:solidFill>
                  <a:srgbClr val="C43D2B"/>
                </a:solidFill>
                <a:latin typeface="Calibri" pitchFamily="34" charset="0"/>
                <a:ea typeface="Calibri" pitchFamily="34" charset="-122"/>
                <a:cs typeface="Calibri" pitchFamily="34" charset="-120"/>
              </a:rPr>
              <a:t>Automatic block</a:t>
            </a:r>
            <a:endParaRPr lang="en-US" sz="1300" dirty="0"/>
          </a:p>
        </p:txBody>
      </p:sp>
      <p:sp>
        <p:nvSpPr>
          <p:cNvPr id="26" name="Text 24"/>
          <p:cNvSpPr txBox="1"/>
          <p:nvPr/>
        </p:nvSpPr>
        <p:spPr>
          <a:xfrm>
            <a:off x="7607808" y="2633472"/>
            <a:ext cx="1755648" cy="822960"/>
          </a:xfrm>
          <a:prstGeom prst="rect">
            <a:avLst/>
          </a:prstGeom>
          <a:noFill/>
          <a:ln/>
        </p:spPr>
        <p:txBody>
          <a:bodyPr wrap="square" lIns="0" tIns="0" rIns="0" bIns="0" rtlCol="0" anchor="ctr"/>
          <a:lstStyle/>
          <a:p>
            <a:pPr indent="0" marL="0">
              <a:lnSpc>
                <a:spcPts val="1450"/>
              </a:lnSpc>
              <a:buNone/>
            </a:pPr>
            <a:r>
              <a:rPr lang="en-US" sz="1100" dirty="0">
                <a:solidFill>
                  <a:srgbClr val="343B4F"/>
                </a:solidFill>
                <a:latin typeface="Calibri" pitchFamily="34" charset="0"/>
                <a:ea typeface="Calibri" pitchFamily="34" charset="-122"/>
                <a:cs typeface="Calibri" pitchFamily="34" charset="-120"/>
              </a:rPr>
              <a:t>IP or account restricted; event written to intrusion log</a:t>
            </a:r>
            <a:endParaRPr lang="en-US" sz="1100" dirty="0"/>
          </a:p>
        </p:txBody>
      </p:sp>
      <p:sp>
        <p:nvSpPr>
          <p:cNvPr id="27" name="Shape 25"/>
          <p:cNvSpPr/>
          <p:nvPr/>
        </p:nvSpPr>
        <p:spPr>
          <a:xfrm>
            <a:off x="9537192" y="2532888"/>
            <a:ext cx="146304" cy="0"/>
          </a:xfrm>
          <a:prstGeom prst="line">
            <a:avLst/>
          </a:prstGeom>
          <a:noFill/>
          <a:ln w="22225">
            <a:solidFill>
              <a:srgbClr val="C43D2B"/>
            </a:solidFill>
            <a:prstDash val="solid"/>
            <a:tailEnd type="triangle"/>
          </a:ln>
        </p:spPr>
      </p:sp>
      <p:sp>
        <p:nvSpPr>
          <p:cNvPr id="28" name="Shape 26"/>
          <p:cNvSpPr/>
          <p:nvPr/>
        </p:nvSpPr>
        <p:spPr>
          <a:xfrm>
            <a:off x="9710928" y="1481328"/>
            <a:ext cx="2084832" cy="2103120"/>
          </a:xfrm>
          <a:prstGeom prst="roundRect">
            <a:avLst>
              <a:gd name="adj" fmla="val 3509"/>
            </a:avLst>
          </a:prstGeom>
          <a:solidFill>
            <a:srgbClr val="FBEDEA"/>
          </a:solidFill>
          <a:ln w="12700">
            <a:solidFill>
              <a:srgbClr val="F0D3CD"/>
            </a:solidFill>
            <a:prstDash val="solid"/>
          </a:ln>
        </p:spPr>
      </p:sp>
      <p:sp>
        <p:nvSpPr>
          <p:cNvPr id="29" name="Shape 27"/>
          <p:cNvSpPr/>
          <p:nvPr/>
        </p:nvSpPr>
        <p:spPr>
          <a:xfrm>
            <a:off x="9893808" y="1664208"/>
            <a:ext cx="329184" cy="329184"/>
          </a:xfrm>
          <a:prstGeom prst="ellipse">
            <a:avLst/>
          </a:prstGeom>
          <a:solidFill>
            <a:srgbClr val="C43D2B"/>
          </a:solidFill>
          <a:ln w="12700">
            <a:solidFill>
              <a:srgbClr val="C43D2B"/>
            </a:solidFill>
            <a:prstDash val="solid"/>
          </a:ln>
        </p:spPr>
      </p:sp>
      <p:sp>
        <p:nvSpPr>
          <p:cNvPr id="30" name="Text 28"/>
          <p:cNvSpPr txBox="1"/>
          <p:nvPr/>
        </p:nvSpPr>
        <p:spPr>
          <a:xfrm>
            <a:off x="9893808" y="166420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31" name="Text 29"/>
          <p:cNvSpPr txBox="1"/>
          <p:nvPr/>
        </p:nvSpPr>
        <p:spPr>
          <a:xfrm>
            <a:off x="9893808" y="2139696"/>
            <a:ext cx="1755648" cy="457200"/>
          </a:xfrm>
          <a:prstGeom prst="rect">
            <a:avLst/>
          </a:prstGeom>
          <a:noFill/>
          <a:ln/>
        </p:spPr>
        <p:txBody>
          <a:bodyPr wrap="square" lIns="0" tIns="0" rIns="0" bIns="0" rtlCol="0" anchor="ctr"/>
          <a:lstStyle/>
          <a:p>
            <a:pPr indent="0" marL="0">
              <a:lnSpc>
                <a:spcPts val="1700"/>
              </a:lnSpc>
              <a:buNone/>
            </a:pPr>
            <a:r>
              <a:rPr lang="en-US" sz="1300" b="1" dirty="0">
                <a:solidFill>
                  <a:srgbClr val="C43D2B"/>
                </a:solidFill>
                <a:latin typeface="Calibri" pitchFamily="34" charset="0"/>
                <a:ea typeface="Calibri" pitchFamily="34" charset="-122"/>
                <a:cs typeface="Calibri" pitchFamily="34" charset="-120"/>
              </a:rPr>
              <a:t>Administrator alerted</a:t>
            </a:r>
            <a:endParaRPr lang="en-US" sz="1300" dirty="0"/>
          </a:p>
        </p:txBody>
      </p:sp>
      <p:sp>
        <p:nvSpPr>
          <p:cNvPr id="32" name="Text 30"/>
          <p:cNvSpPr txBox="1"/>
          <p:nvPr/>
        </p:nvSpPr>
        <p:spPr>
          <a:xfrm>
            <a:off x="9893808" y="2633472"/>
            <a:ext cx="1755648" cy="822960"/>
          </a:xfrm>
          <a:prstGeom prst="rect">
            <a:avLst/>
          </a:prstGeom>
          <a:noFill/>
          <a:ln/>
        </p:spPr>
        <p:txBody>
          <a:bodyPr wrap="square" lIns="0" tIns="0" rIns="0" bIns="0" rtlCol="0" anchor="ctr"/>
          <a:lstStyle/>
          <a:p>
            <a:pPr indent="0" marL="0">
              <a:lnSpc>
                <a:spcPts val="1450"/>
              </a:lnSpc>
              <a:buNone/>
            </a:pPr>
            <a:r>
              <a:rPr lang="en-US" sz="1100" dirty="0">
                <a:solidFill>
                  <a:srgbClr val="343B4F"/>
                </a:solidFill>
                <a:latin typeface="Calibri" pitchFamily="34" charset="0"/>
                <a:ea typeface="Calibri" pitchFamily="34" charset="-122"/>
                <a:cs typeface="Calibri" pitchFamily="34" charset="-120"/>
              </a:rPr>
              <a:t>Dashboard surfaces the event; high severity also emails</a:t>
            </a:r>
            <a:endParaRPr lang="en-US" sz="1100" dirty="0"/>
          </a:p>
        </p:txBody>
      </p:sp>
      <p:sp>
        <p:nvSpPr>
          <p:cNvPr id="33" name="Shape 31"/>
          <p:cNvSpPr/>
          <p:nvPr/>
        </p:nvSpPr>
        <p:spPr>
          <a:xfrm>
            <a:off x="566928" y="3858768"/>
            <a:ext cx="2633472" cy="1298448"/>
          </a:xfrm>
          <a:prstGeom prst="roundRect">
            <a:avLst>
              <a:gd name="adj" fmla="val 5634"/>
            </a:avLst>
          </a:prstGeom>
          <a:solidFill>
            <a:srgbClr val="1E2761"/>
          </a:solidFill>
          <a:ln w="12700">
            <a:solidFill>
              <a:srgbClr val="1E2761"/>
            </a:solidFill>
            <a:prstDash val="solid"/>
          </a:ln>
        </p:spPr>
      </p:sp>
      <p:sp>
        <p:nvSpPr>
          <p:cNvPr id="34" name="Text 32"/>
          <p:cNvSpPr txBox="1"/>
          <p:nvPr/>
        </p:nvSpPr>
        <p:spPr>
          <a:xfrm>
            <a:off x="786384" y="4023360"/>
            <a:ext cx="2240280" cy="402336"/>
          </a:xfrm>
          <a:prstGeom prst="rect">
            <a:avLst/>
          </a:prstGeom>
          <a:noFill/>
          <a:ln/>
        </p:spPr>
        <p:txBody>
          <a:bodyPr wrap="square" lIns="0" tIns="0" rIns="0" bIns="0" rtlCol="0" anchor="ctr"/>
          <a:lstStyle/>
          <a:p>
            <a:pPr indent="0" marL="0">
              <a:buNone/>
            </a:pPr>
            <a:r>
              <a:rPr lang="en-US" sz="2100" b="1" dirty="0">
                <a:solidFill>
                  <a:srgbClr val="FFFFFF"/>
                </a:solidFill>
                <a:latin typeface="Cambria" pitchFamily="34" charset="0"/>
                <a:ea typeface="Cambria" pitchFamily="34" charset="-122"/>
                <a:cs typeface="Cambria" pitchFamily="34" charset="-120"/>
              </a:rPr>
              <a:t>3 strikes</a:t>
            </a:r>
            <a:endParaRPr lang="en-US" sz="2100" dirty="0"/>
          </a:p>
        </p:txBody>
      </p:sp>
      <p:sp>
        <p:nvSpPr>
          <p:cNvPr id="35" name="Text 33"/>
          <p:cNvSpPr txBox="1"/>
          <p:nvPr/>
        </p:nvSpPr>
        <p:spPr>
          <a:xfrm>
            <a:off x="786384" y="4462272"/>
            <a:ext cx="2240280" cy="603504"/>
          </a:xfrm>
          <a:prstGeom prst="rect">
            <a:avLst/>
          </a:prstGeom>
          <a:noFill/>
          <a:ln/>
        </p:spPr>
        <p:txBody>
          <a:bodyPr wrap="square" lIns="0" tIns="0" rIns="0" bIns="0" rtlCol="0" anchor="ctr"/>
          <a:lstStyle/>
          <a:p>
            <a:pPr indent="0" marL="0">
              <a:lnSpc>
                <a:spcPts val="1400"/>
              </a:lnSpc>
              <a:buNone/>
            </a:pPr>
            <a:r>
              <a:rPr lang="en-US" sz="1050" dirty="0">
                <a:solidFill>
                  <a:srgbClr val="CADCFC"/>
                </a:solidFill>
                <a:latin typeface="Calibri" pitchFamily="34" charset="0"/>
                <a:ea typeface="Calibri" pitchFamily="34" charset="-122"/>
                <a:cs typeface="Calibri" pitchFamily="34" charset="-120"/>
              </a:rPr>
              <a:t>Failed logins before the account is locked</a:t>
            </a:r>
            <a:endParaRPr lang="en-US" sz="1050" dirty="0"/>
          </a:p>
        </p:txBody>
      </p:sp>
      <p:sp>
        <p:nvSpPr>
          <p:cNvPr id="36" name="Shape 34"/>
          <p:cNvSpPr/>
          <p:nvPr/>
        </p:nvSpPr>
        <p:spPr>
          <a:xfrm>
            <a:off x="3392424" y="3858768"/>
            <a:ext cx="2633472" cy="1298448"/>
          </a:xfrm>
          <a:prstGeom prst="roundRect">
            <a:avLst>
              <a:gd name="adj" fmla="val 5634"/>
            </a:avLst>
          </a:prstGeom>
          <a:solidFill>
            <a:srgbClr val="1E2761"/>
          </a:solidFill>
          <a:ln w="12700">
            <a:solidFill>
              <a:srgbClr val="1E2761"/>
            </a:solidFill>
            <a:prstDash val="solid"/>
          </a:ln>
        </p:spPr>
      </p:sp>
      <p:sp>
        <p:nvSpPr>
          <p:cNvPr id="37" name="Text 35"/>
          <p:cNvSpPr txBox="1"/>
          <p:nvPr/>
        </p:nvSpPr>
        <p:spPr>
          <a:xfrm>
            <a:off x="3611880" y="4023360"/>
            <a:ext cx="2240280" cy="402336"/>
          </a:xfrm>
          <a:prstGeom prst="rect">
            <a:avLst/>
          </a:prstGeom>
          <a:noFill/>
          <a:ln/>
        </p:spPr>
        <p:txBody>
          <a:bodyPr wrap="square" lIns="0" tIns="0" rIns="0" bIns="0" rtlCol="0" anchor="ctr"/>
          <a:lstStyle/>
          <a:p>
            <a:pPr indent="0" marL="0">
              <a:buNone/>
            </a:pPr>
            <a:r>
              <a:rPr lang="en-US" sz="2100" b="1" dirty="0">
                <a:solidFill>
                  <a:srgbClr val="FFFFFF"/>
                </a:solidFill>
                <a:latin typeface="Cambria" pitchFamily="34" charset="0"/>
                <a:ea typeface="Cambria" pitchFamily="34" charset="-122"/>
                <a:cs typeface="Cambria" pitchFamily="34" charset="-120"/>
              </a:rPr>
              <a:t>24 hours</a:t>
            </a:r>
            <a:endParaRPr lang="en-US" sz="2100" dirty="0"/>
          </a:p>
        </p:txBody>
      </p:sp>
      <p:sp>
        <p:nvSpPr>
          <p:cNvPr id="38" name="Text 36"/>
          <p:cNvSpPr txBox="1"/>
          <p:nvPr/>
        </p:nvSpPr>
        <p:spPr>
          <a:xfrm>
            <a:off x="3611880" y="4462272"/>
            <a:ext cx="2240280" cy="603504"/>
          </a:xfrm>
          <a:prstGeom prst="rect">
            <a:avLst/>
          </a:prstGeom>
          <a:noFill/>
          <a:ln/>
        </p:spPr>
        <p:txBody>
          <a:bodyPr wrap="square" lIns="0" tIns="0" rIns="0" bIns="0" rtlCol="0" anchor="ctr"/>
          <a:lstStyle/>
          <a:p>
            <a:pPr indent="0" marL="0">
              <a:lnSpc>
                <a:spcPts val="1400"/>
              </a:lnSpc>
              <a:buNone/>
            </a:pPr>
            <a:r>
              <a:rPr lang="en-US" sz="1050" dirty="0">
                <a:solidFill>
                  <a:srgbClr val="CADCFC"/>
                </a:solidFill>
                <a:latin typeface="Calibri" pitchFamily="34" charset="0"/>
                <a:ea typeface="Calibri" pitchFamily="34" charset="-122"/>
                <a:cs typeface="Calibri" pitchFamily="34" charset="-120"/>
              </a:rPr>
              <a:t>Lockout duration; expired blocks lifted automatically</a:t>
            </a:r>
            <a:endParaRPr lang="en-US" sz="1050" dirty="0"/>
          </a:p>
        </p:txBody>
      </p:sp>
      <p:sp>
        <p:nvSpPr>
          <p:cNvPr id="39" name="Shape 37"/>
          <p:cNvSpPr/>
          <p:nvPr/>
        </p:nvSpPr>
        <p:spPr>
          <a:xfrm>
            <a:off x="6217920" y="3858768"/>
            <a:ext cx="2633472" cy="1298448"/>
          </a:xfrm>
          <a:prstGeom prst="roundRect">
            <a:avLst>
              <a:gd name="adj" fmla="val 5634"/>
            </a:avLst>
          </a:prstGeom>
          <a:solidFill>
            <a:srgbClr val="1E2761"/>
          </a:solidFill>
          <a:ln w="12700">
            <a:solidFill>
              <a:srgbClr val="1E2761"/>
            </a:solidFill>
            <a:prstDash val="solid"/>
          </a:ln>
        </p:spPr>
      </p:sp>
      <p:sp>
        <p:nvSpPr>
          <p:cNvPr id="40" name="Text 38"/>
          <p:cNvSpPr txBox="1"/>
          <p:nvPr/>
        </p:nvSpPr>
        <p:spPr>
          <a:xfrm>
            <a:off x="6437376" y="4023360"/>
            <a:ext cx="2240280" cy="402336"/>
          </a:xfrm>
          <a:prstGeom prst="rect">
            <a:avLst/>
          </a:prstGeom>
          <a:noFill/>
          <a:ln/>
        </p:spPr>
        <p:txBody>
          <a:bodyPr wrap="square" lIns="0" tIns="0" rIns="0" bIns="0" rtlCol="0" anchor="ctr"/>
          <a:lstStyle/>
          <a:p>
            <a:pPr indent="0" marL="0">
              <a:buNone/>
            </a:pPr>
            <a:r>
              <a:rPr lang="en-US" sz="2100" b="1" dirty="0">
                <a:solidFill>
                  <a:srgbClr val="FFFFFF"/>
                </a:solidFill>
                <a:latin typeface="Cambria" pitchFamily="34" charset="0"/>
                <a:ea typeface="Cambria" pitchFamily="34" charset="-122"/>
                <a:cs typeface="Cambria" pitchFamily="34" charset="-120"/>
              </a:rPr>
              <a:t>≤ 15 seconds</a:t>
            </a:r>
            <a:endParaRPr lang="en-US" sz="2100" dirty="0"/>
          </a:p>
        </p:txBody>
      </p:sp>
      <p:sp>
        <p:nvSpPr>
          <p:cNvPr id="41" name="Text 39"/>
          <p:cNvSpPr txBox="1"/>
          <p:nvPr/>
        </p:nvSpPr>
        <p:spPr>
          <a:xfrm>
            <a:off x="6437376" y="4462272"/>
            <a:ext cx="2240280" cy="603504"/>
          </a:xfrm>
          <a:prstGeom prst="rect">
            <a:avLst/>
          </a:prstGeom>
          <a:noFill/>
          <a:ln/>
        </p:spPr>
        <p:txBody>
          <a:bodyPr wrap="square" lIns="0" tIns="0" rIns="0" bIns="0" rtlCol="0" anchor="ctr"/>
          <a:lstStyle/>
          <a:p>
            <a:pPr indent="0" marL="0">
              <a:lnSpc>
                <a:spcPts val="1400"/>
              </a:lnSpc>
              <a:buNone/>
            </a:pPr>
            <a:r>
              <a:rPr lang="en-US" sz="1050" dirty="0">
                <a:solidFill>
                  <a:srgbClr val="CADCFC"/>
                </a:solidFill>
                <a:latin typeface="Calibri" pitchFamily="34" charset="0"/>
                <a:ea typeface="Calibri" pitchFamily="34" charset="-122"/>
                <a:cs typeface="Calibri" pitchFamily="34" charset="-120"/>
              </a:rPr>
              <a:t>Dashboard poll interval — the bounded sense of “real-time”</a:t>
            </a:r>
            <a:endParaRPr lang="en-US" sz="1050" dirty="0"/>
          </a:p>
        </p:txBody>
      </p:sp>
      <p:sp>
        <p:nvSpPr>
          <p:cNvPr id="42" name="Shape 40"/>
          <p:cNvSpPr/>
          <p:nvPr/>
        </p:nvSpPr>
        <p:spPr>
          <a:xfrm>
            <a:off x="9043416" y="3858768"/>
            <a:ext cx="2633472" cy="1298448"/>
          </a:xfrm>
          <a:prstGeom prst="roundRect">
            <a:avLst>
              <a:gd name="adj" fmla="val 5634"/>
            </a:avLst>
          </a:prstGeom>
          <a:solidFill>
            <a:srgbClr val="1E2761"/>
          </a:solidFill>
          <a:ln w="12700">
            <a:solidFill>
              <a:srgbClr val="1E2761"/>
            </a:solidFill>
            <a:prstDash val="solid"/>
          </a:ln>
        </p:spPr>
      </p:sp>
      <p:sp>
        <p:nvSpPr>
          <p:cNvPr id="43" name="Text 41"/>
          <p:cNvSpPr txBox="1"/>
          <p:nvPr/>
        </p:nvSpPr>
        <p:spPr>
          <a:xfrm>
            <a:off x="9262872" y="4023360"/>
            <a:ext cx="2240280" cy="402336"/>
          </a:xfrm>
          <a:prstGeom prst="rect">
            <a:avLst/>
          </a:prstGeom>
          <a:noFill/>
          <a:ln/>
        </p:spPr>
        <p:txBody>
          <a:bodyPr wrap="square" lIns="0" tIns="0" rIns="0" bIns="0" rtlCol="0" anchor="ctr"/>
          <a:lstStyle/>
          <a:p>
            <a:pPr indent="0" marL="0">
              <a:buNone/>
            </a:pPr>
            <a:r>
              <a:rPr lang="en-US" sz="2100" b="1" dirty="0">
                <a:solidFill>
                  <a:srgbClr val="FFFFFF"/>
                </a:solidFill>
                <a:latin typeface="Cambria" pitchFamily="34" charset="0"/>
                <a:ea typeface="Cambria" pitchFamily="34" charset="-122"/>
                <a:cs typeface="Cambria" pitchFamily="34" charset="-120"/>
              </a:rPr>
              <a:t>Append-only</a:t>
            </a:r>
            <a:endParaRPr lang="en-US" sz="2100" dirty="0"/>
          </a:p>
        </p:txBody>
      </p:sp>
      <p:sp>
        <p:nvSpPr>
          <p:cNvPr id="44" name="Text 42"/>
          <p:cNvSpPr txBox="1"/>
          <p:nvPr/>
        </p:nvSpPr>
        <p:spPr>
          <a:xfrm>
            <a:off x="9262872" y="4462272"/>
            <a:ext cx="2240280" cy="603504"/>
          </a:xfrm>
          <a:prstGeom prst="rect">
            <a:avLst/>
          </a:prstGeom>
          <a:noFill/>
          <a:ln/>
        </p:spPr>
        <p:txBody>
          <a:bodyPr wrap="square" lIns="0" tIns="0" rIns="0" bIns="0" rtlCol="0" anchor="ctr"/>
          <a:lstStyle/>
          <a:p>
            <a:pPr indent="0" marL="0">
              <a:lnSpc>
                <a:spcPts val="1400"/>
              </a:lnSpc>
              <a:buNone/>
            </a:pPr>
            <a:r>
              <a:rPr lang="en-US" sz="1050" dirty="0">
                <a:solidFill>
                  <a:srgbClr val="CADCFC"/>
                </a:solidFill>
                <a:latin typeface="Calibri" pitchFamily="34" charset="0"/>
                <a:ea typeface="Calibri" pitchFamily="34" charset="-122"/>
                <a:cs typeface="Calibri" pitchFamily="34" charset="-120"/>
              </a:rPr>
              <a:t>Intrusion and audit records retained as evidence</a:t>
            </a:r>
            <a:endParaRPr lang="en-US" sz="1050" dirty="0"/>
          </a:p>
        </p:txBody>
      </p:sp>
      <p:sp>
        <p:nvSpPr>
          <p:cNvPr id="45" name="Shape 43"/>
          <p:cNvSpPr/>
          <p:nvPr/>
        </p:nvSpPr>
        <p:spPr>
          <a:xfrm>
            <a:off x="566928" y="5358384"/>
            <a:ext cx="11064240" cy="749808"/>
          </a:xfrm>
          <a:prstGeom prst="roundRect">
            <a:avLst>
              <a:gd name="adj" fmla="val 9756"/>
            </a:avLst>
          </a:prstGeom>
          <a:solidFill>
            <a:srgbClr val="EEF3FC"/>
          </a:solidFill>
          <a:ln w="12700">
            <a:solidFill>
              <a:srgbClr val="DCE5F6"/>
            </a:solidFill>
            <a:prstDash val="solid"/>
          </a:ln>
        </p:spPr>
      </p:sp>
      <p:sp>
        <p:nvSpPr>
          <p:cNvPr id="46" name="Text 44"/>
          <p:cNvSpPr txBox="1"/>
          <p:nvPr/>
        </p:nvSpPr>
        <p:spPr>
          <a:xfrm>
            <a:off x="822960" y="5358384"/>
            <a:ext cx="10561320" cy="749808"/>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Measured, not assumed.  </a:t>
            </a:r>
            <a:pPr indent="0" marL="0">
              <a:buNone/>
            </a:pPr>
            <a:r>
              <a:rPr lang="en-US" sz="1200" dirty="0">
                <a:solidFill>
                  <a:srgbClr val="343B4F"/>
                </a:solidFill>
                <a:latin typeface="Calibri" pitchFamily="34" charset="0"/>
                <a:ea typeface="Calibri" pitchFamily="34" charset="-122"/>
                <a:cs typeface="Calibri" pitchFamily="34" charset="-120"/>
              </a:rPr>
              <a:t>Detection-to-notification latency and alert precision (the proportion of alerts matching genuine intrusion attempts) are recorded during controlled testing and reported under Section 3.4.</a:t>
            </a:r>
            <a:endParaRPr lang="en-US" sz="1200" dirty="0"/>
          </a:p>
        </p:txBody>
      </p:sp>
      <p:sp>
        <p:nvSpPr>
          <p:cNvPr id="47" name="Text 45"/>
          <p:cNvSpPr txBox="1"/>
          <p:nvPr/>
        </p:nvSpPr>
        <p:spPr>
          <a:xfrm>
            <a:off x="566928" y="6272784"/>
            <a:ext cx="11064240" cy="274320"/>
          </a:xfrm>
          <a:prstGeom prst="rect">
            <a:avLst/>
          </a:prstGeom>
          <a:noFill/>
          <a:ln/>
        </p:spPr>
        <p:txBody>
          <a:bodyPr wrap="square" lIns="0" tIns="0" rIns="0" bIns="0" rtlCol="0" anchor="ctr"/>
          <a:lstStyle/>
          <a:p>
            <a:pPr indent="0" marL="0">
              <a:buNone/>
            </a:pP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66928" y="384048"/>
            <a:ext cx="8229600" cy="237744"/>
          </a:xfrm>
          <a:prstGeom prst="rect">
            <a:avLst/>
          </a:prstGeom>
          <a:noFill/>
          <a:ln/>
        </p:spPr>
        <p:txBody>
          <a:bodyPr wrap="square" lIns="0" tIns="0" rIns="0" bIns="0" rtlCol="0" anchor="ctr"/>
          <a:lstStyle/>
          <a:p>
            <a:pPr indent="0" marL="0">
              <a:buNone/>
            </a:pPr>
            <a:r>
              <a:rPr lang="en-US" sz="1100" b="1" spc="160" kern="0" dirty="0">
                <a:solidFill>
                  <a:srgbClr val="78819A"/>
                </a:solidFill>
                <a:latin typeface="Calibri" pitchFamily="34" charset="0"/>
                <a:ea typeface="Calibri" pitchFamily="34" charset="-122"/>
                <a:cs typeface="Calibri" pitchFamily="34" charset="-120"/>
              </a:rPr>
              <a:t>4.9.2  DATA FLOW</a:t>
            </a:r>
            <a:endParaRPr lang="en-US" sz="1100" dirty="0"/>
          </a:p>
        </p:txBody>
      </p:sp>
      <p:sp>
        <p:nvSpPr>
          <p:cNvPr id="3" name="Text 1"/>
          <p:cNvSpPr txBox="1"/>
          <p:nvPr/>
        </p:nvSpPr>
        <p:spPr>
          <a:xfrm>
            <a:off x="548640" y="621792"/>
            <a:ext cx="11155680" cy="603504"/>
          </a:xfrm>
          <a:prstGeom prst="rect">
            <a:avLst/>
          </a:prstGeom>
          <a:noFill/>
          <a:ln/>
        </p:spPr>
        <p:txBody>
          <a:bodyPr wrap="square" lIns="0" tIns="0" rIns="0" bIns="0" rtlCol="0" anchor="t"/>
          <a:lstStyle/>
          <a:p>
            <a:pPr indent="0" marL="0">
              <a:buNone/>
            </a:pPr>
            <a:r>
              <a:rPr lang="en-US" sz="3200" b="1" dirty="0">
                <a:solidFill>
                  <a:srgbClr val="1E2761"/>
                </a:solidFill>
                <a:latin typeface="Cambria" pitchFamily="34" charset="0"/>
                <a:ea typeface="Cambria" pitchFamily="34" charset="-122"/>
                <a:cs typeface="Cambria" pitchFamily="34" charset="-120"/>
              </a:rPr>
              <a:t>Path of a leave application</a:t>
            </a:r>
            <a:endParaRPr lang="en-US" sz="3200" dirty="0"/>
          </a:p>
        </p:txBody>
      </p:sp>
      <p:sp>
        <p:nvSpPr>
          <p:cNvPr id="4" name="Shape 2"/>
          <p:cNvSpPr/>
          <p:nvPr/>
        </p:nvSpPr>
        <p:spPr>
          <a:xfrm>
            <a:off x="566928" y="1444752"/>
            <a:ext cx="7680960" cy="621792"/>
          </a:xfrm>
          <a:prstGeom prst="roundRect">
            <a:avLst>
              <a:gd name="adj" fmla="val 8824"/>
            </a:avLst>
          </a:prstGeom>
          <a:solidFill>
            <a:srgbClr val="1E2761"/>
          </a:solidFill>
          <a:ln w="12700">
            <a:solidFill>
              <a:srgbClr val="1E2761"/>
            </a:solidFill>
            <a:prstDash val="solid"/>
          </a:ln>
        </p:spPr>
      </p:sp>
      <p:sp>
        <p:nvSpPr>
          <p:cNvPr id="5" name="Shape 3"/>
          <p:cNvSpPr/>
          <p:nvPr/>
        </p:nvSpPr>
        <p:spPr>
          <a:xfrm>
            <a:off x="786384" y="1591056"/>
            <a:ext cx="329184" cy="329184"/>
          </a:xfrm>
          <a:prstGeom prst="ellipse">
            <a:avLst/>
          </a:prstGeom>
          <a:solidFill>
            <a:srgbClr val="CADCFC"/>
          </a:solidFill>
          <a:ln w="12700">
            <a:solidFill>
              <a:srgbClr val="CADCFC"/>
            </a:solidFill>
            <a:prstDash val="solid"/>
          </a:ln>
        </p:spPr>
      </p:sp>
      <p:sp>
        <p:nvSpPr>
          <p:cNvPr id="6" name="Text 4"/>
          <p:cNvSpPr txBox="1"/>
          <p:nvPr/>
        </p:nvSpPr>
        <p:spPr>
          <a:xfrm>
            <a:off x="786384" y="1591056"/>
            <a:ext cx="329184" cy="32918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243584" y="1444752"/>
            <a:ext cx="2286000" cy="621792"/>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Employee</a:t>
            </a:r>
            <a:endParaRPr lang="en-US" sz="1250" dirty="0"/>
          </a:p>
        </p:txBody>
      </p:sp>
      <p:sp>
        <p:nvSpPr>
          <p:cNvPr id="8" name="Text 6"/>
          <p:cNvSpPr txBox="1"/>
          <p:nvPr/>
        </p:nvSpPr>
        <p:spPr>
          <a:xfrm>
            <a:off x="3584448" y="1444752"/>
            <a:ext cx="4480560" cy="621792"/>
          </a:xfrm>
          <a:prstGeom prst="rect">
            <a:avLst/>
          </a:prstGeom>
          <a:noFill/>
          <a:ln/>
        </p:spPr>
        <p:txBody>
          <a:bodyPr wrap="square" lIns="0" tIns="0" rIns="0" bIns="0" rtlCol="0" anchor="ctr"/>
          <a:lstStyle/>
          <a:p>
            <a:pPr indent="0" marL="0">
              <a:buNone/>
            </a:pPr>
            <a:r>
              <a:rPr lang="en-US" sz="1050" dirty="0">
                <a:solidFill>
                  <a:srgbClr val="C6D2F2"/>
                </a:solidFill>
                <a:latin typeface="Calibri" pitchFamily="34" charset="0"/>
                <a:ea typeface="Calibri" pitchFamily="34" charset="-122"/>
                <a:cs typeface="Calibri" pitchFamily="34" charset="-120"/>
              </a:rPr>
              <a:t>Files CSC Form 6 online; system validates inputs and attaches required documents</a:t>
            </a:r>
            <a:endParaRPr lang="en-US" sz="1050" dirty="0"/>
          </a:p>
        </p:txBody>
      </p:sp>
      <p:sp>
        <p:nvSpPr>
          <p:cNvPr id="9" name="Shape 7"/>
          <p:cNvSpPr/>
          <p:nvPr/>
        </p:nvSpPr>
        <p:spPr>
          <a:xfrm>
            <a:off x="950976" y="2075688"/>
            <a:ext cx="0" cy="91440"/>
          </a:xfrm>
          <a:prstGeom prst="line">
            <a:avLst/>
          </a:prstGeom>
          <a:noFill/>
          <a:ln w="22225">
            <a:solidFill>
              <a:srgbClr val="9AAAD4"/>
            </a:solidFill>
            <a:prstDash val="solid"/>
            <a:tailEnd type="triangle"/>
          </a:ln>
        </p:spPr>
      </p:sp>
      <p:sp>
        <p:nvSpPr>
          <p:cNvPr id="10" name="Shape 8"/>
          <p:cNvSpPr/>
          <p:nvPr/>
        </p:nvSpPr>
        <p:spPr>
          <a:xfrm>
            <a:off x="566928" y="2176272"/>
            <a:ext cx="7680960" cy="621792"/>
          </a:xfrm>
          <a:prstGeom prst="roundRect">
            <a:avLst>
              <a:gd name="adj" fmla="val 8824"/>
            </a:avLst>
          </a:prstGeom>
          <a:solidFill>
            <a:srgbClr val="2B3B7A"/>
          </a:solidFill>
          <a:ln w="12700">
            <a:solidFill>
              <a:srgbClr val="2B3B7A"/>
            </a:solidFill>
            <a:prstDash val="solid"/>
          </a:ln>
        </p:spPr>
      </p:sp>
      <p:sp>
        <p:nvSpPr>
          <p:cNvPr id="11" name="Shape 9"/>
          <p:cNvSpPr/>
          <p:nvPr/>
        </p:nvSpPr>
        <p:spPr>
          <a:xfrm>
            <a:off x="786384" y="2322576"/>
            <a:ext cx="329184" cy="329184"/>
          </a:xfrm>
          <a:prstGeom prst="ellipse">
            <a:avLst/>
          </a:prstGeom>
          <a:solidFill>
            <a:srgbClr val="CADCFC"/>
          </a:solidFill>
          <a:ln w="12700">
            <a:solidFill>
              <a:srgbClr val="CADCFC"/>
            </a:solidFill>
            <a:prstDash val="solid"/>
          </a:ln>
        </p:spPr>
      </p:sp>
      <p:sp>
        <p:nvSpPr>
          <p:cNvPr id="12" name="Text 10"/>
          <p:cNvSpPr txBox="1"/>
          <p:nvPr/>
        </p:nvSpPr>
        <p:spPr>
          <a:xfrm>
            <a:off x="786384" y="2322576"/>
            <a:ext cx="329184" cy="32918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2</a:t>
            </a:r>
            <a:endParaRPr lang="en-US" sz="1200" dirty="0"/>
          </a:p>
        </p:txBody>
      </p:sp>
      <p:sp>
        <p:nvSpPr>
          <p:cNvPr id="13" name="Text 11"/>
          <p:cNvSpPr txBox="1"/>
          <p:nvPr/>
        </p:nvSpPr>
        <p:spPr>
          <a:xfrm>
            <a:off x="1243584" y="2176272"/>
            <a:ext cx="2286000" cy="621792"/>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Leave Policy Engine</a:t>
            </a:r>
            <a:endParaRPr lang="en-US" sz="1250" dirty="0"/>
          </a:p>
        </p:txBody>
      </p:sp>
      <p:sp>
        <p:nvSpPr>
          <p:cNvPr id="14" name="Text 12"/>
          <p:cNvSpPr txBox="1"/>
          <p:nvPr/>
        </p:nvSpPr>
        <p:spPr>
          <a:xfrm>
            <a:off x="3584448" y="2176272"/>
            <a:ext cx="4480560" cy="621792"/>
          </a:xfrm>
          <a:prstGeom prst="rect">
            <a:avLst/>
          </a:prstGeom>
          <a:noFill/>
          <a:ln/>
        </p:spPr>
        <p:txBody>
          <a:bodyPr wrap="square" lIns="0" tIns="0" rIns="0" bIns="0" rtlCol="0" anchor="ctr"/>
          <a:lstStyle/>
          <a:p>
            <a:pPr indent="0" marL="0">
              <a:buNone/>
            </a:pPr>
            <a:r>
              <a:rPr lang="en-US" sz="1050" dirty="0">
                <a:solidFill>
                  <a:srgbClr val="C6D2F2"/>
                </a:solidFill>
                <a:latin typeface="Calibri" pitchFamily="34" charset="0"/>
                <a:ea typeface="Calibri" pitchFamily="34" charset="-122"/>
                <a:cs typeface="Calibri" pitchFamily="34" charset="-120"/>
              </a:rPr>
              <a:t>Classifies the leave type and applies its rules — day limits, deductibility, credit source</a:t>
            </a:r>
            <a:endParaRPr lang="en-US" sz="1050" dirty="0"/>
          </a:p>
        </p:txBody>
      </p:sp>
      <p:sp>
        <p:nvSpPr>
          <p:cNvPr id="15" name="Shape 13"/>
          <p:cNvSpPr/>
          <p:nvPr/>
        </p:nvSpPr>
        <p:spPr>
          <a:xfrm>
            <a:off x="950976" y="2807208"/>
            <a:ext cx="0" cy="91440"/>
          </a:xfrm>
          <a:prstGeom prst="line">
            <a:avLst/>
          </a:prstGeom>
          <a:noFill/>
          <a:ln w="22225">
            <a:solidFill>
              <a:srgbClr val="9AAAD4"/>
            </a:solidFill>
            <a:prstDash val="solid"/>
            <a:tailEnd type="triangle"/>
          </a:ln>
        </p:spPr>
      </p:sp>
      <p:sp>
        <p:nvSpPr>
          <p:cNvPr id="16" name="Shape 14"/>
          <p:cNvSpPr/>
          <p:nvPr/>
        </p:nvSpPr>
        <p:spPr>
          <a:xfrm>
            <a:off x="566928" y="2907792"/>
            <a:ext cx="7680960" cy="621792"/>
          </a:xfrm>
          <a:prstGeom prst="roundRect">
            <a:avLst>
              <a:gd name="adj" fmla="val 8824"/>
            </a:avLst>
          </a:prstGeom>
          <a:solidFill>
            <a:srgbClr val="1E2761"/>
          </a:solidFill>
          <a:ln w="12700">
            <a:solidFill>
              <a:srgbClr val="1E2761"/>
            </a:solidFill>
            <a:prstDash val="solid"/>
          </a:ln>
        </p:spPr>
      </p:sp>
      <p:sp>
        <p:nvSpPr>
          <p:cNvPr id="17" name="Shape 15"/>
          <p:cNvSpPr/>
          <p:nvPr/>
        </p:nvSpPr>
        <p:spPr>
          <a:xfrm>
            <a:off x="786384" y="3054096"/>
            <a:ext cx="329184" cy="329184"/>
          </a:xfrm>
          <a:prstGeom prst="ellipse">
            <a:avLst/>
          </a:prstGeom>
          <a:solidFill>
            <a:srgbClr val="CADCFC"/>
          </a:solidFill>
          <a:ln w="12700">
            <a:solidFill>
              <a:srgbClr val="CADCFC"/>
            </a:solidFill>
            <a:prstDash val="solid"/>
          </a:ln>
        </p:spPr>
      </p:sp>
      <p:sp>
        <p:nvSpPr>
          <p:cNvPr id="18" name="Text 16"/>
          <p:cNvSpPr txBox="1"/>
          <p:nvPr/>
        </p:nvSpPr>
        <p:spPr>
          <a:xfrm>
            <a:off x="786384" y="3054096"/>
            <a:ext cx="329184" cy="32918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1243584" y="2907792"/>
            <a:ext cx="2286000" cy="621792"/>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Department Head</a:t>
            </a:r>
            <a:endParaRPr lang="en-US" sz="1250" dirty="0"/>
          </a:p>
        </p:txBody>
      </p:sp>
      <p:sp>
        <p:nvSpPr>
          <p:cNvPr id="20" name="Text 18"/>
          <p:cNvSpPr txBox="1"/>
          <p:nvPr/>
        </p:nvSpPr>
        <p:spPr>
          <a:xfrm>
            <a:off x="3584448" y="2907792"/>
            <a:ext cx="4480560" cy="621792"/>
          </a:xfrm>
          <a:prstGeom prst="rect">
            <a:avLst/>
          </a:prstGeom>
          <a:noFill/>
          <a:ln/>
        </p:spPr>
        <p:txBody>
          <a:bodyPr wrap="square" lIns="0" tIns="0" rIns="0" bIns="0" rtlCol="0" anchor="ctr"/>
          <a:lstStyle/>
          <a:p>
            <a:pPr indent="0" marL="0">
              <a:buNone/>
            </a:pPr>
            <a:r>
              <a:rPr lang="en-US" sz="1050" dirty="0">
                <a:solidFill>
                  <a:srgbClr val="C6D2F2"/>
                </a:solidFill>
                <a:latin typeface="Calibri" pitchFamily="34" charset="0"/>
                <a:ea typeface="Calibri" pitchFamily="34" charset="-122"/>
                <a:cs typeface="Calibri" pitchFamily="34" charset="-120"/>
              </a:rPr>
              <a:t>Reviews requests from personnel in their own office</a:t>
            </a:r>
            <a:endParaRPr lang="en-US" sz="1050" dirty="0"/>
          </a:p>
        </p:txBody>
      </p:sp>
      <p:sp>
        <p:nvSpPr>
          <p:cNvPr id="21" name="Shape 19"/>
          <p:cNvSpPr/>
          <p:nvPr/>
        </p:nvSpPr>
        <p:spPr>
          <a:xfrm>
            <a:off x="950976" y="3538728"/>
            <a:ext cx="0" cy="91440"/>
          </a:xfrm>
          <a:prstGeom prst="line">
            <a:avLst/>
          </a:prstGeom>
          <a:noFill/>
          <a:ln w="22225">
            <a:solidFill>
              <a:srgbClr val="9AAAD4"/>
            </a:solidFill>
            <a:prstDash val="solid"/>
            <a:tailEnd type="triangle"/>
          </a:ln>
        </p:spPr>
      </p:sp>
      <p:sp>
        <p:nvSpPr>
          <p:cNvPr id="22" name="Shape 20"/>
          <p:cNvSpPr/>
          <p:nvPr/>
        </p:nvSpPr>
        <p:spPr>
          <a:xfrm>
            <a:off x="566928" y="3639312"/>
            <a:ext cx="7680960" cy="621792"/>
          </a:xfrm>
          <a:prstGeom prst="roundRect">
            <a:avLst>
              <a:gd name="adj" fmla="val 8824"/>
            </a:avLst>
          </a:prstGeom>
          <a:solidFill>
            <a:srgbClr val="2B3B7A"/>
          </a:solidFill>
          <a:ln w="12700">
            <a:solidFill>
              <a:srgbClr val="2B3B7A"/>
            </a:solidFill>
            <a:prstDash val="solid"/>
          </a:ln>
        </p:spPr>
      </p:sp>
      <p:sp>
        <p:nvSpPr>
          <p:cNvPr id="23" name="Shape 21"/>
          <p:cNvSpPr/>
          <p:nvPr/>
        </p:nvSpPr>
        <p:spPr>
          <a:xfrm>
            <a:off x="786384" y="3785616"/>
            <a:ext cx="329184" cy="329184"/>
          </a:xfrm>
          <a:prstGeom prst="ellipse">
            <a:avLst/>
          </a:prstGeom>
          <a:solidFill>
            <a:srgbClr val="CADCFC"/>
          </a:solidFill>
          <a:ln w="12700">
            <a:solidFill>
              <a:srgbClr val="CADCFC"/>
            </a:solidFill>
            <a:prstDash val="solid"/>
          </a:ln>
        </p:spPr>
      </p:sp>
      <p:sp>
        <p:nvSpPr>
          <p:cNvPr id="24" name="Text 22"/>
          <p:cNvSpPr txBox="1"/>
          <p:nvPr/>
        </p:nvSpPr>
        <p:spPr>
          <a:xfrm>
            <a:off x="786384" y="3785616"/>
            <a:ext cx="329184" cy="32918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4</a:t>
            </a:r>
            <a:endParaRPr lang="en-US" sz="1200" dirty="0"/>
          </a:p>
        </p:txBody>
      </p:sp>
      <p:sp>
        <p:nvSpPr>
          <p:cNvPr id="25" name="Text 23"/>
          <p:cNvSpPr txBox="1"/>
          <p:nvPr/>
        </p:nvSpPr>
        <p:spPr>
          <a:xfrm>
            <a:off x="1243584" y="3639312"/>
            <a:ext cx="2286000" cy="621792"/>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HR Management</a:t>
            </a:r>
            <a:endParaRPr lang="en-US" sz="1250" dirty="0"/>
          </a:p>
        </p:txBody>
      </p:sp>
      <p:sp>
        <p:nvSpPr>
          <p:cNvPr id="26" name="Text 24"/>
          <p:cNvSpPr txBox="1"/>
          <p:nvPr/>
        </p:nvSpPr>
        <p:spPr>
          <a:xfrm>
            <a:off x="3584448" y="3639312"/>
            <a:ext cx="4480560" cy="621792"/>
          </a:xfrm>
          <a:prstGeom prst="rect">
            <a:avLst/>
          </a:prstGeom>
          <a:noFill/>
          <a:ln/>
        </p:spPr>
        <p:txBody>
          <a:bodyPr wrap="square" lIns="0" tIns="0" rIns="0" bIns="0" rtlCol="0" anchor="ctr"/>
          <a:lstStyle/>
          <a:p>
            <a:pPr indent="0" marL="0">
              <a:buNone/>
            </a:pPr>
            <a:r>
              <a:rPr lang="en-US" sz="1050" dirty="0">
                <a:solidFill>
                  <a:srgbClr val="C6D2F2"/>
                </a:solidFill>
                <a:latin typeface="Calibri" pitchFamily="34" charset="0"/>
                <a:ea typeface="Calibri" pitchFamily="34" charset="-122"/>
                <a:cs typeface="Calibri" pitchFamily="34" charset="-120"/>
              </a:rPr>
              <a:t>Certifies classification and available credits against CSC Omnibus Rules</a:t>
            </a:r>
            <a:endParaRPr lang="en-US" sz="1050" dirty="0"/>
          </a:p>
        </p:txBody>
      </p:sp>
      <p:sp>
        <p:nvSpPr>
          <p:cNvPr id="27" name="Shape 25"/>
          <p:cNvSpPr/>
          <p:nvPr/>
        </p:nvSpPr>
        <p:spPr>
          <a:xfrm>
            <a:off x="950976" y="4270248"/>
            <a:ext cx="0" cy="91440"/>
          </a:xfrm>
          <a:prstGeom prst="line">
            <a:avLst/>
          </a:prstGeom>
          <a:noFill/>
          <a:ln w="22225">
            <a:solidFill>
              <a:srgbClr val="9AAAD4"/>
            </a:solidFill>
            <a:prstDash val="solid"/>
            <a:tailEnd type="triangle"/>
          </a:ln>
        </p:spPr>
      </p:sp>
      <p:sp>
        <p:nvSpPr>
          <p:cNvPr id="28" name="Shape 26"/>
          <p:cNvSpPr/>
          <p:nvPr/>
        </p:nvSpPr>
        <p:spPr>
          <a:xfrm>
            <a:off x="566928" y="4370832"/>
            <a:ext cx="7680960" cy="621792"/>
          </a:xfrm>
          <a:prstGeom prst="roundRect">
            <a:avLst>
              <a:gd name="adj" fmla="val 8824"/>
            </a:avLst>
          </a:prstGeom>
          <a:solidFill>
            <a:srgbClr val="1E2761"/>
          </a:solidFill>
          <a:ln w="12700">
            <a:solidFill>
              <a:srgbClr val="1E2761"/>
            </a:solidFill>
            <a:prstDash val="solid"/>
          </a:ln>
        </p:spPr>
      </p:sp>
      <p:sp>
        <p:nvSpPr>
          <p:cNvPr id="29" name="Shape 27"/>
          <p:cNvSpPr/>
          <p:nvPr/>
        </p:nvSpPr>
        <p:spPr>
          <a:xfrm>
            <a:off x="786384" y="4517136"/>
            <a:ext cx="329184" cy="329184"/>
          </a:xfrm>
          <a:prstGeom prst="ellipse">
            <a:avLst/>
          </a:prstGeom>
          <a:solidFill>
            <a:srgbClr val="CADCFC"/>
          </a:solidFill>
          <a:ln w="12700">
            <a:solidFill>
              <a:srgbClr val="CADCFC"/>
            </a:solidFill>
            <a:prstDash val="solid"/>
          </a:ln>
        </p:spPr>
      </p:sp>
      <p:sp>
        <p:nvSpPr>
          <p:cNvPr id="30" name="Text 28"/>
          <p:cNvSpPr txBox="1"/>
          <p:nvPr/>
        </p:nvSpPr>
        <p:spPr>
          <a:xfrm>
            <a:off x="786384" y="4517136"/>
            <a:ext cx="329184" cy="32918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5</a:t>
            </a:r>
            <a:endParaRPr lang="en-US" sz="1200" dirty="0"/>
          </a:p>
        </p:txBody>
      </p:sp>
      <p:sp>
        <p:nvSpPr>
          <p:cNvPr id="31" name="Text 29"/>
          <p:cNvSpPr txBox="1"/>
          <p:nvPr/>
        </p:nvSpPr>
        <p:spPr>
          <a:xfrm>
            <a:off x="1243584" y="4370832"/>
            <a:ext cx="2286000" cy="621792"/>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Municipal Mayor</a:t>
            </a:r>
            <a:endParaRPr lang="en-US" sz="1250" dirty="0"/>
          </a:p>
        </p:txBody>
      </p:sp>
      <p:sp>
        <p:nvSpPr>
          <p:cNvPr id="32" name="Text 30"/>
          <p:cNvSpPr txBox="1"/>
          <p:nvPr/>
        </p:nvSpPr>
        <p:spPr>
          <a:xfrm>
            <a:off x="3584448" y="4370832"/>
            <a:ext cx="4480560" cy="621792"/>
          </a:xfrm>
          <a:prstGeom prst="rect">
            <a:avLst/>
          </a:prstGeom>
          <a:noFill/>
          <a:ln/>
        </p:spPr>
        <p:txBody>
          <a:bodyPr wrap="square" lIns="0" tIns="0" rIns="0" bIns="0" rtlCol="0" anchor="ctr"/>
          <a:lstStyle/>
          <a:p>
            <a:pPr indent="0" marL="0">
              <a:buNone/>
            </a:pPr>
            <a:r>
              <a:rPr lang="en-US" sz="1050" dirty="0">
                <a:solidFill>
                  <a:srgbClr val="C6D2F2"/>
                </a:solidFill>
                <a:latin typeface="Calibri" pitchFamily="34" charset="0"/>
                <a:ea typeface="Calibri" pitchFamily="34" charset="-122"/>
                <a:cs typeface="Calibri" pitchFamily="34" charset="-120"/>
              </a:rPr>
              <a:t>Records the final approval decision</a:t>
            </a:r>
            <a:endParaRPr lang="en-US" sz="1050" dirty="0"/>
          </a:p>
        </p:txBody>
      </p:sp>
      <p:sp>
        <p:nvSpPr>
          <p:cNvPr id="33" name="Shape 31"/>
          <p:cNvSpPr/>
          <p:nvPr/>
        </p:nvSpPr>
        <p:spPr>
          <a:xfrm>
            <a:off x="566928" y="5138928"/>
            <a:ext cx="7680960" cy="969264"/>
          </a:xfrm>
          <a:prstGeom prst="roundRect">
            <a:avLst>
              <a:gd name="adj" fmla="val 7547"/>
            </a:avLst>
          </a:prstGeom>
          <a:solidFill>
            <a:srgbClr val="CADCFC"/>
          </a:solidFill>
          <a:ln w="12700">
            <a:solidFill>
              <a:srgbClr val="A9C2EC"/>
            </a:solidFill>
            <a:prstDash val="solid"/>
          </a:ln>
        </p:spPr>
      </p:sp>
      <p:sp>
        <p:nvSpPr>
          <p:cNvPr id="34" name="Text 32"/>
          <p:cNvSpPr txBox="1"/>
          <p:nvPr/>
        </p:nvSpPr>
        <p:spPr>
          <a:xfrm>
            <a:off x="786384" y="5285232"/>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35" name="Shape 33"/>
          <p:cNvSpPr/>
          <p:nvPr/>
        </p:nvSpPr>
        <p:spPr>
          <a:xfrm>
            <a:off x="786384" y="5285232"/>
            <a:ext cx="329184" cy="329184"/>
          </a:xfrm>
          <a:prstGeom prst="ellipse">
            <a:avLst/>
          </a:prstGeom>
          <a:solidFill>
            <a:srgbClr val="1E2761"/>
          </a:solidFill>
          <a:ln w="12700">
            <a:solidFill>
              <a:srgbClr val="1E2761"/>
            </a:solidFill>
            <a:prstDash val="solid"/>
          </a:ln>
        </p:spPr>
      </p:sp>
      <p:sp>
        <p:nvSpPr>
          <p:cNvPr id="36" name="Text 34"/>
          <p:cNvSpPr txBox="1"/>
          <p:nvPr/>
        </p:nvSpPr>
        <p:spPr>
          <a:xfrm>
            <a:off x="786384" y="5285232"/>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37" name="Text 35"/>
          <p:cNvSpPr txBox="1"/>
          <p:nvPr/>
        </p:nvSpPr>
        <p:spPr>
          <a:xfrm>
            <a:off x="1243584" y="5266944"/>
            <a:ext cx="3108960" cy="256032"/>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Credit computation &amp; posting</a:t>
            </a:r>
            <a:endParaRPr lang="en-US" sz="1250" dirty="0"/>
          </a:p>
        </p:txBody>
      </p:sp>
      <p:sp>
        <p:nvSpPr>
          <p:cNvPr id="38" name="Text 36"/>
          <p:cNvSpPr txBox="1"/>
          <p:nvPr/>
        </p:nvSpPr>
        <p:spPr>
          <a:xfrm>
            <a:off x="1243584" y="5541264"/>
            <a:ext cx="6766560" cy="457200"/>
          </a:xfrm>
          <a:prstGeom prst="rect">
            <a:avLst/>
          </a:prstGeom>
          <a:noFill/>
          <a:ln/>
        </p:spPr>
        <p:txBody>
          <a:bodyPr wrap="square" lIns="0" tIns="0" rIns="0" bIns="0" rtlCol="0" anchor="ctr"/>
          <a:lstStyle/>
          <a:p>
            <a:pPr indent="0" marL="0">
              <a:lnSpc>
                <a:spcPts val="1400"/>
              </a:lnSpc>
              <a:buNone/>
            </a:pPr>
            <a:r>
              <a:rPr lang="en-US" sz="1050" dirty="0">
                <a:solidFill>
                  <a:srgbClr val="3A4670"/>
                </a:solidFill>
                <a:latin typeface="Calibri" pitchFamily="34" charset="0"/>
                <a:ea typeface="Calibri" pitchFamily="34" charset="-122"/>
                <a:cs typeface="Calibri" pitchFamily="34" charset="-120"/>
              </a:rPr>
              <a:t>Working days computed against the holiday calendar; balances deducted inside a locking transaction and written to leave history — never negative.</a:t>
            </a:r>
            <a:endParaRPr lang="en-US" sz="1050" dirty="0"/>
          </a:p>
        </p:txBody>
      </p:sp>
      <p:sp>
        <p:nvSpPr>
          <p:cNvPr id="39" name="Text 37"/>
          <p:cNvSpPr txBox="1"/>
          <p:nvPr/>
        </p:nvSpPr>
        <p:spPr>
          <a:xfrm>
            <a:off x="8613648" y="1444752"/>
            <a:ext cx="3108960" cy="237744"/>
          </a:xfrm>
          <a:prstGeom prst="rect">
            <a:avLst/>
          </a:prstGeom>
          <a:noFill/>
          <a:ln/>
        </p:spPr>
        <p:txBody>
          <a:bodyPr wrap="square" lIns="0" tIns="0" rIns="0" bIns="0" rtlCol="0" anchor="ctr"/>
          <a:lstStyle/>
          <a:p>
            <a:pPr indent="0" marL="0">
              <a:buNone/>
            </a:pPr>
            <a:r>
              <a:rPr lang="en-US" sz="1050" b="1" spc="120" kern="0" dirty="0">
                <a:solidFill>
                  <a:srgbClr val="78819A"/>
                </a:solidFill>
                <a:latin typeface="Calibri" pitchFamily="34" charset="0"/>
                <a:ea typeface="Calibri" pitchFamily="34" charset="-122"/>
                <a:cs typeface="Calibri" pitchFamily="34" charset="-120"/>
              </a:rPr>
              <a:t>DATA STORES WRITTEN</a:t>
            </a:r>
            <a:endParaRPr lang="en-US" sz="1050" dirty="0"/>
          </a:p>
        </p:txBody>
      </p:sp>
      <p:sp>
        <p:nvSpPr>
          <p:cNvPr id="40" name="Shape 38"/>
          <p:cNvSpPr/>
          <p:nvPr/>
        </p:nvSpPr>
        <p:spPr>
          <a:xfrm>
            <a:off x="8613648" y="1773936"/>
            <a:ext cx="3017520" cy="512064"/>
          </a:xfrm>
          <a:prstGeom prst="roundRect">
            <a:avLst>
              <a:gd name="adj" fmla="val 14286"/>
            </a:avLst>
          </a:prstGeom>
          <a:solidFill>
            <a:srgbClr val="EEF3FC"/>
          </a:solidFill>
          <a:ln w="12700">
            <a:solidFill>
              <a:srgbClr val="DCE5F6"/>
            </a:solidFill>
            <a:prstDash val="solid"/>
          </a:ln>
        </p:spPr>
      </p:sp>
      <p:sp>
        <p:nvSpPr>
          <p:cNvPr id="41" name="Text 39"/>
          <p:cNvSpPr txBox="1"/>
          <p:nvPr/>
        </p:nvSpPr>
        <p:spPr>
          <a:xfrm>
            <a:off x="8814816" y="1773936"/>
            <a:ext cx="2697480" cy="512064"/>
          </a:xfrm>
          <a:prstGeom prst="rect">
            <a:avLst/>
          </a:prstGeom>
          <a:noFill/>
          <a:ln/>
        </p:spPr>
        <p:txBody>
          <a:bodyPr wrap="square" lIns="0" tIns="0" rIns="0" bIns="0" rtlCol="0" anchor="ctr"/>
          <a:lstStyle/>
          <a:p>
            <a:pPr indent="0" marL="0">
              <a:buNone/>
            </a:pPr>
            <a:r>
              <a:rPr lang="en-US" sz="1050" dirty="0">
                <a:solidFill>
                  <a:srgbClr val="343B4F"/>
                </a:solidFill>
                <a:latin typeface="Calibri" pitchFamily="34" charset="0"/>
                <a:ea typeface="Calibri" pitchFamily="34" charset="-122"/>
                <a:cs typeface="Calibri" pitchFamily="34" charset="-120"/>
              </a:rPr>
              <a:t>Leave requests &amp; documents</a:t>
            </a:r>
            <a:endParaRPr lang="en-US" sz="1050" dirty="0"/>
          </a:p>
        </p:txBody>
      </p:sp>
      <p:sp>
        <p:nvSpPr>
          <p:cNvPr id="42" name="Shape 40"/>
          <p:cNvSpPr/>
          <p:nvPr/>
        </p:nvSpPr>
        <p:spPr>
          <a:xfrm>
            <a:off x="8613648" y="2395728"/>
            <a:ext cx="3017520" cy="512064"/>
          </a:xfrm>
          <a:prstGeom prst="roundRect">
            <a:avLst>
              <a:gd name="adj" fmla="val 14286"/>
            </a:avLst>
          </a:prstGeom>
          <a:solidFill>
            <a:srgbClr val="EEF3FC"/>
          </a:solidFill>
          <a:ln w="12700">
            <a:solidFill>
              <a:srgbClr val="DCE5F6"/>
            </a:solidFill>
            <a:prstDash val="solid"/>
          </a:ln>
        </p:spPr>
      </p:sp>
      <p:sp>
        <p:nvSpPr>
          <p:cNvPr id="43" name="Text 41"/>
          <p:cNvSpPr txBox="1"/>
          <p:nvPr/>
        </p:nvSpPr>
        <p:spPr>
          <a:xfrm>
            <a:off x="8814816" y="2395728"/>
            <a:ext cx="2697480" cy="512064"/>
          </a:xfrm>
          <a:prstGeom prst="rect">
            <a:avLst/>
          </a:prstGeom>
          <a:noFill/>
          <a:ln/>
        </p:spPr>
        <p:txBody>
          <a:bodyPr wrap="square" lIns="0" tIns="0" rIns="0" bIns="0" rtlCol="0" anchor="ctr"/>
          <a:lstStyle/>
          <a:p>
            <a:pPr indent="0" marL="0">
              <a:buNone/>
            </a:pPr>
            <a:r>
              <a:rPr lang="en-US" sz="1050" dirty="0">
                <a:solidFill>
                  <a:srgbClr val="343B4F"/>
                </a:solidFill>
                <a:latin typeface="Calibri" pitchFamily="34" charset="0"/>
                <a:ea typeface="Calibri" pitchFamily="34" charset="-122"/>
                <a:cs typeface="Calibri" pitchFamily="34" charset="-120"/>
              </a:rPr>
              <a:t>Approvals &amp; workflow history</a:t>
            </a:r>
            <a:endParaRPr lang="en-US" sz="1050" dirty="0"/>
          </a:p>
        </p:txBody>
      </p:sp>
      <p:sp>
        <p:nvSpPr>
          <p:cNvPr id="44" name="Shape 42"/>
          <p:cNvSpPr/>
          <p:nvPr/>
        </p:nvSpPr>
        <p:spPr>
          <a:xfrm>
            <a:off x="8613648" y="3017520"/>
            <a:ext cx="3017520" cy="512064"/>
          </a:xfrm>
          <a:prstGeom prst="roundRect">
            <a:avLst>
              <a:gd name="adj" fmla="val 14286"/>
            </a:avLst>
          </a:prstGeom>
          <a:solidFill>
            <a:srgbClr val="EEF3FC"/>
          </a:solidFill>
          <a:ln w="12700">
            <a:solidFill>
              <a:srgbClr val="DCE5F6"/>
            </a:solidFill>
            <a:prstDash val="solid"/>
          </a:ln>
        </p:spPr>
      </p:sp>
      <p:sp>
        <p:nvSpPr>
          <p:cNvPr id="45" name="Text 43"/>
          <p:cNvSpPr txBox="1"/>
          <p:nvPr/>
        </p:nvSpPr>
        <p:spPr>
          <a:xfrm>
            <a:off x="8814816" y="3017520"/>
            <a:ext cx="2697480" cy="512064"/>
          </a:xfrm>
          <a:prstGeom prst="rect">
            <a:avLst/>
          </a:prstGeom>
          <a:noFill/>
          <a:ln/>
        </p:spPr>
        <p:txBody>
          <a:bodyPr wrap="square" lIns="0" tIns="0" rIns="0" bIns="0" rtlCol="0" anchor="ctr"/>
          <a:lstStyle/>
          <a:p>
            <a:pPr indent="0" marL="0">
              <a:buNone/>
            </a:pPr>
            <a:r>
              <a:rPr lang="en-US" sz="1050" dirty="0">
                <a:solidFill>
                  <a:srgbClr val="343B4F"/>
                </a:solidFill>
                <a:latin typeface="Calibri" pitchFamily="34" charset="0"/>
                <a:ea typeface="Calibri" pitchFamily="34" charset="-122"/>
                <a:cs typeface="Calibri" pitchFamily="34" charset="-120"/>
              </a:rPr>
              <a:t>Leave balances &amp; credit ledger</a:t>
            </a:r>
            <a:endParaRPr lang="en-US" sz="1050" dirty="0"/>
          </a:p>
        </p:txBody>
      </p:sp>
      <p:sp>
        <p:nvSpPr>
          <p:cNvPr id="46" name="Shape 44"/>
          <p:cNvSpPr/>
          <p:nvPr/>
        </p:nvSpPr>
        <p:spPr>
          <a:xfrm>
            <a:off x="8613648" y="3639312"/>
            <a:ext cx="3017520" cy="512064"/>
          </a:xfrm>
          <a:prstGeom prst="roundRect">
            <a:avLst>
              <a:gd name="adj" fmla="val 14286"/>
            </a:avLst>
          </a:prstGeom>
          <a:solidFill>
            <a:srgbClr val="EEF3FC"/>
          </a:solidFill>
          <a:ln w="12700">
            <a:solidFill>
              <a:srgbClr val="DCE5F6"/>
            </a:solidFill>
            <a:prstDash val="solid"/>
          </a:ln>
        </p:spPr>
      </p:sp>
      <p:sp>
        <p:nvSpPr>
          <p:cNvPr id="47" name="Text 45"/>
          <p:cNvSpPr txBox="1"/>
          <p:nvPr/>
        </p:nvSpPr>
        <p:spPr>
          <a:xfrm>
            <a:off x="8814816" y="3639312"/>
            <a:ext cx="2697480" cy="512064"/>
          </a:xfrm>
          <a:prstGeom prst="rect">
            <a:avLst/>
          </a:prstGeom>
          <a:noFill/>
          <a:ln/>
        </p:spPr>
        <p:txBody>
          <a:bodyPr wrap="square" lIns="0" tIns="0" rIns="0" bIns="0" rtlCol="0" anchor="ctr"/>
          <a:lstStyle/>
          <a:p>
            <a:pPr indent="0" marL="0">
              <a:buNone/>
            </a:pPr>
            <a:r>
              <a:rPr lang="en-US" sz="1050" dirty="0">
                <a:solidFill>
                  <a:srgbClr val="343B4F"/>
                </a:solidFill>
                <a:latin typeface="Calibri" pitchFamily="34" charset="0"/>
                <a:ea typeface="Calibri" pitchFamily="34" charset="-122"/>
                <a:cs typeface="Calibri" pitchFamily="34" charset="-120"/>
              </a:rPr>
              <a:t>Leave types &amp; policy configuration</a:t>
            </a:r>
            <a:endParaRPr lang="en-US" sz="1050" dirty="0"/>
          </a:p>
        </p:txBody>
      </p:sp>
      <p:sp>
        <p:nvSpPr>
          <p:cNvPr id="48" name="Shape 46"/>
          <p:cNvSpPr/>
          <p:nvPr/>
        </p:nvSpPr>
        <p:spPr>
          <a:xfrm>
            <a:off x="8613648" y="4261104"/>
            <a:ext cx="3017520" cy="512064"/>
          </a:xfrm>
          <a:prstGeom prst="roundRect">
            <a:avLst>
              <a:gd name="adj" fmla="val 14286"/>
            </a:avLst>
          </a:prstGeom>
          <a:solidFill>
            <a:srgbClr val="FBEDEA"/>
          </a:solidFill>
          <a:ln w="12700">
            <a:solidFill>
              <a:srgbClr val="F0D3CD"/>
            </a:solidFill>
            <a:prstDash val="solid"/>
          </a:ln>
        </p:spPr>
      </p:sp>
      <p:sp>
        <p:nvSpPr>
          <p:cNvPr id="49" name="Text 47"/>
          <p:cNvSpPr txBox="1"/>
          <p:nvPr/>
        </p:nvSpPr>
        <p:spPr>
          <a:xfrm>
            <a:off x="8814816" y="4261104"/>
            <a:ext cx="2697480" cy="512064"/>
          </a:xfrm>
          <a:prstGeom prst="rect">
            <a:avLst/>
          </a:prstGeom>
          <a:noFill/>
          <a:ln/>
        </p:spPr>
        <p:txBody>
          <a:bodyPr wrap="square" lIns="0" tIns="0" rIns="0" bIns="0" rtlCol="0" anchor="ctr"/>
          <a:lstStyle/>
          <a:p>
            <a:pPr indent="0" marL="0">
              <a:buNone/>
            </a:pPr>
            <a:r>
              <a:rPr lang="en-US" sz="1050" dirty="0">
                <a:solidFill>
                  <a:srgbClr val="C43D2B"/>
                </a:solidFill>
                <a:latin typeface="Calibri" pitchFamily="34" charset="0"/>
                <a:ea typeface="Calibri" pitchFamily="34" charset="-122"/>
                <a:cs typeface="Calibri" pitchFamily="34" charset="-120"/>
              </a:rPr>
              <a:t>Audit log (append-only)</a:t>
            </a:r>
            <a:endParaRPr lang="en-US" sz="1050" dirty="0"/>
          </a:p>
        </p:txBody>
      </p:sp>
      <p:sp>
        <p:nvSpPr>
          <p:cNvPr id="50" name="Shape 48"/>
          <p:cNvSpPr/>
          <p:nvPr/>
        </p:nvSpPr>
        <p:spPr>
          <a:xfrm>
            <a:off x="8613648" y="4882896"/>
            <a:ext cx="3017520" cy="512064"/>
          </a:xfrm>
          <a:prstGeom prst="roundRect">
            <a:avLst>
              <a:gd name="adj" fmla="val 14286"/>
            </a:avLst>
          </a:prstGeom>
          <a:solidFill>
            <a:srgbClr val="FBEDEA"/>
          </a:solidFill>
          <a:ln w="12700">
            <a:solidFill>
              <a:srgbClr val="F0D3CD"/>
            </a:solidFill>
            <a:prstDash val="solid"/>
          </a:ln>
        </p:spPr>
      </p:sp>
      <p:sp>
        <p:nvSpPr>
          <p:cNvPr id="51" name="Text 49"/>
          <p:cNvSpPr txBox="1"/>
          <p:nvPr/>
        </p:nvSpPr>
        <p:spPr>
          <a:xfrm>
            <a:off x="8814816" y="4882896"/>
            <a:ext cx="2697480" cy="512064"/>
          </a:xfrm>
          <a:prstGeom prst="rect">
            <a:avLst/>
          </a:prstGeom>
          <a:noFill/>
          <a:ln/>
        </p:spPr>
        <p:txBody>
          <a:bodyPr wrap="square" lIns="0" tIns="0" rIns="0" bIns="0" rtlCol="0" anchor="ctr"/>
          <a:lstStyle/>
          <a:p>
            <a:pPr indent="0" marL="0">
              <a:buNone/>
            </a:pPr>
            <a:r>
              <a:rPr lang="en-US" sz="1050" dirty="0">
                <a:solidFill>
                  <a:srgbClr val="C43D2B"/>
                </a:solidFill>
                <a:latin typeface="Calibri" pitchFamily="34" charset="0"/>
                <a:ea typeface="Calibri" pitchFamily="34" charset="-122"/>
                <a:cs typeface="Calibri" pitchFamily="34" charset="-120"/>
              </a:rPr>
              <a:t>Activity log</a:t>
            </a:r>
            <a:endParaRPr lang="en-US" sz="1050" dirty="0"/>
          </a:p>
        </p:txBody>
      </p:sp>
      <p:sp>
        <p:nvSpPr>
          <p:cNvPr id="52" name="Shape 50"/>
          <p:cNvSpPr/>
          <p:nvPr/>
        </p:nvSpPr>
        <p:spPr>
          <a:xfrm>
            <a:off x="8613648" y="5504688"/>
            <a:ext cx="3017520" cy="512064"/>
          </a:xfrm>
          <a:prstGeom prst="roundRect">
            <a:avLst>
              <a:gd name="adj" fmla="val 14286"/>
            </a:avLst>
          </a:prstGeom>
          <a:solidFill>
            <a:srgbClr val="FBEDEA"/>
          </a:solidFill>
          <a:ln w="12700">
            <a:solidFill>
              <a:srgbClr val="F0D3CD"/>
            </a:solidFill>
            <a:prstDash val="solid"/>
          </a:ln>
        </p:spPr>
      </p:sp>
      <p:sp>
        <p:nvSpPr>
          <p:cNvPr id="53" name="Text 51"/>
          <p:cNvSpPr txBox="1"/>
          <p:nvPr/>
        </p:nvSpPr>
        <p:spPr>
          <a:xfrm>
            <a:off x="8814816" y="5504688"/>
            <a:ext cx="2697480" cy="512064"/>
          </a:xfrm>
          <a:prstGeom prst="rect">
            <a:avLst/>
          </a:prstGeom>
          <a:noFill/>
          <a:ln/>
        </p:spPr>
        <p:txBody>
          <a:bodyPr wrap="square" lIns="0" tIns="0" rIns="0" bIns="0" rtlCol="0" anchor="ctr"/>
          <a:lstStyle/>
          <a:p>
            <a:pPr indent="0" marL="0">
              <a:buNone/>
            </a:pPr>
            <a:r>
              <a:rPr lang="en-US" sz="1050" dirty="0">
                <a:solidFill>
                  <a:srgbClr val="C43D2B"/>
                </a:solidFill>
                <a:latin typeface="Calibri" pitchFamily="34" charset="0"/>
                <a:ea typeface="Calibri" pitchFamily="34" charset="-122"/>
                <a:cs typeface="Calibri" pitchFamily="34" charset="-120"/>
              </a:rPr>
              <a:t>Intrusion &amp; failed-login logs</a:t>
            </a:r>
            <a:endParaRPr lang="en-US" sz="1050" dirty="0"/>
          </a:p>
        </p:txBody>
      </p:sp>
      <p:sp>
        <p:nvSpPr>
          <p:cNvPr id="54" name="Text 52"/>
          <p:cNvSpPr txBox="1"/>
          <p:nvPr/>
        </p:nvSpPr>
        <p:spPr>
          <a:xfrm>
            <a:off x="566928" y="6272784"/>
            <a:ext cx="11064240" cy="274320"/>
          </a:xfrm>
          <a:prstGeom prst="rect">
            <a:avLst/>
          </a:prstGeom>
          <a:noFill/>
          <a:ln/>
        </p:spPr>
        <p:txBody>
          <a:bodyPr wrap="square" lIns="0" tIns="0" rIns="0" bIns="0" rtlCol="0" anchor="ctr"/>
          <a:lstStyle/>
          <a:p>
            <a:pPr indent="0" marL="0">
              <a:buNone/>
            </a:pP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66928" y="384048"/>
            <a:ext cx="8229600" cy="237744"/>
          </a:xfrm>
          <a:prstGeom prst="rect">
            <a:avLst/>
          </a:prstGeom>
          <a:noFill/>
          <a:ln/>
        </p:spPr>
        <p:txBody>
          <a:bodyPr wrap="square" lIns="0" tIns="0" rIns="0" bIns="0" rtlCol="0" anchor="ctr"/>
          <a:lstStyle/>
          <a:p>
            <a:pPr indent="0" marL="0">
              <a:buNone/>
            </a:pPr>
            <a:r>
              <a:rPr lang="en-US" sz="1100" b="1" spc="160" kern="0" dirty="0">
                <a:solidFill>
                  <a:srgbClr val="78819A"/>
                </a:solidFill>
                <a:latin typeface="Calibri" pitchFamily="34" charset="0"/>
                <a:ea typeface="Calibri" pitchFamily="34" charset="-122"/>
                <a:cs typeface="Calibri" pitchFamily="34" charset="-120"/>
              </a:rPr>
              <a:t>4.3.4  SECURITY CONTROL MAPPING</a:t>
            </a:r>
            <a:endParaRPr lang="en-US" sz="1100" dirty="0"/>
          </a:p>
        </p:txBody>
      </p:sp>
      <p:sp>
        <p:nvSpPr>
          <p:cNvPr id="3" name="Text 1"/>
          <p:cNvSpPr txBox="1"/>
          <p:nvPr/>
        </p:nvSpPr>
        <p:spPr>
          <a:xfrm>
            <a:off x="548640" y="621792"/>
            <a:ext cx="11155680" cy="603504"/>
          </a:xfrm>
          <a:prstGeom prst="rect">
            <a:avLst/>
          </a:prstGeom>
          <a:noFill/>
          <a:ln/>
        </p:spPr>
        <p:txBody>
          <a:bodyPr wrap="square" lIns="0" tIns="0" rIns="0" bIns="0" rtlCol="0" anchor="t"/>
          <a:lstStyle/>
          <a:p>
            <a:pPr indent="0" marL="0">
              <a:buNone/>
            </a:pPr>
            <a:r>
              <a:rPr lang="en-US" sz="3200" b="1" dirty="0">
                <a:solidFill>
                  <a:srgbClr val="1E2761"/>
                </a:solidFill>
                <a:latin typeface="Cambria" pitchFamily="34" charset="0"/>
                <a:ea typeface="Cambria" pitchFamily="34" charset="-122"/>
                <a:cs typeface="Cambria" pitchFamily="34" charset="-120"/>
              </a:rPr>
              <a:t>Objectives traced to implemented controls</a:t>
            </a:r>
            <a:endParaRPr lang="en-US" sz="3200" dirty="0"/>
          </a:p>
        </p:txBody>
      </p:sp>
      <p:sp>
        <p:nvSpPr>
          <p:cNvPr id="4" name="Shape 2"/>
          <p:cNvSpPr/>
          <p:nvPr/>
        </p:nvSpPr>
        <p:spPr>
          <a:xfrm>
            <a:off x="566928" y="1444752"/>
            <a:ext cx="5413248" cy="914400"/>
          </a:xfrm>
          <a:prstGeom prst="roundRect">
            <a:avLst>
              <a:gd name="adj" fmla="val 8000"/>
            </a:avLst>
          </a:prstGeom>
          <a:solidFill>
            <a:srgbClr val="EEF3FC"/>
          </a:solidFill>
          <a:ln w="12700">
            <a:solidFill>
              <a:srgbClr val="DCE5F6"/>
            </a:solidFill>
            <a:prstDash val="solid"/>
          </a:ln>
        </p:spPr>
      </p:sp>
      <p:sp>
        <p:nvSpPr>
          <p:cNvPr id="5" name="Text 3"/>
          <p:cNvSpPr txBox="1"/>
          <p:nvPr/>
        </p:nvSpPr>
        <p:spPr>
          <a:xfrm>
            <a:off x="804672" y="1572768"/>
            <a:ext cx="4937760" cy="256032"/>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Confidentiality</a:t>
            </a:r>
            <a:endParaRPr lang="en-US" sz="1300" dirty="0"/>
          </a:p>
        </p:txBody>
      </p:sp>
      <p:sp>
        <p:nvSpPr>
          <p:cNvPr id="6" name="Text 4"/>
          <p:cNvSpPr txBox="1"/>
          <p:nvPr/>
        </p:nvSpPr>
        <p:spPr>
          <a:xfrm>
            <a:off x="804672" y="1847088"/>
            <a:ext cx="4937760" cy="420624"/>
          </a:xfrm>
          <a:prstGeom prst="rect">
            <a:avLst/>
          </a:prstGeom>
          <a:noFill/>
          <a:ln/>
        </p:spPr>
        <p:txBody>
          <a:bodyPr wrap="square" lIns="0" tIns="0" rIns="0" bIns="0" rtlCol="0" anchor="ctr"/>
          <a:lstStyle/>
          <a:p>
            <a:pPr indent="0" marL="0">
              <a:lnSpc>
                <a:spcPts val="1450"/>
              </a:lnSpc>
              <a:buNone/>
            </a:pPr>
            <a:r>
              <a:rPr lang="en-US" sz="1100" dirty="0">
                <a:solidFill>
                  <a:srgbClr val="343B4F"/>
                </a:solidFill>
                <a:latin typeface="Calibri" pitchFamily="34" charset="0"/>
                <a:ea typeface="Calibri" pitchFamily="34" charset="-122"/>
                <a:cs typeface="Calibri" pitchFamily="34" charset="-120"/>
              </a:rPr>
              <a:t>HTTPS/TLS transport · OTP authentication · bcrypt password hashing</a:t>
            </a:r>
            <a:endParaRPr lang="en-US" sz="1100" dirty="0"/>
          </a:p>
        </p:txBody>
      </p:sp>
      <p:sp>
        <p:nvSpPr>
          <p:cNvPr id="7" name="Shape 5"/>
          <p:cNvSpPr/>
          <p:nvPr/>
        </p:nvSpPr>
        <p:spPr>
          <a:xfrm>
            <a:off x="6217920" y="1444752"/>
            <a:ext cx="5413248" cy="914400"/>
          </a:xfrm>
          <a:prstGeom prst="roundRect">
            <a:avLst>
              <a:gd name="adj" fmla="val 8000"/>
            </a:avLst>
          </a:prstGeom>
          <a:solidFill>
            <a:srgbClr val="EEF3FC"/>
          </a:solidFill>
          <a:ln w="12700">
            <a:solidFill>
              <a:srgbClr val="DCE5F6"/>
            </a:solidFill>
            <a:prstDash val="solid"/>
          </a:ln>
        </p:spPr>
      </p:sp>
      <p:sp>
        <p:nvSpPr>
          <p:cNvPr id="8" name="Text 6"/>
          <p:cNvSpPr txBox="1"/>
          <p:nvPr/>
        </p:nvSpPr>
        <p:spPr>
          <a:xfrm>
            <a:off x="6455664" y="1572768"/>
            <a:ext cx="4937760" cy="256032"/>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Integrity</a:t>
            </a:r>
            <a:endParaRPr lang="en-US" sz="1300" dirty="0"/>
          </a:p>
        </p:txBody>
      </p:sp>
      <p:sp>
        <p:nvSpPr>
          <p:cNvPr id="9" name="Text 7"/>
          <p:cNvSpPr txBox="1"/>
          <p:nvPr/>
        </p:nvSpPr>
        <p:spPr>
          <a:xfrm>
            <a:off x="6455664" y="1847088"/>
            <a:ext cx="4937760" cy="420624"/>
          </a:xfrm>
          <a:prstGeom prst="rect">
            <a:avLst/>
          </a:prstGeom>
          <a:noFill/>
          <a:ln/>
        </p:spPr>
        <p:txBody>
          <a:bodyPr wrap="square" lIns="0" tIns="0" rIns="0" bIns="0" rtlCol="0" anchor="ctr"/>
          <a:lstStyle/>
          <a:p>
            <a:pPr indent="0" marL="0">
              <a:lnSpc>
                <a:spcPts val="1450"/>
              </a:lnSpc>
              <a:buNone/>
            </a:pPr>
            <a:r>
              <a:rPr lang="en-US" sz="1100" dirty="0">
                <a:solidFill>
                  <a:srgbClr val="343B4F"/>
                </a:solidFill>
                <a:latin typeface="Calibri" pitchFamily="34" charset="0"/>
                <a:ea typeface="Calibri" pitchFamily="34" charset="-122"/>
                <a:cs typeface="Calibri" pitchFamily="34" charset="-120"/>
              </a:rPr>
              <a:t>Server-side input validation · parameterized queries · automated computation</a:t>
            </a:r>
            <a:endParaRPr lang="en-US" sz="1100" dirty="0"/>
          </a:p>
        </p:txBody>
      </p:sp>
      <p:sp>
        <p:nvSpPr>
          <p:cNvPr id="10" name="Shape 8"/>
          <p:cNvSpPr/>
          <p:nvPr/>
        </p:nvSpPr>
        <p:spPr>
          <a:xfrm>
            <a:off x="566928" y="2505456"/>
            <a:ext cx="5413248" cy="914400"/>
          </a:xfrm>
          <a:prstGeom prst="roundRect">
            <a:avLst>
              <a:gd name="adj" fmla="val 8000"/>
            </a:avLst>
          </a:prstGeom>
          <a:solidFill>
            <a:srgbClr val="EEF3FC"/>
          </a:solidFill>
          <a:ln w="12700">
            <a:solidFill>
              <a:srgbClr val="DCE5F6"/>
            </a:solidFill>
            <a:prstDash val="solid"/>
          </a:ln>
        </p:spPr>
      </p:sp>
      <p:sp>
        <p:nvSpPr>
          <p:cNvPr id="11" name="Text 9"/>
          <p:cNvSpPr txBox="1"/>
          <p:nvPr/>
        </p:nvSpPr>
        <p:spPr>
          <a:xfrm>
            <a:off x="804672" y="2633472"/>
            <a:ext cx="4937760" cy="256032"/>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Availability</a:t>
            </a:r>
            <a:endParaRPr lang="en-US" sz="1300" dirty="0"/>
          </a:p>
        </p:txBody>
      </p:sp>
      <p:sp>
        <p:nvSpPr>
          <p:cNvPr id="12" name="Text 10"/>
          <p:cNvSpPr txBox="1"/>
          <p:nvPr/>
        </p:nvSpPr>
        <p:spPr>
          <a:xfrm>
            <a:off x="804672" y="2907792"/>
            <a:ext cx="4937760" cy="420624"/>
          </a:xfrm>
          <a:prstGeom prst="rect">
            <a:avLst/>
          </a:prstGeom>
          <a:noFill/>
          <a:ln/>
        </p:spPr>
        <p:txBody>
          <a:bodyPr wrap="square" lIns="0" tIns="0" rIns="0" bIns="0" rtlCol="0" anchor="ctr"/>
          <a:lstStyle/>
          <a:p>
            <a:pPr indent="0" marL="0">
              <a:lnSpc>
                <a:spcPts val="1450"/>
              </a:lnSpc>
              <a:buNone/>
            </a:pPr>
            <a:r>
              <a:rPr lang="en-US" sz="1100" dirty="0">
                <a:solidFill>
                  <a:srgbClr val="343B4F"/>
                </a:solidFill>
                <a:latin typeface="Calibri" pitchFamily="34" charset="0"/>
                <a:ea typeface="Calibri" pitchFamily="34" charset="-122"/>
                <a:cs typeface="Calibri" pitchFamily="34" charset="-120"/>
              </a:rPr>
              <a:t>LAN-based deployment · centralized server · scheduled backups</a:t>
            </a:r>
            <a:endParaRPr lang="en-US" sz="1100" dirty="0"/>
          </a:p>
        </p:txBody>
      </p:sp>
      <p:sp>
        <p:nvSpPr>
          <p:cNvPr id="13" name="Shape 11"/>
          <p:cNvSpPr/>
          <p:nvPr/>
        </p:nvSpPr>
        <p:spPr>
          <a:xfrm>
            <a:off x="6217920" y="2505456"/>
            <a:ext cx="5413248" cy="914400"/>
          </a:xfrm>
          <a:prstGeom prst="roundRect">
            <a:avLst>
              <a:gd name="adj" fmla="val 8000"/>
            </a:avLst>
          </a:prstGeom>
          <a:solidFill>
            <a:srgbClr val="EEF3FC"/>
          </a:solidFill>
          <a:ln w="12700">
            <a:solidFill>
              <a:srgbClr val="DCE5F6"/>
            </a:solidFill>
            <a:prstDash val="solid"/>
          </a:ln>
        </p:spPr>
      </p:sp>
      <p:sp>
        <p:nvSpPr>
          <p:cNvPr id="14" name="Text 12"/>
          <p:cNvSpPr txBox="1"/>
          <p:nvPr/>
        </p:nvSpPr>
        <p:spPr>
          <a:xfrm>
            <a:off x="6455664" y="2633472"/>
            <a:ext cx="4937760" cy="256032"/>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Authentication</a:t>
            </a:r>
            <a:endParaRPr lang="en-US" sz="1300" dirty="0"/>
          </a:p>
        </p:txBody>
      </p:sp>
      <p:sp>
        <p:nvSpPr>
          <p:cNvPr id="15" name="Text 13"/>
          <p:cNvSpPr txBox="1"/>
          <p:nvPr/>
        </p:nvSpPr>
        <p:spPr>
          <a:xfrm>
            <a:off x="6455664" y="2907792"/>
            <a:ext cx="4937760" cy="420624"/>
          </a:xfrm>
          <a:prstGeom prst="rect">
            <a:avLst/>
          </a:prstGeom>
          <a:noFill/>
          <a:ln/>
        </p:spPr>
        <p:txBody>
          <a:bodyPr wrap="square" lIns="0" tIns="0" rIns="0" bIns="0" rtlCol="0" anchor="ctr"/>
          <a:lstStyle/>
          <a:p>
            <a:pPr indent="0" marL="0">
              <a:lnSpc>
                <a:spcPts val="1450"/>
              </a:lnSpc>
              <a:buNone/>
            </a:pPr>
            <a:r>
              <a:rPr lang="en-US" sz="1100" dirty="0">
                <a:solidFill>
                  <a:srgbClr val="343B4F"/>
                </a:solidFill>
                <a:latin typeface="Calibri" pitchFamily="34" charset="0"/>
                <a:ea typeface="Calibri" pitchFamily="34" charset="-122"/>
                <a:cs typeface="Calibri" pitchFamily="34" charset="-120"/>
              </a:rPr>
              <a:t>Username and password with email one-time password (OTP)</a:t>
            </a:r>
            <a:endParaRPr lang="en-US" sz="1100" dirty="0"/>
          </a:p>
        </p:txBody>
      </p:sp>
      <p:sp>
        <p:nvSpPr>
          <p:cNvPr id="16" name="Shape 14"/>
          <p:cNvSpPr/>
          <p:nvPr/>
        </p:nvSpPr>
        <p:spPr>
          <a:xfrm>
            <a:off x="566928" y="3566160"/>
            <a:ext cx="5413248" cy="914400"/>
          </a:xfrm>
          <a:prstGeom prst="roundRect">
            <a:avLst>
              <a:gd name="adj" fmla="val 8000"/>
            </a:avLst>
          </a:prstGeom>
          <a:solidFill>
            <a:srgbClr val="EEF3FC"/>
          </a:solidFill>
          <a:ln w="12700">
            <a:solidFill>
              <a:srgbClr val="DCE5F6"/>
            </a:solidFill>
            <a:prstDash val="solid"/>
          </a:ln>
        </p:spPr>
      </p:sp>
      <p:sp>
        <p:nvSpPr>
          <p:cNvPr id="17" name="Text 15"/>
          <p:cNvSpPr txBox="1"/>
          <p:nvPr/>
        </p:nvSpPr>
        <p:spPr>
          <a:xfrm>
            <a:off x="804672" y="3694176"/>
            <a:ext cx="4937760" cy="256032"/>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Authorization</a:t>
            </a:r>
            <a:endParaRPr lang="en-US" sz="1300" dirty="0"/>
          </a:p>
        </p:txBody>
      </p:sp>
      <p:sp>
        <p:nvSpPr>
          <p:cNvPr id="18" name="Text 16"/>
          <p:cNvSpPr txBox="1"/>
          <p:nvPr/>
        </p:nvSpPr>
        <p:spPr>
          <a:xfrm>
            <a:off x="804672" y="3968496"/>
            <a:ext cx="4937760" cy="420624"/>
          </a:xfrm>
          <a:prstGeom prst="rect">
            <a:avLst/>
          </a:prstGeom>
          <a:noFill/>
          <a:ln/>
        </p:spPr>
        <p:txBody>
          <a:bodyPr wrap="square" lIns="0" tIns="0" rIns="0" bIns="0" rtlCol="0" anchor="ctr"/>
          <a:lstStyle/>
          <a:p>
            <a:pPr indent="0" marL="0">
              <a:lnSpc>
                <a:spcPts val="1450"/>
              </a:lnSpc>
              <a:buNone/>
            </a:pPr>
            <a:r>
              <a:rPr lang="en-US" sz="1100" dirty="0">
                <a:solidFill>
                  <a:srgbClr val="343B4F"/>
                </a:solidFill>
                <a:latin typeface="Calibri" pitchFamily="34" charset="0"/>
                <a:ea typeface="Calibri" pitchFamily="34" charset="-122"/>
                <a:cs typeface="Calibri" pitchFamily="34" charset="-120"/>
              </a:rPr>
              <a:t>Role-Based Access Control with inheritance and per-user overrides</a:t>
            </a:r>
            <a:endParaRPr lang="en-US" sz="1100" dirty="0"/>
          </a:p>
        </p:txBody>
      </p:sp>
      <p:sp>
        <p:nvSpPr>
          <p:cNvPr id="19" name="Shape 17"/>
          <p:cNvSpPr/>
          <p:nvPr/>
        </p:nvSpPr>
        <p:spPr>
          <a:xfrm>
            <a:off x="6217920" y="3566160"/>
            <a:ext cx="5413248" cy="914400"/>
          </a:xfrm>
          <a:prstGeom prst="roundRect">
            <a:avLst>
              <a:gd name="adj" fmla="val 8000"/>
            </a:avLst>
          </a:prstGeom>
          <a:solidFill>
            <a:srgbClr val="EEF3FC"/>
          </a:solidFill>
          <a:ln w="12700">
            <a:solidFill>
              <a:srgbClr val="DCE5F6"/>
            </a:solidFill>
            <a:prstDash val="solid"/>
          </a:ln>
        </p:spPr>
      </p:sp>
      <p:sp>
        <p:nvSpPr>
          <p:cNvPr id="20" name="Text 18"/>
          <p:cNvSpPr txBox="1"/>
          <p:nvPr/>
        </p:nvSpPr>
        <p:spPr>
          <a:xfrm>
            <a:off x="6455664" y="3694176"/>
            <a:ext cx="4937760" cy="256032"/>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Accountability</a:t>
            </a:r>
            <a:endParaRPr lang="en-US" sz="1300" dirty="0"/>
          </a:p>
        </p:txBody>
      </p:sp>
      <p:sp>
        <p:nvSpPr>
          <p:cNvPr id="21" name="Text 19"/>
          <p:cNvSpPr txBox="1"/>
          <p:nvPr/>
        </p:nvSpPr>
        <p:spPr>
          <a:xfrm>
            <a:off x="6455664" y="3968496"/>
            <a:ext cx="4937760" cy="420624"/>
          </a:xfrm>
          <a:prstGeom prst="rect">
            <a:avLst/>
          </a:prstGeom>
          <a:noFill/>
          <a:ln/>
        </p:spPr>
        <p:txBody>
          <a:bodyPr wrap="square" lIns="0" tIns="0" rIns="0" bIns="0" rtlCol="0" anchor="ctr"/>
          <a:lstStyle/>
          <a:p>
            <a:pPr indent="0" marL="0">
              <a:lnSpc>
                <a:spcPts val="1450"/>
              </a:lnSpc>
              <a:buNone/>
            </a:pPr>
            <a:r>
              <a:rPr lang="en-US" sz="1100" dirty="0">
                <a:solidFill>
                  <a:srgbClr val="343B4F"/>
                </a:solidFill>
                <a:latin typeface="Calibri" pitchFamily="34" charset="0"/>
                <a:ea typeface="Calibri" pitchFamily="34" charset="-122"/>
                <a:cs typeface="Calibri" pitchFamily="34" charset="-120"/>
              </a:rPr>
              <a:t>Append-only audit trail and page-level activity logs</a:t>
            </a:r>
            <a:endParaRPr lang="en-US" sz="1100" dirty="0"/>
          </a:p>
        </p:txBody>
      </p:sp>
      <p:sp>
        <p:nvSpPr>
          <p:cNvPr id="22" name="Shape 20"/>
          <p:cNvSpPr/>
          <p:nvPr/>
        </p:nvSpPr>
        <p:spPr>
          <a:xfrm>
            <a:off x="566928" y="4626864"/>
            <a:ext cx="5413248" cy="914400"/>
          </a:xfrm>
          <a:prstGeom prst="roundRect">
            <a:avLst>
              <a:gd name="adj" fmla="val 8000"/>
            </a:avLst>
          </a:prstGeom>
          <a:solidFill>
            <a:srgbClr val="EEF3FC"/>
          </a:solidFill>
          <a:ln w="12700">
            <a:solidFill>
              <a:srgbClr val="DCE5F6"/>
            </a:solidFill>
            <a:prstDash val="solid"/>
          </a:ln>
        </p:spPr>
      </p:sp>
      <p:sp>
        <p:nvSpPr>
          <p:cNvPr id="23" name="Text 21"/>
          <p:cNvSpPr txBox="1"/>
          <p:nvPr/>
        </p:nvSpPr>
        <p:spPr>
          <a:xfrm>
            <a:off x="804672" y="4754880"/>
            <a:ext cx="4937760" cy="256032"/>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Threat detection</a:t>
            </a:r>
            <a:endParaRPr lang="en-US" sz="1300" dirty="0"/>
          </a:p>
        </p:txBody>
      </p:sp>
      <p:sp>
        <p:nvSpPr>
          <p:cNvPr id="24" name="Text 22"/>
          <p:cNvSpPr txBox="1"/>
          <p:nvPr/>
        </p:nvSpPr>
        <p:spPr>
          <a:xfrm>
            <a:off x="804672" y="5029200"/>
            <a:ext cx="4937760" cy="420624"/>
          </a:xfrm>
          <a:prstGeom prst="rect">
            <a:avLst/>
          </a:prstGeom>
          <a:noFill/>
          <a:ln/>
        </p:spPr>
        <p:txBody>
          <a:bodyPr wrap="square" lIns="0" tIns="0" rIns="0" bIns="0" rtlCol="0" anchor="ctr"/>
          <a:lstStyle/>
          <a:p>
            <a:pPr indent="0" marL="0">
              <a:lnSpc>
                <a:spcPts val="1450"/>
              </a:lnSpc>
              <a:buNone/>
            </a:pPr>
            <a:r>
              <a:rPr lang="en-US" sz="1100" dirty="0">
                <a:solidFill>
                  <a:srgbClr val="343B4F"/>
                </a:solidFill>
                <a:latin typeface="Calibri" pitchFamily="34" charset="0"/>
                <a:ea typeface="Calibri" pitchFamily="34" charset="-122"/>
                <a:cs typeface="Calibri" pitchFamily="34" charset="-120"/>
              </a:rPr>
              <a:t>IP monitoring · login-attempt thresholds · real-time intrusion alerts</a:t>
            </a:r>
            <a:endParaRPr lang="en-US" sz="1100" dirty="0"/>
          </a:p>
        </p:txBody>
      </p:sp>
      <p:sp>
        <p:nvSpPr>
          <p:cNvPr id="25" name="Shape 23"/>
          <p:cNvSpPr/>
          <p:nvPr/>
        </p:nvSpPr>
        <p:spPr>
          <a:xfrm>
            <a:off x="6217920" y="4626864"/>
            <a:ext cx="5413248" cy="914400"/>
          </a:xfrm>
          <a:prstGeom prst="roundRect">
            <a:avLst>
              <a:gd name="adj" fmla="val 8000"/>
            </a:avLst>
          </a:prstGeom>
          <a:solidFill>
            <a:srgbClr val="FBEDEA"/>
          </a:solidFill>
          <a:ln w="12700">
            <a:solidFill>
              <a:srgbClr val="F0D3CD"/>
            </a:solidFill>
            <a:prstDash val="solid"/>
          </a:ln>
        </p:spPr>
      </p:sp>
      <p:sp>
        <p:nvSpPr>
          <p:cNvPr id="26" name="Text 24"/>
          <p:cNvSpPr txBox="1"/>
          <p:nvPr/>
        </p:nvSpPr>
        <p:spPr>
          <a:xfrm>
            <a:off x="6455664" y="4754880"/>
            <a:ext cx="4937760" cy="256032"/>
          </a:xfrm>
          <a:prstGeom prst="rect">
            <a:avLst/>
          </a:prstGeom>
          <a:noFill/>
          <a:ln/>
        </p:spPr>
        <p:txBody>
          <a:bodyPr wrap="square" lIns="0" tIns="0" rIns="0" bIns="0" rtlCol="0" anchor="ctr"/>
          <a:lstStyle/>
          <a:p>
            <a:pPr indent="0" marL="0">
              <a:buNone/>
            </a:pPr>
            <a:r>
              <a:rPr lang="en-US" sz="1300" b="1" dirty="0">
                <a:solidFill>
                  <a:srgbClr val="C43D2B"/>
                </a:solidFill>
                <a:latin typeface="Calibri" pitchFamily="34" charset="0"/>
                <a:ea typeface="Calibri" pitchFamily="34" charset="-122"/>
                <a:cs typeface="Calibri" pitchFamily="34" charset="-120"/>
              </a:rPr>
              <a:t>Documented limitation</a:t>
            </a:r>
            <a:endParaRPr lang="en-US" sz="1300" dirty="0"/>
          </a:p>
        </p:txBody>
      </p:sp>
      <p:sp>
        <p:nvSpPr>
          <p:cNvPr id="27" name="Text 25"/>
          <p:cNvSpPr txBox="1"/>
          <p:nvPr/>
        </p:nvSpPr>
        <p:spPr>
          <a:xfrm>
            <a:off x="6455664" y="5029200"/>
            <a:ext cx="4937760" cy="420624"/>
          </a:xfrm>
          <a:prstGeom prst="rect">
            <a:avLst/>
          </a:prstGeom>
          <a:noFill/>
          <a:ln/>
        </p:spPr>
        <p:txBody>
          <a:bodyPr wrap="square" lIns="0" tIns="0" rIns="0" bIns="0" rtlCol="0" anchor="ctr"/>
          <a:lstStyle/>
          <a:p>
            <a:pPr indent="0" marL="0">
              <a:lnSpc>
                <a:spcPts val="1450"/>
              </a:lnSpc>
              <a:buNone/>
            </a:pPr>
            <a:r>
              <a:rPr lang="en-US" sz="1100" dirty="0">
                <a:solidFill>
                  <a:srgbClr val="343B4F"/>
                </a:solidFill>
                <a:latin typeface="Calibri" pitchFamily="34" charset="0"/>
                <a:ea typeface="Calibri" pitchFamily="34" charset="-122"/>
                <a:cs typeface="Calibri" pitchFamily="34" charset="-120"/>
              </a:rPr>
              <a:t>Data at rest is not encrypted. Stored data is protected by host access control, localhost-only database binding, and physical security.</a:t>
            </a:r>
            <a:endParaRPr lang="en-US" sz="1100" dirty="0"/>
          </a:p>
        </p:txBody>
      </p:sp>
      <p:sp>
        <p:nvSpPr>
          <p:cNvPr id="28" name="Shape 26"/>
          <p:cNvSpPr/>
          <p:nvPr/>
        </p:nvSpPr>
        <p:spPr>
          <a:xfrm>
            <a:off x="566928" y="5669280"/>
            <a:ext cx="11064240" cy="566928"/>
          </a:xfrm>
          <a:prstGeom prst="roundRect">
            <a:avLst>
              <a:gd name="adj" fmla="val 12903"/>
            </a:avLst>
          </a:prstGeom>
          <a:solidFill>
            <a:srgbClr val="1E2761"/>
          </a:solidFill>
          <a:ln w="12700">
            <a:solidFill>
              <a:srgbClr val="1E2761"/>
            </a:solidFill>
            <a:prstDash val="solid"/>
          </a:ln>
        </p:spPr>
      </p:sp>
      <p:sp>
        <p:nvSpPr>
          <p:cNvPr id="29" name="Text 27"/>
          <p:cNvSpPr txBox="1"/>
          <p:nvPr/>
        </p:nvSpPr>
        <p:spPr>
          <a:xfrm>
            <a:off x="822960" y="5669280"/>
            <a:ext cx="10561320" cy="566928"/>
          </a:xfrm>
          <a:prstGeom prst="rect">
            <a:avLst/>
          </a:prstGeom>
          <a:noFill/>
          <a:ln/>
        </p:spPr>
        <p:txBody>
          <a:bodyPr wrap="square" lIns="0" tIns="0" rIns="0" bIns="0" rtlCol="0" anchor="ctr"/>
          <a:lstStyle/>
          <a:p>
            <a:pPr indent="0" marL="0">
              <a:buNone/>
            </a:pPr>
            <a:r>
              <a:rPr lang="en-US" sz="1150" dirty="0">
                <a:solidFill>
                  <a:srgbClr val="CADCFC"/>
                </a:solidFill>
                <a:latin typeface="Calibri" pitchFamily="34" charset="0"/>
                <a:ea typeface="Calibri" pitchFamily="34" charset="-122"/>
                <a:cs typeface="Calibri" pitchFamily="34" charset="-120"/>
              </a:rPr>
              <a:t>Threats addressed: SQL injection · brute-force login · unauthorized access · session hijacking · data tampering · credential theft · insider misuse</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66928" y="384048"/>
            <a:ext cx="8229600" cy="237744"/>
          </a:xfrm>
          <a:prstGeom prst="rect">
            <a:avLst/>
          </a:prstGeom>
          <a:noFill/>
          <a:ln/>
        </p:spPr>
        <p:txBody>
          <a:bodyPr wrap="square" lIns="0" tIns="0" rIns="0" bIns="0" rtlCol="0" anchor="ctr"/>
          <a:lstStyle/>
          <a:p>
            <a:pPr indent="0" marL="0">
              <a:buNone/>
            </a:pPr>
            <a:r>
              <a:rPr lang="en-US" sz="1100" b="1" spc="160" kern="0" dirty="0">
                <a:solidFill>
                  <a:srgbClr val="78819A"/>
                </a:solidFill>
                <a:latin typeface="Calibri" pitchFamily="34" charset="0"/>
                <a:ea typeface="Calibri" pitchFamily="34" charset="-122"/>
                <a:cs typeface="Calibri" pitchFamily="34" charset="-120"/>
              </a:rPr>
              <a:t>4.9.5  TECHNICAL FRAMEWORK</a:t>
            </a:r>
            <a:endParaRPr lang="en-US" sz="1100" dirty="0"/>
          </a:p>
        </p:txBody>
      </p:sp>
      <p:sp>
        <p:nvSpPr>
          <p:cNvPr id="3" name="Text 1"/>
          <p:cNvSpPr txBox="1"/>
          <p:nvPr/>
        </p:nvSpPr>
        <p:spPr>
          <a:xfrm>
            <a:off x="548640" y="621792"/>
            <a:ext cx="11155680" cy="603504"/>
          </a:xfrm>
          <a:prstGeom prst="rect">
            <a:avLst/>
          </a:prstGeom>
          <a:noFill/>
          <a:ln/>
        </p:spPr>
        <p:txBody>
          <a:bodyPr wrap="square" lIns="0" tIns="0" rIns="0" bIns="0" rtlCol="0" anchor="t"/>
          <a:lstStyle/>
          <a:p>
            <a:pPr indent="0" marL="0">
              <a:buNone/>
            </a:pPr>
            <a:r>
              <a:rPr lang="en-US" sz="3200" b="1" dirty="0">
                <a:solidFill>
                  <a:srgbClr val="1E2761"/>
                </a:solidFill>
                <a:latin typeface="Cambria" pitchFamily="34" charset="0"/>
                <a:ea typeface="Cambria" pitchFamily="34" charset="-122"/>
                <a:cs typeface="Cambria" pitchFamily="34" charset="-120"/>
              </a:rPr>
              <a:t>Four tiers, and the technology in each</a:t>
            </a:r>
            <a:endParaRPr lang="en-US" sz="3200" dirty="0"/>
          </a:p>
        </p:txBody>
      </p:sp>
      <p:sp>
        <p:nvSpPr>
          <p:cNvPr id="4" name="Shape 2"/>
          <p:cNvSpPr/>
          <p:nvPr/>
        </p:nvSpPr>
        <p:spPr>
          <a:xfrm>
            <a:off x="566928" y="1444752"/>
            <a:ext cx="2633472" cy="3246120"/>
          </a:xfrm>
          <a:prstGeom prst="roundRect">
            <a:avLst>
              <a:gd name="adj" fmla="val 2778"/>
            </a:avLst>
          </a:prstGeom>
          <a:solidFill>
            <a:srgbClr val="CADCFC"/>
          </a:solidFill>
          <a:ln w="12700">
            <a:solidFill>
              <a:srgbClr val="CADCFC"/>
            </a:solidFill>
            <a:prstDash val="solid"/>
          </a:ln>
          <a:effectLst>
            <a:outerShdw sx="100000" sy="100000" kx="0" ky="0" algn="bl" rotWithShape="0" blurRad="101600" dist="12700" dir="5400000">
              <a:srgbClr val="8892AA">
                <a:alpha val="10000"/>
              </a:srgbClr>
            </a:outerShdw>
          </a:effectLst>
        </p:spPr>
      </p:sp>
      <p:sp>
        <p:nvSpPr>
          <p:cNvPr id="5" name="Text 3"/>
          <p:cNvSpPr txBox="1"/>
          <p:nvPr/>
        </p:nvSpPr>
        <p:spPr>
          <a:xfrm>
            <a:off x="786384" y="1645920"/>
            <a:ext cx="2240280" cy="274320"/>
          </a:xfrm>
          <a:prstGeom prst="rect">
            <a:avLst/>
          </a:prstGeom>
          <a:noFill/>
          <a:ln/>
        </p:spPr>
        <p:txBody>
          <a:bodyPr wrap="square" lIns="0" tIns="0" rIns="0" bIns="0" rtlCol="0" anchor="ctr"/>
          <a:lstStyle/>
          <a:p>
            <a:pPr indent="0" marL="0">
              <a:buNone/>
            </a:pPr>
            <a:r>
              <a:rPr lang="en-US" sz="1150" b="1" spc="120" kern="0" dirty="0">
                <a:solidFill>
                  <a:srgbClr val="1E2761"/>
                </a:solidFill>
                <a:latin typeface="Calibri" pitchFamily="34" charset="0"/>
                <a:ea typeface="Calibri" pitchFamily="34" charset="-122"/>
                <a:cs typeface="Calibri" pitchFamily="34" charset="-120"/>
              </a:rPr>
              <a:t>CLIENT TIER</a:t>
            </a:r>
            <a:endParaRPr lang="en-US" sz="1150" dirty="0"/>
          </a:p>
        </p:txBody>
      </p:sp>
      <p:sp>
        <p:nvSpPr>
          <p:cNvPr id="6" name="Text 4"/>
          <p:cNvSpPr txBox="1"/>
          <p:nvPr/>
        </p:nvSpPr>
        <p:spPr>
          <a:xfrm>
            <a:off x="786384" y="2048256"/>
            <a:ext cx="2240280" cy="548640"/>
          </a:xfrm>
          <a:prstGeom prst="rect">
            <a:avLst/>
          </a:prstGeom>
          <a:noFill/>
          <a:ln/>
        </p:spPr>
        <p:txBody>
          <a:bodyPr wrap="square" lIns="0" tIns="0" rIns="0" bIns="0" rtlCol="0" anchor="ctr"/>
          <a:lstStyle/>
          <a:p>
            <a:pPr indent="0" marL="0">
              <a:lnSpc>
                <a:spcPts val="1450"/>
              </a:lnSpc>
              <a:buNone/>
            </a:pPr>
            <a:r>
              <a:rPr lang="en-US" sz="1100" dirty="0">
                <a:solidFill>
                  <a:srgbClr val="3A4670"/>
                </a:solidFill>
                <a:latin typeface="Calibri" pitchFamily="34" charset="0"/>
                <a:ea typeface="Calibri" pitchFamily="34" charset="-122"/>
                <a:cs typeface="Calibri" pitchFamily="34" charset="-120"/>
              </a:rPr>
              <a:t>Web browser (desktop / mobile)</a:t>
            </a:r>
            <a:endParaRPr lang="en-US" sz="1100" dirty="0"/>
          </a:p>
        </p:txBody>
      </p:sp>
      <p:sp>
        <p:nvSpPr>
          <p:cNvPr id="7" name="Text 5"/>
          <p:cNvSpPr txBox="1"/>
          <p:nvPr/>
        </p:nvSpPr>
        <p:spPr>
          <a:xfrm>
            <a:off x="786384" y="2670048"/>
            <a:ext cx="2240280" cy="548640"/>
          </a:xfrm>
          <a:prstGeom prst="rect">
            <a:avLst/>
          </a:prstGeom>
          <a:noFill/>
          <a:ln/>
        </p:spPr>
        <p:txBody>
          <a:bodyPr wrap="square" lIns="0" tIns="0" rIns="0" bIns="0" rtlCol="0" anchor="ctr"/>
          <a:lstStyle/>
          <a:p>
            <a:pPr indent="0" marL="0">
              <a:lnSpc>
                <a:spcPts val="1450"/>
              </a:lnSpc>
              <a:buNone/>
            </a:pPr>
            <a:r>
              <a:rPr lang="en-US" sz="1100" dirty="0">
                <a:solidFill>
                  <a:srgbClr val="3A4670"/>
                </a:solidFill>
                <a:latin typeface="Calibri" pitchFamily="34" charset="0"/>
                <a:ea typeface="Calibri" pitchFamily="34" charset="-122"/>
                <a:cs typeface="Calibri" pitchFamily="34" charset="-120"/>
              </a:rPr>
              <a:t>HTML5 · CSS3 · Bootstrap 5</a:t>
            </a:r>
            <a:endParaRPr lang="en-US" sz="1100" dirty="0"/>
          </a:p>
        </p:txBody>
      </p:sp>
      <p:sp>
        <p:nvSpPr>
          <p:cNvPr id="8" name="Text 6"/>
          <p:cNvSpPr txBox="1"/>
          <p:nvPr/>
        </p:nvSpPr>
        <p:spPr>
          <a:xfrm>
            <a:off x="786384" y="3291840"/>
            <a:ext cx="2240280" cy="548640"/>
          </a:xfrm>
          <a:prstGeom prst="rect">
            <a:avLst/>
          </a:prstGeom>
          <a:noFill/>
          <a:ln/>
        </p:spPr>
        <p:txBody>
          <a:bodyPr wrap="square" lIns="0" tIns="0" rIns="0" bIns="0" rtlCol="0" anchor="ctr"/>
          <a:lstStyle/>
          <a:p>
            <a:pPr indent="0" marL="0">
              <a:lnSpc>
                <a:spcPts val="1450"/>
              </a:lnSpc>
              <a:buNone/>
            </a:pPr>
            <a:r>
              <a:rPr lang="en-US" sz="1100" dirty="0">
                <a:solidFill>
                  <a:srgbClr val="3A4670"/>
                </a:solidFill>
                <a:latin typeface="Calibri" pitchFamily="34" charset="0"/>
                <a:ea typeface="Calibri" pitchFamily="34" charset="-122"/>
                <a:cs typeface="Calibri" pitchFamily="34" charset="-120"/>
              </a:rPr>
              <a:t>JavaScript · Chart.js</a:t>
            </a:r>
            <a:endParaRPr lang="en-US" sz="1100" dirty="0"/>
          </a:p>
        </p:txBody>
      </p:sp>
      <p:sp>
        <p:nvSpPr>
          <p:cNvPr id="9" name="Text 7"/>
          <p:cNvSpPr txBox="1"/>
          <p:nvPr/>
        </p:nvSpPr>
        <p:spPr>
          <a:xfrm>
            <a:off x="786384" y="3913632"/>
            <a:ext cx="2240280" cy="548640"/>
          </a:xfrm>
          <a:prstGeom prst="rect">
            <a:avLst/>
          </a:prstGeom>
          <a:noFill/>
          <a:ln/>
        </p:spPr>
        <p:txBody>
          <a:bodyPr wrap="square" lIns="0" tIns="0" rIns="0" bIns="0" rtlCol="0" anchor="ctr"/>
          <a:lstStyle/>
          <a:p>
            <a:pPr indent="0" marL="0">
              <a:lnSpc>
                <a:spcPts val="1450"/>
              </a:lnSpc>
              <a:buNone/>
            </a:pPr>
            <a:r>
              <a:rPr lang="en-US" sz="1100" dirty="0">
                <a:solidFill>
                  <a:srgbClr val="3A4670"/>
                </a:solidFill>
                <a:latin typeface="Calibri" pitchFamily="34" charset="0"/>
                <a:ea typeface="Calibri" pitchFamily="34" charset="-122"/>
                <a:cs typeface="Calibri" pitchFamily="34" charset="-120"/>
              </a:rPr>
              <a:t>SweetAlert2 · offline assets</a:t>
            </a:r>
            <a:endParaRPr lang="en-US" sz="1100" dirty="0"/>
          </a:p>
        </p:txBody>
      </p:sp>
      <p:sp>
        <p:nvSpPr>
          <p:cNvPr id="10" name="Shape 8"/>
          <p:cNvSpPr/>
          <p:nvPr/>
        </p:nvSpPr>
        <p:spPr>
          <a:xfrm>
            <a:off x="3236976" y="3035808"/>
            <a:ext cx="128016" cy="0"/>
          </a:xfrm>
          <a:prstGeom prst="line">
            <a:avLst/>
          </a:prstGeom>
          <a:noFill/>
          <a:ln w="22225">
            <a:solidFill>
              <a:srgbClr val="9AAAD4"/>
            </a:solidFill>
            <a:prstDash val="solid"/>
            <a:tailEnd type="triangle"/>
          </a:ln>
        </p:spPr>
      </p:sp>
      <p:sp>
        <p:nvSpPr>
          <p:cNvPr id="11" name="Shape 9"/>
          <p:cNvSpPr/>
          <p:nvPr/>
        </p:nvSpPr>
        <p:spPr>
          <a:xfrm>
            <a:off x="3392424" y="1444752"/>
            <a:ext cx="2633472" cy="3246120"/>
          </a:xfrm>
          <a:prstGeom prst="roundRect">
            <a:avLst>
              <a:gd name="adj" fmla="val 2778"/>
            </a:avLst>
          </a:prstGeom>
          <a:solidFill>
            <a:srgbClr val="2B3B7A"/>
          </a:solidFill>
          <a:ln w="12700">
            <a:solidFill>
              <a:srgbClr val="2B3B7A"/>
            </a:solidFill>
            <a:prstDash val="solid"/>
          </a:ln>
          <a:effectLst>
            <a:outerShdw sx="100000" sy="100000" kx="0" ky="0" algn="bl" rotWithShape="0" blurRad="101600" dist="12700" dir="5400000">
              <a:srgbClr val="8892AA">
                <a:alpha val="10000"/>
              </a:srgbClr>
            </a:outerShdw>
          </a:effectLst>
        </p:spPr>
      </p:sp>
      <p:sp>
        <p:nvSpPr>
          <p:cNvPr id="12" name="Text 10"/>
          <p:cNvSpPr txBox="1"/>
          <p:nvPr/>
        </p:nvSpPr>
        <p:spPr>
          <a:xfrm>
            <a:off x="3611880" y="1645920"/>
            <a:ext cx="2240280" cy="274320"/>
          </a:xfrm>
          <a:prstGeom prst="rect">
            <a:avLst/>
          </a:prstGeom>
          <a:noFill/>
          <a:ln/>
        </p:spPr>
        <p:txBody>
          <a:bodyPr wrap="square" lIns="0" tIns="0" rIns="0" bIns="0" rtlCol="0" anchor="ctr"/>
          <a:lstStyle/>
          <a:p>
            <a:pPr indent="0" marL="0">
              <a:buNone/>
            </a:pPr>
            <a:r>
              <a:rPr lang="en-US" sz="1150" b="1" spc="120" kern="0" dirty="0">
                <a:solidFill>
                  <a:srgbClr val="FFFFFF"/>
                </a:solidFill>
                <a:latin typeface="Calibri" pitchFamily="34" charset="0"/>
                <a:ea typeface="Calibri" pitchFamily="34" charset="-122"/>
                <a:cs typeface="Calibri" pitchFamily="34" charset="-120"/>
              </a:rPr>
              <a:t>NETWORK TIER</a:t>
            </a:r>
            <a:endParaRPr lang="en-US" sz="1150" dirty="0"/>
          </a:p>
        </p:txBody>
      </p:sp>
      <p:sp>
        <p:nvSpPr>
          <p:cNvPr id="13" name="Text 11"/>
          <p:cNvSpPr txBox="1"/>
          <p:nvPr/>
        </p:nvSpPr>
        <p:spPr>
          <a:xfrm>
            <a:off x="3611880" y="2048256"/>
            <a:ext cx="2240280" cy="548640"/>
          </a:xfrm>
          <a:prstGeom prst="rect">
            <a:avLst/>
          </a:prstGeom>
          <a:noFill/>
          <a:ln/>
        </p:spPr>
        <p:txBody>
          <a:bodyPr wrap="square" lIns="0" tIns="0" rIns="0" bIns="0" rtlCol="0" anchor="ctr"/>
          <a:lstStyle/>
          <a:p>
            <a:pPr indent="0" marL="0">
              <a:lnSpc>
                <a:spcPts val="1450"/>
              </a:lnSpc>
              <a:buNone/>
            </a:pPr>
            <a:r>
              <a:rPr lang="en-US" sz="1100" dirty="0">
                <a:solidFill>
                  <a:srgbClr val="C6D2F2"/>
                </a:solidFill>
                <a:latin typeface="Calibri" pitchFamily="34" charset="0"/>
                <a:ea typeface="Calibri" pitchFamily="34" charset="-122"/>
                <a:cs typeface="Calibri" pitchFamily="34" charset="-120"/>
              </a:rPr>
              <a:t>Ethernet switch</a:t>
            </a:r>
            <a:endParaRPr lang="en-US" sz="1100" dirty="0"/>
          </a:p>
        </p:txBody>
      </p:sp>
      <p:sp>
        <p:nvSpPr>
          <p:cNvPr id="14" name="Text 12"/>
          <p:cNvSpPr txBox="1"/>
          <p:nvPr/>
        </p:nvSpPr>
        <p:spPr>
          <a:xfrm>
            <a:off x="3611880" y="2670048"/>
            <a:ext cx="2240280" cy="548640"/>
          </a:xfrm>
          <a:prstGeom prst="rect">
            <a:avLst/>
          </a:prstGeom>
          <a:noFill/>
          <a:ln/>
        </p:spPr>
        <p:txBody>
          <a:bodyPr wrap="square" lIns="0" tIns="0" rIns="0" bIns="0" rtlCol="0" anchor="ctr"/>
          <a:lstStyle/>
          <a:p>
            <a:pPr indent="0" marL="0">
              <a:lnSpc>
                <a:spcPts val="1450"/>
              </a:lnSpc>
              <a:buNone/>
            </a:pPr>
            <a:r>
              <a:rPr lang="en-US" sz="1100" dirty="0">
                <a:solidFill>
                  <a:srgbClr val="C6D2F2"/>
                </a:solidFill>
                <a:latin typeface="Calibri" pitchFamily="34" charset="0"/>
                <a:ea typeface="Calibri" pitchFamily="34" charset="-122"/>
                <a:cs typeface="Calibri" pitchFamily="34" charset="-120"/>
              </a:rPr>
              <a:t>Router / firewall policy</a:t>
            </a:r>
            <a:endParaRPr lang="en-US" sz="1100" dirty="0"/>
          </a:p>
        </p:txBody>
      </p:sp>
      <p:sp>
        <p:nvSpPr>
          <p:cNvPr id="15" name="Text 13"/>
          <p:cNvSpPr txBox="1"/>
          <p:nvPr/>
        </p:nvSpPr>
        <p:spPr>
          <a:xfrm>
            <a:off x="3611880" y="3291840"/>
            <a:ext cx="2240280" cy="548640"/>
          </a:xfrm>
          <a:prstGeom prst="rect">
            <a:avLst/>
          </a:prstGeom>
          <a:noFill/>
          <a:ln/>
        </p:spPr>
        <p:txBody>
          <a:bodyPr wrap="square" lIns="0" tIns="0" rIns="0" bIns="0" rtlCol="0" anchor="ctr"/>
          <a:lstStyle/>
          <a:p>
            <a:pPr indent="0" marL="0">
              <a:lnSpc>
                <a:spcPts val="1450"/>
              </a:lnSpc>
              <a:buNone/>
            </a:pPr>
            <a:r>
              <a:rPr lang="en-US" sz="1100" dirty="0">
                <a:solidFill>
                  <a:srgbClr val="C6D2F2"/>
                </a:solidFill>
                <a:latin typeface="Calibri" pitchFamily="34" charset="0"/>
                <a:ea typeface="Calibri" pitchFamily="34" charset="-122"/>
                <a:cs typeface="Calibri" pitchFamily="34" charset="-120"/>
              </a:rPr>
              <a:t>Wireless access point</a:t>
            </a:r>
            <a:endParaRPr lang="en-US" sz="1100" dirty="0"/>
          </a:p>
        </p:txBody>
      </p:sp>
      <p:sp>
        <p:nvSpPr>
          <p:cNvPr id="16" name="Text 14"/>
          <p:cNvSpPr txBox="1"/>
          <p:nvPr/>
        </p:nvSpPr>
        <p:spPr>
          <a:xfrm>
            <a:off x="3611880" y="3913632"/>
            <a:ext cx="2240280" cy="548640"/>
          </a:xfrm>
          <a:prstGeom prst="rect">
            <a:avLst/>
          </a:prstGeom>
          <a:noFill/>
          <a:ln/>
        </p:spPr>
        <p:txBody>
          <a:bodyPr wrap="square" lIns="0" tIns="0" rIns="0" bIns="0" rtlCol="0" anchor="ctr"/>
          <a:lstStyle/>
          <a:p>
            <a:pPr indent="0" marL="0">
              <a:lnSpc>
                <a:spcPts val="1450"/>
              </a:lnSpc>
              <a:buNone/>
            </a:pPr>
            <a:r>
              <a:rPr lang="en-US" sz="1100" dirty="0">
                <a:solidFill>
                  <a:srgbClr val="C6D2F2"/>
                </a:solidFill>
                <a:latin typeface="Calibri" pitchFamily="34" charset="0"/>
                <a:ea typeface="Calibri" pitchFamily="34" charset="-122"/>
                <a:cs typeface="Calibri" pitchFamily="34" charset="-120"/>
              </a:rPr>
              <a:t>HTTPS / TLS configuration</a:t>
            </a:r>
            <a:endParaRPr lang="en-US" sz="1100" dirty="0"/>
          </a:p>
        </p:txBody>
      </p:sp>
      <p:sp>
        <p:nvSpPr>
          <p:cNvPr id="17" name="Shape 15"/>
          <p:cNvSpPr/>
          <p:nvPr/>
        </p:nvSpPr>
        <p:spPr>
          <a:xfrm>
            <a:off x="6062472" y="3035808"/>
            <a:ext cx="128016" cy="0"/>
          </a:xfrm>
          <a:prstGeom prst="line">
            <a:avLst/>
          </a:prstGeom>
          <a:noFill/>
          <a:ln w="22225">
            <a:solidFill>
              <a:srgbClr val="9AAAD4"/>
            </a:solidFill>
            <a:prstDash val="solid"/>
            <a:tailEnd type="triangle"/>
          </a:ln>
        </p:spPr>
      </p:sp>
      <p:sp>
        <p:nvSpPr>
          <p:cNvPr id="18" name="Shape 16"/>
          <p:cNvSpPr/>
          <p:nvPr/>
        </p:nvSpPr>
        <p:spPr>
          <a:xfrm>
            <a:off x="6217920" y="1444752"/>
            <a:ext cx="2633472" cy="3246120"/>
          </a:xfrm>
          <a:prstGeom prst="roundRect">
            <a:avLst>
              <a:gd name="adj" fmla="val 2778"/>
            </a:avLst>
          </a:prstGeom>
          <a:solidFill>
            <a:srgbClr val="1E2761"/>
          </a:solidFill>
          <a:ln w="12700">
            <a:solidFill>
              <a:srgbClr val="1E2761"/>
            </a:solidFill>
            <a:prstDash val="solid"/>
          </a:ln>
          <a:effectLst>
            <a:outerShdw sx="100000" sy="100000" kx="0" ky="0" algn="bl" rotWithShape="0" blurRad="101600" dist="12700" dir="5400000">
              <a:srgbClr val="8892AA">
                <a:alpha val="10000"/>
              </a:srgbClr>
            </a:outerShdw>
          </a:effectLst>
        </p:spPr>
      </p:sp>
      <p:sp>
        <p:nvSpPr>
          <p:cNvPr id="19" name="Text 17"/>
          <p:cNvSpPr txBox="1"/>
          <p:nvPr/>
        </p:nvSpPr>
        <p:spPr>
          <a:xfrm>
            <a:off x="6437376" y="1645920"/>
            <a:ext cx="2240280" cy="274320"/>
          </a:xfrm>
          <a:prstGeom prst="rect">
            <a:avLst/>
          </a:prstGeom>
          <a:noFill/>
          <a:ln/>
        </p:spPr>
        <p:txBody>
          <a:bodyPr wrap="square" lIns="0" tIns="0" rIns="0" bIns="0" rtlCol="0" anchor="ctr"/>
          <a:lstStyle/>
          <a:p>
            <a:pPr indent="0" marL="0">
              <a:buNone/>
            </a:pPr>
            <a:r>
              <a:rPr lang="en-US" sz="1150" b="1" spc="120" kern="0" dirty="0">
                <a:solidFill>
                  <a:srgbClr val="FFFFFF"/>
                </a:solidFill>
                <a:latin typeface="Calibri" pitchFamily="34" charset="0"/>
                <a:ea typeface="Calibri" pitchFamily="34" charset="-122"/>
                <a:cs typeface="Calibri" pitchFamily="34" charset="-120"/>
              </a:rPr>
              <a:t>APPLICATION TIER</a:t>
            </a:r>
            <a:endParaRPr lang="en-US" sz="1150" dirty="0"/>
          </a:p>
        </p:txBody>
      </p:sp>
      <p:sp>
        <p:nvSpPr>
          <p:cNvPr id="20" name="Text 18"/>
          <p:cNvSpPr txBox="1"/>
          <p:nvPr/>
        </p:nvSpPr>
        <p:spPr>
          <a:xfrm>
            <a:off x="6437376" y="2048256"/>
            <a:ext cx="2240280" cy="548640"/>
          </a:xfrm>
          <a:prstGeom prst="rect">
            <a:avLst/>
          </a:prstGeom>
          <a:noFill/>
          <a:ln/>
        </p:spPr>
        <p:txBody>
          <a:bodyPr wrap="square" lIns="0" tIns="0" rIns="0" bIns="0" rtlCol="0" anchor="ctr"/>
          <a:lstStyle/>
          <a:p>
            <a:pPr indent="0" marL="0">
              <a:lnSpc>
                <a:spcPts val="1450"/>
              </a:lnSpc>
              <a:buNone/>
            </a:pPr>
            <a:r>
              <a:rPr lang="en-US" sz="1100" dirty="0">
                <a:solidFill>
                  <a:srgbClr val="C6D2F2"/>
                </a:solidFill>
                <a:latin typeface="Calibri" pitchFamily="34" charset="0"/>
                <a:ea typeface="Calibri" pitchFamily="34" charset="-122"/>
                <a:cs typeface="Calibri" pitchFamily="34" charset="-120"/>
              </a:rPr>
              <a:t>Apache HTTP Server</a:t>
            </a:r>
            <a:endParaRPr lang="en-US" sz="1100" dirty="0"/>
          </a:p>
        </p:txBody>
      </p:sp>
      <p:sp>
        <p:nvSpPr>
          <p:cNvPr id="21" name="Text 19"/>
          <p:cNvSpPr txBox="1"/>
          <p:nvPr/>
        </p:nvSpPr>
        <p:spPr>
          <a:xfrm>
            <a:off x="6437376" y="2670048"/>
            <a:ext cx="2240280" cy="548640"/>
          </a:xfrm>
          <a:prstGeom prst="rect">
            <a:avLst/>
          </a:prstGeom>
          <a:noFill/>
          <a:ln/>
        </p:spPr>
        <p:txBody>
          <a:bodyPr wrap="square" lIns="0" tIns="0" rIns="0" bIns="0" rtlCol="0" anchor="ctr"/>
          <a:lstStyle/>
          <a:p>
            <a:pPr indent="0" marL="0">
              <a:lnSpc>
                <a:spcPts val="1450"/>
              </a:lnSpc>
              <a:buNone/>
            </a:pPr>
            <a:r>
              <a:rPr lang="en-US" sz="1100" dirty="0">
                <a:solidFill>
                  <a:srgbClr val="C6D2F2"/>
                </a:solidFill>
                <a:latin typeface="Calibri" pitchFamily="34" charset="0"/>
                <a:ea typeface="Calibri" pitchFamily="34" charset="-122"/>
                <a:cs typeface="Calibri" pitchFamily="34" charset="-120"/>
              </a:rPr>
              <a:t>PHP 8.3 · Laravel 12</a:t>
            </a:r>
            <a:endParaRPr lang="en-US" sz="1100" dirty="0"/>
          </a:p>
        </p:txBody>
      </p:sp>
      <p:sp>
        <p:nvSpPr>
          <p:cNvPr id="22" name="Text 20"/>
          <p:cNvSpPr txBox="1"/>
          <p:nvPr/>
        </p:nvSpPr>
        <p:spPr>
          <a:xfrm>
            <a:off x="6437376" y="3291840"/>
            <a:ext cx="2240280" cy="548640"/>
          </a:xfrm>
          <a:prstGeom prst="rect">
            <a:avLst/>
          </a:prstGeom>
          <a:noFill/>
          <a:ln/>
        </p:spPr>
        <p:txBody>
          <a:bodyPr wrap="square" lIns="0" tIns="0" rIns="0" bIns="0" rtlCol="0" anchor="ctr"/>
          <a:lstStyle/>
          <a:p>
            <a:pPr indent="0" marL="0">
              <a:lnSpc>
                <a:spcPts val="1450"/>
              </a:lnSpc>
              <a:buNone/>
            </a:pPr>
            <a:r>
              <a:rPr lang="en-US" sz="1100" dirty="0">
                <a:solidFill>
                  <a:srgbClr val="C6D2F2"/>
                </a:solidFill>
                <a:latin typeface="Calibri" pitchFamily="34" charset="0"/>
                <a:ea typeface="Calibri" pitchFamily="34" charset="-122"/>
                <a:cs typeface="Calibri" pitchFamily="34" charset="-120"/>
              </a:rPr>
              <a:t>Middleware security kernel</a:t>
            </a:r>
            <a:endParaRPr lang="en-US" sz="1100" dirty="0"/>
          </a:p>
        </p:txBody>
      </p:sp>
      <p:sp>
        <p:nvSpPr>
          <p:cNvPr id="23" name="Text 21"/>
          <p:cNvSpPr txBox="1"/>
          <p:nvPr/>
        </p:nvSpPr>
        <p:spPr>
          <a:xfrm>
            <a:off x="6437376" y="3913632"/>
            <a:ext cx="2240280" cy="548640"/>
          </a:xfrm>
          <a:prstGeom prst="rect">
            <a:avLst/>
          </a:prstGeom>
          <a:noFill/>
          <a:ln/>
        </p:spPr>
        <p:txBody>
          <a:bodyPr wrap="square" lIns="0" tIns="0" rIns="0" bIns="0" rtlCol="0" anchor="ctr"/>
          <a:lstStyle/>
          <a:p>
            <a:pPr indent="0" marL="0">
              <a:lnSpc>
                <a:spcPts val="1450"/>
              </a:lnSpc>
              <a:buNone/>
            </a:pPr>
            <a:r>
              <a:rPr lang="en-US" sz="1100" dirty="0">
                <a:solidFill>
                  <a:srgbClr val="C6D2F2"/>
                </a:solidFill>
                <a:latin typeface="Calibri" pitchFamily="34" charset="0"/>
                <a:ea typeface="Calibri" pitchFamily="34" charset="-122"/>
                <a:cs typeface="Calibri" pitchFamily="34" charset="-120"/>
              </a:rPr>
              <a:t>Service layer · queue · scheduler</a:t>
            </a:r>
            <a:endParaRPr lang="en-US" sz="1100" dirty="0"/>
          </a:p>
        </p:txBody>
      </p:sp>
      <p:sp>
        <p:nvSpPr>
          <p:cNvPr id="24" name="Shape 22"/>
          <p:cNvSpPr/>
          <p:nvPr/>
        </p:nvSpPr>
        <p:spPr>
          <a:xfrm>
            <a:off x="8887968" y="3035808"/>
            <a:ext cx="128016" cy="0"/>
          </a:xfrm>
          <a:prstGeom prst="line">
            <a:avLst/>
          </a:prstGeom>
          <a:noFill/>
          <a:ln w="22225">
            <a:solidFill>
              <a:srgbClr val="9AAAD4"/>
            </a:solidFill>
            <a:prstDash val="solid"/>
            <a:tailEnd type="triangle"/>
          </a:ln>
        </p:spPr>
      </p:sp>
      <p:sp>
        <p:nvSpPr>
          <p:cNvPr id="25" name="Shape 23"/>
          <p:cNvSpPr/>
          <p:nvPr/>
        </p:nvSpPr>
        <p:spPr>
          <a:xfrm>
            <a:off x="9043416" y="1444752"/>
            <a:ext cx="2633472" cy="3246120"/>
          </a:xfrm>
          <a:prstGeom prst="roundRect">
            <a:avLst>
              <a:gd name="adj" fmla="val 2778"/>
            </a:avLst>
          </a:prstGeom>
          <a:solidFill>
            <a:srgbClr val="CADCFC"/>
          </a:solidFill>
          <a:ln w="12700">
            <a:solidFill>
              <a:srgbClr val="CADCFC"/>
            </a:solidFill>
            <a:prstDash val="solid"/>
          </a:ln>
          <a:effectLst>
            <a:outerShdw sx="100000" sy="100000" kx="0" ky="0" algn="bl" rotWithShape="0" blurRad="101600" dist="12700" dir="5400000">
              <a:srgbClr val="8892AA">
                <a:alpha val="10000"/>
              </a:srgbClr>
            </a:outerShdw>
          </a:effectLst>
        </p:spPr>
      </p:sp>
      <p:sp>
        <p:nvSpPr>
          <p:cNvPr id="26" name="Text 24"/>
          <p:cNvSpPr txBox="1"/>
          <p:nvPr/>
        </p:nvSpPr>
        <p:spPr>
          <a:xfrm>
            <a:off x="9262872" y="1645920"/>
            <a:ext cx="2240280" cy="274320"/>
          </a:xfrm>
          <a:prstGeom prst="rect">
            <a:avLst/>
          </a:prstGeom>
          <a:noFill/>
          <a:ln/>
        </p:spPr>
        <p:txBody>
          <a:bodyPr wrap="square" lIns="0" tIns="0" rIns="0" bIns="0" rtlCol="0" anchor="ctr"/>
          <a:lstStyle/>
          <a:p>
            <a:pPr indent="0" marL="0">
              <a:buNone/>
            </a:pPr>
            <a:r>
              <a:rPr lang="en-US" sz="1150" b="1" spc="120" kern="0" dirty="0">
                <a:solidFill>
                  <a:srgbClr val="1E2761"/>
                </a:solidFill>
                <a:latin typeface="Calibri" pitchFamily="34" charset="0"/>
                <a:ea typeface="Calibri" pitchFamily="34" charset="-122"/>
                <a:cs typeface="Calibri" pitchFamily="34" charset="-120"/>
              </a:rPr>
              <a:t>DATA TIER</a:t>
            </a:r>
            <a:endParaRPr lang="en-US" sz="1150" dirty="0"/>
          </a:p>
        </p:txBody>
      </p:sp>
      <p:sp>
        <p:nvSpPr>
          <p:cNvPr id="27" name="Text 25"/>
          <p:cNvSpPr txBox="1"/>
          <p:nvPr/>
        </p:nvSpPr>
        <p:spPr>
          <a:xfrm>
            <a:off x="9262872" y="2048256"/>
            <a:ext cx="2240280" cy="548640"/>
          </a:xfrm>
          <a:prstGeom prst="rect">
            <a:avLst/>
          </a:prstGeom>
          <a:noFill/>
          <a:ln/>
        </p:spPr>
        <p:txBody>
          <a:bodyPr wrap="square" lIns="0" tIns="0" rIns="0" bIns="0" rtlCol="0" anchor="ctr"/>
          <a:lstStyle/>
          <a:p>
            <a:pPr indent="0" marL="0">
              <a:lnSpc>
                <a:spcPts val="1450"/>
              </a:lnSpc>
              <a:buNone/>
            </a:pPr>
            <a:r>
              <a:rPr lang="en-US" sz="1100" dirty="0">
                <a:solidFill>
                  <a:srgbClr val="3A4670"/>
                </a:solidFill>
                <a:latin typeface="Calibri" pitchFamily="34" charset="0"/>
                <a:ea typeface="Calibri" pitchFamily="34" charset="-122"/>
                <a:cs typeface="Calibri" pitchFamily="34" charset="-120"/>
              </a:rPr>
              <a:t>MySQL / MariaDB</a:t>
            </a:r>
            <a:endParaRPr lang="en-US" sz="1100" dirty="0"/>
          </a:p>
        </p:txBody>
      </p:sp>
      <p:sp>
        <p:nvSpPr>
          <p:cNvPr id="28" name="Text 26"/>
          <p:cNvSpPr txBox="1"/>
          <p:nvPr/>
        </p:nvSpPr>
        <p:spPr>
          <a:xfrm>
            <a:off x="9262872" y="2670048"/>
            <a:ext cx="2240280" cy="548640"/>
          </a:xfrm>
          <a:prstGeom prst="rect">
            <a:avLst/>
          </a:prstGeom>
          <a:noFill/>
          <a:ln/>
        </p:spPr>
        <p:txBody>
          <a:bodyPr wrap="square" lIns="0" tIns="0" rIns="0" bIns="0" rtlCol="0" anchor="ctr"/>
          <a:lstStyle/>
          <a:p>
            <a:pPr indent="0" marL="0">
              <a:lnSpc>
                <a:spcPts val="1450"/>
              </a:lnSpc>
              <a:buNone/>
            </a:pPr>
            <a:r>
              <a:rPr lang="en-US" sz="1100" dirty="0">
                <a:solidFill>
                  <a:srgbClr val="3A4670"/>
                </a:solidFill>
                <a:latin typeface="Calibri" pitchFamily="34" charset="0"/>
                <a:ea typeface="Calibri" pitchFamily="34" charset="-122"/>
                <a:cs typeface="Calibri" pitchFamily="34" charset="-120"/>
              </a:rPr>
              <a:t>Leave, employee &amp; workflow records</a:t>
            </a:r>
            <a:endParaRPr lang="en-US" sz="1100" dirty="0"/>
          </a:p>
        </p:txBody>
      </p:sp>
      <p:sp>
        <p:nvSpPr>
          <p:cNvPr id="29" name="Text 27"/>
          <p:cNvSpPr txBox="1"/>
          <p:nvPr/>
        </p:nvSpPr>
        <p:spPr>
          <a:xfrm>
            <a:off x="9262872" y="3291840"/>
            <a:ext cx="2240280" cy="548640"/>
          </a:xfrm>
          <a:prstGeom prst="rect">
            <a:avLst/>
          </a:prstGeom>
          <a:noFill/>
          <a:ln/>
        </p:spPr>
        <p:txBody>
          <a:bodyPr wrap="square" lIns="0" tIns="0" rIns="0" bIns="0" rtlCol="0" anchor="ctr"/>
          <a:lstStyle/>
          <a:p>
            <a:pPr indent="0" marL="0">
              <a:lnSpc>
                <a:spcPts val="1450"/>
              </a:lnSpc>
              <a:buNone/>
            </a:pPr>
            <a:r>
              <a:rPr lang="en-US" sz="1100" dirty="0">
                <a:solidFill>
                  <a:srgbClr val="3A4670"/>
                </a:solidFill>
                <a:latin typeface="Calibri" pitchFamily="34" charset="0"/>
                <a:ea typeface="Calibri" pitchFamily="34" charset="-122"/>
                <a:cs typeface="Calibri" pitchFamily="34" charset="-120"/>
              </a:rPr>
              <a:t>Documents in file storage</a:t>
            </a:r>
            <a:endParaRPr lang="en-US" sz="1100" dirty="0"/>
          </a:p>
        </p:txBody>
      </p:sp>
      <p:sp>
        <p:nvSpPr>
          <p:cNvPr id="30" name="Text 28"/>
          <p:cNvSpPr txBox="1"/>
          <p:nvPr/>
        </p:nvSpPr>
        <p:spPr>
          <a:xfrm>
            <a:off x="9262872" y="3913632"/>
            <a:ext cx="2240280" cy="548640"/>
          </a:xfrm>
          <a:prstGeom prst="rect">
            <a:avLst/>
          </a:prstGeom>
          <a:noFill/>
          <a:ln/>
        </p:spPr>
        <p:txBody>
          <a:bodyPr wrap="square" lIns="0" tIns="0" rIns="0" bIns="0" rtlCol="0" anchor="ctr"/>
          <a:lstStyle/>
          <a:p>
            <a:pPr indent="0" marL="0">
              <a:lnSpc>
                <a:spcPts val="1450"/>
              </a:lnSpc>
              <a:buNone/>
            </a:pPr>
            <a:r>
              <a:rPr lang="en-US" sz="1100" dirty="0">
                <a:solidFill>
                  <a:srgbClr val="3A4670"/>
                </a:solidFill>
                <a:latin typeface="Calibri" pitchFamily="34" charset="0"/>
                <a:ea typeface="Calibri" pitchFamily="34" charset="-122"/>
                <a:cs typeface="Calibri" pitchFamily="34" charset="-120"/>
              </a:rPr>
              <a:t>Audit, activity &amp; intrusion logs</a:t>
            </a:r>
            <a:endParaRPr lang="en-US" sz="1100" dirty="0"/>
          </a:p>
        </p:txBody>
      </p:sp>
      <p:sp>
        <p:nvSpPr>
          <p:cNvPr id="31" name="Shape 29"/>
          <p:cNvSpPr/>
          <p:nvPr/>
        </p:nvSpPr>
        <p:spPr>
          <a:xfrm>
            <a:off x="566928" y="4901184"/>
            <a:ext cx="11064240" cy="585216"/>
          </a:xfrm>
          <a:prstGeom prst="roundRect">
            <a:avLst>
              <a:gd name="adj" fmla="val 12500"/>
            </a:avLst>
          </a:prstGeom>
          <a:solidFill>
            <a:srgbClr val="EEF3FC"/>
          </a:solidFill>
          <a:ln w="12700">
            <a:solidFill>
              <a:srgbClr val="DCE5F6"/>
            </a:solidFill>
            <a:prstDash val="solid"/>
          </a:ln>
        </p:spPr>
      </p:sp>
      <p:sp>
        <p:nvSpPr>
          <p:cNvPr id="32" name="Text 30"/>
          <p:cNvSpPr txBox="1"/>
          <p:nvPr/>
        </p:nvSpPr>
        <p:spPr>
          <a:xfrm>
            <a:off x="804672" y="4901184"/>
            <a:ext cx="2194560" cy="585216"/>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Verification tooling</a:t>
            </a:r>
            <a:endParaRPr lang="en-US" sz="1150" dirty="0"/>
          </a:p>
        </p:txBody>
      </p:sp>
      <p:sp>
        <p:nvSpPr>
          <p:cNvPr id="33" name="Text 31"/>
          <p:cNvSpPr txBox="1"/>
          <p:nvPr/>
        </p:nvSpPr>
        <p:spPr>
          <a:xfrm>
            <a:off x="3072384" y="4901184"/>
            <a:ext cx="8321040" cy="585216"/>
          </a:xfrm>
          <a:prstGeom prst="rect">
            <a:avLst/>
          </a:prstGeom>
          <a:noFill/>
          <a:ln/>
        </p:spPr>
        <p:txBody>
          <a:bodyPr wrap="square" lIns="0" tIns="0" rIns="0" bIns="0" rtlCol="0" anchor="ctr"/>
          <a:lstStyle/>
          <a:p>
            <a:pPr indent="0" marL="0">
              <a:buNone/>
            </a:pPr>
            <a:r>
              <a:rPr lang="en-US" sz="1100" dirty="0">
                <a:solidFill>
                  <a:srgbClr val="343B4F"/>
                </a:solidFill>
                <a:latin typeface="Calibri" pitchFamily="34" charset="0"/>
                <a:ea typeface="Calibri" pitchFamily="34" charset="-122"/>
                <a:cs typeface="Calibri" pitchFamily="34" charset="-120"/>
              </a:rPr>
              <a:t>Wireshark for traffic capture · OWASP ZAP for vulnerability scanning · SQLMap for injection testing · Hydra for controlled brute-force simulation</a:t>
            </a:r>
            <a:endParaRPr lang="en-US" sz="1100" dirty="0"/>
          </a:p>
        </p:txBody>
      </p:sp>
      <p:sp>
        <p:nvSpPr>
          <p:cNvPr id="34" name="Shape 32"/>
          <p:cNvSpPr/>
          <p:nvPr/>
        </p:nvSpPr>
        <p:spPr>
          <a:xfrm>
            <a:off x="566928" y="5577840"/>
            <a:ext cx="11064240" cy="585216"/>
          </a:xfrm>
          <a:prstGeom prst="roundRect">
            <a:avLst>
              <a:gd name="adj" fmla="val 12500"/>
            </a:avLst>
          </a:prstGeom>
          <a:solidFill>
            <a:srgbClr val="EEF3FC"/>
          </a:solidFill>
          <a:ln w="12700">
            <a:solidFill>
              <a:srgbClr val="DCE5F6"/>
            </a:solidFill>
            <a:prstDash val="solid"/>
          </a:ln>
        </p:spPr>
      </p:sp>
      <p:sp>
        <p:nvSpPr>
          <p:cNvPr id="35" name="Text 33"/>
          <p:cNvSpPr txBox="1"/>
          <p:nvPr/>
        </p:nvSpPr>
        <p:spPr>
          <a:xfrm>
            <a:off x="804672" y="5577840"/>
            <a:ext cx="2194560" cy="585216"/>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Quality reference</a:t>
            </a:r>
            <a:endParaRPr lang="en-US" sz="1150" dirty="0"/>
          </a:p>
        </p:txBody>
      </p:sp>
      <p:sp>
        <p:nvSpPr>
          <p:cNvPr id="36" name="Text 34"/>
          <p:cNvSpPr txBox="1"/>
          <p:nvPr/>
        </p:nvSpPr>
        <p:spPr>
          <a:xfrm>
            <a:off x="3072384" y="5577840"/>
            <a:ext cx="8321040" cy="585216"/>
          </a:xfrm>
          <a:prstGeom prst="rect">
            <a:avLst/>
          </a:prstGeom>
          <a:noFill/>
          <a:ln/>
        </p:spPr>
        <p:txBody>
          <a:bodyPr wrap="square" lIns="0" tIns="0" rIns="0" bIns="0" rtlCol="0" anchor="ctr"/>
          <a:lstStyle/>
          <a:p>
            <a:pPr indent="0" marL="0">
              <a:buNone/>
            </a:pPr>
            <a:r>
              <a:rPr lang="en-US" sz="1100" dirty="0">
                <a:solidFill>
                  <a:srgbClr val="343B4F"/>
                </a:solidFill>
                <a:latin typeface="Calibri" pitchFamily="34" charset="0"/>
                <a:ea typeface="Calibri" pitchFamily="34" charset="-122"/>
                <a:cs typeface="Calibri" pitchFamily="34" charset="-120"/>
              </a:rPr>
              <a:t>ISO/IEC 25010 — functional suitability, usability, performance efficiency, security — evaluated by end users and IT experts</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777240" y="868680"/>
            <a:ext cx="8229600" cy="274320"/>
          </a:xfrm>
          <a:prstGeom prst="rect">
            <a:avLst/>
          </a:prstGeom>
          <a:noFill/>
          <a:ln/>
        </p:spPr>
        <p:txBody>
          <a:bodyPr wrap="square" lIns="0" tIns="0" rIns="0" bIns="0" rtlCol="0" anchor="ctr"/>
          <a:lstStyle/>
          <a:p>
            <a:pPr indent="0" marL="0">
              <a:buNone/>
            </a:pPr>
            <a:r>
              <a:rPr lang="en-US" sz="1200" b="1" spc="220" kern="0" dirty="0">
                <a:solidFill>
                  <a:srgbClr val="CADCFC"/>
                </a:solidFill>
                <a:latin typeface="Calibri" pitchFamily="34" charset="0"/>
                <a:ea typeface="Calibri" pitchFamily="34" charset="-122"/>
                <a:cs typeface="Calibri" pitchFamily="34" charset="-120"/>
              </a:rPr>
              <a:t>WHAT THE ARCHITECTURE DELIVERS</a:t>
            </a:r>
            <a:endParaRPr lang="en-US" sz="1200" dirty="0"/>
          </a:p>
        </p:txBody>
      </p:sp>
      <p:sp>
        <p:nvSpPr>
          <p:cNvPr id="3" name="Text 1"/>
          <p:cNvSpPr txBox="1"/>
          <p:nvPr/>
        </p:nvSpPr>
        <p:spPr>
          <a:xfrm>
            <a:off x="731520" y="1225296"/>
            <a:ext cx="10607040" cy="713232"/>
          </a:xfrm>
          <a:prstGeom prst="rect">
            <a:avLst/>
          </a:prstGeom>
          <a:noFill/>
          <a:ln/>
        </p:spPr>
        <p:txBody>
          <a:bodyPr wrap="square" lIns="0" tIns="0" rIns="0" bIns="0" rtlCol="0" anchor="t"/>
          <a:lstStyle/>
          <a:p>
            <a:pPr indent="0" marL="0">
              <a:buNone/>
            </a:pPr>
            <a:r>
              <a:rPr lang="en-US" sz="4000" b="1" dirty="0">
                <a:solidFill>
                  <a:srgbClr val="FFFFFF"/>
                </a:solidFill>
                <a:latin typeface="Cambria" pitchFamily="34" charset="0"/>
                <a:ea typeface="Cambria" pitchFamily="34" charset="-122"/>
                <a:cs typeface="Cambria" pitchFamily="34" charset="-120"/>
              </a:rPr>
              <a:t>Centralized, controlled, traceable</a:t>
            </a:r>
            <a:endParaRPr lang="en-US" sz="4000" dirty="0"/>
          </a:p>
        </p:txBody>
      </p:sp>
      <p:sp>
        <p:nvSpPr>
          <p:cNvPr id="4" name="Text 2"/>
          <p:cNvSpPr txBox="1"/>
          <p:nvPr/>
        </p:nvSpPr>
        <p:spPr>
          <a:xfrm>
            <a:off x="777240" y="1993392"/>
            <a:ext cx="10515600" cy="310896"/>
          </a:xfrm>
          <a:prstGeom prst="rect">
            <a:avLst/>
          </a:prstGeom>
          <a:noFill/>
          <a:ln/>
        </p:spPr>
        <p:txBody>
          <a:bodyPr wrap="square" lIns="0" tIns="0" rIns="0" bIns="0" rtlCol="0" anchor="ctr"/>
          <a:lstStyle/>
          <a:p>
            <a:pPr indent="0" marL="0">
              <a:buNone/>
            </a:pPr>
            <a:r>
              <a:rPr lang="en-US" sz="1400" dirty="0">
                <a:solidFill>
                  <a:srgbClr val="9FB4E0"/>
                </a:solidFill>
                <a:latin typeface="Calibri" pitchFamily="34" charset="0"/>
                <a:ea typeface="Calibri" pitchFamily="34" charset="-122"/>
                <a:cs typeface="Calibri" pitchFamily="34" charset="-120"/>
              </a:rPr>
              <a:t>What the architecture is built to deliver — and where the evidence for each claim comes from.</a:t>
            </a:r>
            <a:endParaRPr lang="en-US" sz="1400" dirty="0"/>
          </a:p>
        </p:txBody>
      </p:sp>
      <p:sp>
        <p:nvSpPr>
          <p:cNvPr id="5" name="Shape 3"/>
          <p:cNvSpPr/>
          <p:nvPr/>
        </p:nvSpPr>
        <p:spPr>
          <a:xfrm>
            <a:off x="731520" y="2743200"/>
            <a:ext cx="5230368" cy="1298448"/>
          </a:xfrm>
          <a:prstGeom prst="roundRect">
            <a:avLst>
              <a:gd name="adj" fmla="val 5634"/>
            </a:avLst>
          </a:prstGeom>
          <a:solidFill>
            <a:srgbClr val="2B3B7A"/>
          </a:solidFill>
          <a:ln w="12700">
            <a:solidFill>
              <a:srgbClr val="3D50A0"/>
            </a:solidFill>
            <a:prstDash val="solid"/>
          </a:ln>
        </p:spPr>
      </p:sp>
      <p:sp>
        <p:nvSpPr>
          <p:cNvPr id="6" name="Text 4"/>
          <p:cNvSpPr txBox="1"/>
          <p:nvPr/>
        </p:nvSpPr>
        <p:spPr>
          <a:xfrm>
            <a:off x="987552" y="2889504"/>
            <a:ext cx="4663440" cy="274320"/>
          </a:xfrm>
          <a:prstGeom prst="rect">
            <a:avLst/>
          </a:prstGeom>
          <a:noFill/>
          <a:ln/>
        </p:spPr>
        <p:txBody>
          <a:bodyPr wrap="square" lIns="0" tIns="0" rIns="0" bIns="0" rtlCol="0" anchor="ctr"/>
          <a:lstStyle/>
          <a:p>
            <a:pPr indent="0" marL="0">
              <a:buNone/>
            </a:pPr>
            <a:r>
              <a:rPr lang="en-US" sz="1400" b="1" dirty="0">
                <a:solidFill>
                  <a:srgbClr val="CADCFC"/>
                </a:solidFill>
                <a:latin typeface="Calibri" pitchFamily="34" charset="0"/>
                <a:ea typeface="Calibri" pitchFamily="34" charset="-122"/>
                <a:cs typeface="Calibri" pitchFamily="34" charset="-120"/>
              </a:rPr>
              <a:t>Efficiency</a:t>
            </a:r>
            <a:endParaRPr lang="en-US" sz="1400" dirty="0"/>
          </a:p>
        </p:txBody>
      </p:sp>
      <p:sp>
        <p:nvSpPr>
          <p:cNvPr id="7" name="Text 5"/>
          <p:cNvSpPr txBox="1"/>
          <p:nvPr/>
        </p:nvSpPr>
        <p:spPr>
          <a:xfrm>
            <a:off x="987552" y="3200400"/>
            <a:ext cx="4718304" cy="731520"/>
          </a:xfrm>
          <a:prstGeom prst="rect">
            <a:avLst/>
          </a:prstGeom>
          <a:noFill/>
          <a:ln/>
        </p:spPr>
        <p:txBody>
          <a:bodyPr wrap="square" lIns="0" tIns="0" rIns="0" bIns="0" rtlCol="0" anchor="ctr"/>
          <a:lstStyle/>
          <a:p>
            <a:pPr indent="0" marL="0">
              <a:lnSpc>
                <a:spcPts val="1550"/>
              </a:lnSpc>
              <a:buNone/>
            </a:pPr>
            <a:r>
              <a:rPr lang="en-US" sz="1150" dirty="0">
                <a:solidFill>
                  <a:srgbClr val="C6D2F2"/>
                </a:solidFill>
                <a:latin typeface="Calibri" pitchFamily="34" charset="0"/>
                <a:ea typeface="Calibri" pitchFamily="34" charset="-122"/>
                <a:cs typeface="Calibri" pitchFamily="34" charset="-120"/>
              </a:rPr>
              <a:t>Submission, routing, classification, and credit computation are automated, removing repeated manual steps from the paper process.</a:t>
            </a:r>
            <a:endParaRPr lang="en-US" sz="1150" dirty="0"/>
          </a:p>
        </p:txBody>
      </p:sp>
      <p:sp>
        <p:nvSpPr>
          <p:cNvPr id="8" name="Shape 6"/>
          <p:cNvSpPr/>
          <p:nvPr/>
        </p:nvSpPr>
        <p:spPr>
          <a:xfrm>
            <a:off x="6217920" y="2743200"/>
            <a:ext cx="5230368" cy="1298448"/>
          </a:xfrm>
          <a:prstGeom prst="roundRect">
            <a:avLst>
              <a:gd name="adj" fmla="val 5634"/>
            </a:avLst>
          </a:prstGeom>
          <a:solidFill>
            <a:srgbClr val="2B3B7A"/>
          </a:solidFill>
          <a:ln w="12700">
            <a:solidFill>
              <a:srgbClr val="3D50A0"/>
            </a:solidFill>
            <a:prstDash val="solid"/>
          </a:ln>
        </p:spPr>
      </p:sp>
      <p:sp>
        <p:nvSpPr>
          <p:cNvPr id="9" name="Text 7"/>
          <p:cNvSpPr txBox="1"/>
          <p:nvPr/>
        </p:nvSpPr>
        <p:spPr>
          <a:xfrm>
            <a:off x="6473952" y="2889504"/>
            <a:ext cx="4663440" cy="274320"/>
          </a:xfrm>
          <a:prstGeom prst="rect">
            <a:avLst/>
          </a:prstGeom>
          <a:noFill/>
          <a:ln/>
        </p:spPr>
        <p:txBody>
          <a:bodyPr wrap="square" lIns="0" tIns="0" rIns="0" bIns="0" rtlCol="0" anchor="ctr"/>
          <a:lstStyle/>
          <a:p>
            <a:pPr indent="0" marL="0">
              <a:buNone/>
            </a:pPr>
            <a:r>
              <a:rPr lang="en-US" sz="1400" b="1" dirty="0">
                <a:solidFill>
                  <a:srgbClr val="CADCFC"/>
                </a:solidFill>
                <a:latin typeface="Calibri" pitchFamily="34" charset="0"/>
                <a:ea typeface="Calibri" pitchFamily="34" charset="-122"/>
                <a:cs typeface="Calibri" pitchFamily="34" charset="-120"/>
              </a:rPr>
              <a:t>Accuracy</a:t>
            </a:r>
            <a:endParaRPr lang="en-US" sz="1400" dirty="0"/>
          </a:p>
        </p:txBody>
      </p:sp>
      <p:sp>
        <p:nvSpPr>
          <p:cNvPr id="10" name="Text 8"/>
          <p:cNvSpPr txBox="1"/>
          <p:nvPr/>
        </p:nvSpPr>
        <p:spPr>
          <a:xfrm>
            <a:off x="6473952" y="3200400"/>
            <a:ext cx="4718304" cy="731520"/>
          </a:xfrm>
          <a:prstGeom prst="rect">
            <a:avLst/>
          </a:prstGeom>
          <a:noFill/>
          <a:ln/>
        </p:spPr>
        <p:txBody>
          <a:bodyPr wrap="square" lIns="0" tIns="0" rIns="0" bIns="0" rtlCol="0" anchor="ctr"/>
          <a:lstStyle/>
          <a:p>
            <a:pPr indent="0" marL="0">
              <a:lnSpc>
                <a:spcPts val="1550"/>
              </a:lnSpc>
              <a:buNone/>
            </a:pPr>
            <a:r>
              <a:rPr lang="en-US" sz="1150" dirty="0">
                <a:solidFill>
                  <a:srgbClr val="C6D2F2"/>
                </a:solidFill>
                <a:latin typeface="Calibri" pitchFamily="34" charset="0"/>
                <a:ea typeface="Calibri" pitchFamily="34" charset="-122"/>
                <a:cs typeface="Calibri" pitchFamily="34" charset="-120"/>
              </a:rPr>
              <a:t>Leave rules are stored as configuration and applied uniformly, with balance updates committed transactionally.</a:t>
            </a:r>
            <a:endParaRPr lang="en-US" sz="1150" dirty="0"/>
          </a:p>
        </p:txBody>
      </p:sp>
      <p:sp>
        <p:nvSpPr>
          <p:cNvPr id="11" name="Shape 9"/>
          <p:cNvSpPr/>
          <p:nvPr/>
        </p:nvSpPr>
        <p:spPr>
          <a:xfrm>
            <a:off x="731520" y="4224528"/>
            <a:ext cx="5230368" cy="1298448"/>
          </a:xfrm>
          <a:prstGeom prst="roundRect">
            <a:avLst>
              <a:gd name="adj" fmla="val 5634"/>
            </a:avLst>
          </a:prstGeom>
          <a:solidFill>
            <a:srgbClr val="2B3B7A"/>
          </a:solidFill>
          <a:ln w="12700">
            <a:solidFill>
              <a:srgbClr val="3D50A0"/>
            </a:solidFill>
            <a:prstDash val="solid"/>
          </a:ln>
        </p:spPr>
      </p:sp>
      <p:sp>
        <p:nvSpPr>
          <p:cNvPr id="12" name="Text 10"/>
          <p:cNvSpPr txBox="1"/>
          <p:nvPr/>
        </p:nvSpPr>
        <p:spPr>
          <a:xfrm>
            <a:off x="987552" y="4370832"/>
            <a:ext cx="4663440" cy="274320"/>
          </a:xfrm>
          <a:prstGeom prst="rect">
            <a:avLst/>
          </a:prstGeom>
          <a:noFill/>
          <a:ln/>
        </p:spPr>
        <p:txBody>
          <a:bodyPr wrap="square" lIns="0" tIns="0" rIns="0" bIns="0" rtlCol="0" anchor="ctr"/>
          <a:lstStyle/>
          <a:p>
            <a:pPr indent="0" marL="0">
              <a:buNone/>
            </a:pPr>
            <a:r>
              <a:rPr lang="en-US" sz="1400" b="1" dirty="0">
                <a:solidFill>
                  <a:srgbClr val="CADCFC"/>
                </a:solidFill>
                <a:latin typeface="Calibri" pitchFamily="34" charset="0"/>
                <a:ea typeface="Calibri" pitchFamily="34" charset="-122"/>
                <a:cs typeface="Calibri" pitchFamily="34" charset="-120"/>
              </a:rPr>
              <a:t>Security</a:t>
            </a:r>
            <a:endParaRPr lang="en-US" sz="1400" dirty="0"/>
          </a:p>
        </p:txBody>
      </p:sp>
      <p:sp>
        <p:nvSpPr>
          <p:cNvPr id="13" name="Text 11"/>
          <p:cNvSpPr txBox="1"/>
          <p:nvPr/>
        </p:nvSpPr>
        <p:spPr>
          <a:xfrm>
            <a:off x="987552" y="4681728"/>
            <a:ext cx="4718304" cy="731520"/>
          </a:xfrm>
          <a:prstGeom prst="rect">
            <a:avLst/>
          </a:prstGeom>
          <a:noFill/>
          <a:ln/>
        </p:spPr>
        <p:txBody>
          <a:bodyPr wrap="square" lIns="0" tIns="0" rIns="0" bIns="0" rtlCol="0" anchor="ctr"/>
          <a:lstStyle/>
          <a:p>
            <a:pPr indent="0" marL="0">
              <a:lnSpc>
                <a:spcPts val="1550"/>
              </a:lnSpc>
              <a:buNone/>
            </a:pPr>
            <a:r>
              <a:rPr lang="en-US" sz="1150" dirty="0">
                <a:solidFill>
                  <a:srgbClr val="C6D2F2"/>
                </a:solidFill>
                <a:latin typeface="Calibri" pitchFamily="34" charset="0"/>
                <a:ea typeface="Calibri" pitchFamily="34" charset="-122"/>
                <a:cs typeface="Calibri" pitchFamily="34" charset="-120"/>
              </a:rPr>
              <a:t>Layered controls span the network boundary, transport, request handling, identity, authorization, and monitoring.</a:t>
            </a:r>
            <a:endParaRPr lang="en-US" sz="1150" dirty="0"/>
          </a:p>
        </p:txBody>
      </p:sp>
      <p:sp>
        <p:nvSpPr>
          <p:cNvPr id="14" name="Shape 12"/>
          <p:cNvSpPr/>
          <p:nvPr/>
        </p:nvSpPr>
        <p:spPr>
          <a:xfrm>
            <a:off x="6217920" y="4224528"/>
            <a:ext cx="5230368" cy="1298448"/>
          </a:xfrm>
          <a:prstGeom prst="roundRect">
            <a:avLst>
              <a:gd name="adj" fmla="val 5634"/>
            </a:avLst>
          </a:prstGeom>
          <a:solidFill>
            <a:srgbClr val="2B3B7A"/>
          </a:solidFill>
          <a:ln w="12700">
            <a:solidFill>
              <a:srgbClr val="3D50A0"/>
            </a:solidFill>
            <a:prstDash val="solid"/>
          </a:ln>
        </p:spPr>
      </p:sp>
      <p:sp>
        <p:nvSpPr>
          <p:cNvPr id="15" name="Text 13"/>
          <p:cNvSpPr txBox="1"/>
          <p:nvPr/>
        </p:nvSpPr>
        <p:spPr>
          <a:xfrm>
            <a:off x="6473952" y="4370832"/>
            <a:ext cx="4663440" cy="274320"/>
          </a:xfrm>
          <a:prstGeom prst="rect">
            <a:avLst/>
          </a:prstGeom>
          <a:noFill/>
          <a:ln/>
        </p:spPr>
        <p:txBody>
          <a:bodyPr wrap="square" lIns="0" tIns="0" rIns="0" bIns="0" rtlCol="0" anchor="ctr"/>
          <a:lstStyle/>
          <a:p>
            <a:pPr indent="0" marL="0">
              <a:buNone/>
            </a:pPr>
            <a:r>
              <a:rPr lang="en-US" sz="1400" b="1" dirty="0">
                <a:solidFill>
                  <a:srgbClr val="CADCFC"/>
                </a:solidFill>
                <a:latin typeface="Calibri" pitchFamily="34" charset="0"/>
                <a:ea typeface="Calibri" pitchFamily="34" charset="-122"/>
                <a:cs typeface="Calibri" pitchFamily="34" charset="-120"/>
              </a:rPr>
              <a:t>Accountability</a:t>
            </a:r>
            <a:endParaRPr lang="en-US" sz="1400" dirty="0"/>
          </a:p>
        </p:txBody>
      </p:sp>
      <p:sp>
        <p:nvSpPr>
          <p:cNvPr id="16" name="Text 14"/>
          <p:cNvSpPr txBox="1"/>
          <p:nvPr/>
        </p:nvSpPr>
        <p:spPr>
          <a:xfrm>
            <a:off x="6473952" y="4681728"/>
            <a:ext cx="4718304" cy="731520"/>
          </a:xfrm>
          <a:prstGeom prst="rect">
            <a:avLst/>
          </a:prstGeom>
          <a:noFill/>
          <a:ln/>
        </p:spPr>
        <p:txBody>
          <a:bodyPr wrap="square" lIns="0" tIns="0" rIns="0" bIns="0" rtlCol="0" anchor="ctr"/>
          <a:lstStyle/>
          <a:p>
            <a:pPr indent="0" marL="0">
              <a:lnSpc>
                <a:spcPts val="1550"/>
              </a:lnSpc>
              <a:buNone/>
            </a:pPr>
            <a:r>
              <a:rPr lang="en-US" sz="1150" dirty="0">
                <a:solidFill>
                  <a:srgbClr val="C6D2F2"/>
                </a:solidFill>
                <a:latin typeface="Calibri" pitchFamily="34" charset="0"/>
                <a:ea typeface="Calibri" pitchFamily="34" charset="-122"/>
                <a:cs typeface="Calibri" pitchFamily="34" charset="-120"/>
              </a:rPr>
              <a:t>Append-only audit and intrusion records give administrators evidence for review and for controlled security testing.</a:t>
            </a:r>
            <a:endParaRPr lang="en-US" sz="1150" dirty="0"/>
          </a:p>
        </p:txBody>
      </p:sp>
      <p:sp>
        <p:nvSpPr>
          <p:cNvPr id="17" name="Text 15"/>
          <p:cNvSpPr txBox="1"/>
          <p:nvPr/>
        </p:nvSpPr>
        <p:spPr>
          <a:xfrm>
            <a:off x="731520" y="5870448"/>
            <a:ext cx="10607040" cy="365760"/>
          </a:xfrm>
          <a:prstGeom prst="rect">
            <a:avLst/>
          </a:prstGeom>
          <a:noFill/>
          <a:ln/>
        </p:spPr>
        <p:txBody>
          <a:bodyPr wrap="square" lIns="0" tIns="0" rIns="0" bIns="0" rtlCol="0" anchor="ctr"/>
          <a:lstStyle/>
          <a:p>
            <a:pPr indent="0" marL="0">
              <a:buNone/>
            </a:pPr>
            <a:r>
              <a:rPr lang="en-US" sz="1150" i="1" dirty="0">
                <a:solidFill>
                  <a:srgbClr val="8095C9"/>
                </a:solidFill>
                <a:latin typeface="Calibri" pitchFamily="34" charset="0"/>
                <a:ea typeface="Calibri" pitchFamily="34" charset="-122"/>
                <a:cs typeface="Calibri" pitchFamily="34" charset="-120"/>
              </a:rPr>
              <a:t>Efficiency, accuracy, and security claims are evaluated using the procedures defined in Chapter III — the architecture states intent, the testing provides the evidence.</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System Architecture — Digital Leave Management System</dc:title>
  <dc:subject>PptxGenJS Presentation</dc:subject>
  <dc:creator>Macarubbo, Mendoza A.J., Mendoza D.R.</dc:creator>
  <cp:lastModifiedBy>Macarubbo, Mendoza A.J., Mendoza D.R.</cp:lastModifiedBy>
  <cp:revision>1</cp:revision>
  <dcterms:created xsi:type="dcterms:W3CDTF">2026-09-06T12:08:34Z</dcterms:created>
  <dcterms:modified xsi:type="dcterms:W3CDTF">2026-09-06T12:08:34Z</dcterms:modified>
</cp:coreProperties>
</file>